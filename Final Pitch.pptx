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88" d="100"/>
          <a:sy n="88" d="100"/>
        </p:scale>
        <p:origin x="50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CAN in one sentence: Mastercard-anchored data becomes local opportunity when residents can start businesses and stakeholders can fund what the data surfaces.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on the paradox, then pivot: if care is near and outcomes are still worse, the binding constraint is economic friction. That is the reason CAN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define the community before benchmarking it. The histogram shows that low-score tracts are not randomly spread across DC; they cluster east of the river.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Benchmark first, then narrow. This slide makes the sub-45 rule and the rest-of-DC comparison impossible to miss, then names the phase-1 CAN markets.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model result in plain English before the R-squared, then connect it directly to CAN: small-business formation is a better match for the data than another access site.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still the cleanest answer to the prompt. Then add one line: CAN attacks those upstream economic conditions rather than only changing the last-mile access experience.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CAN reveal. Narrate the loop from left to right: residents see the gap, convert it into a business plan, stakeholders fund or hire, and Mastercard measures neighborhood impact.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Mastercard becomes the operating layer: IGS targeting, funding rails, and measurable community deployment. Keep the stop rules crisp and non-defensive.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prototype numbers as explicit year-1 targets: funding connected and jobs created come from the CAN dashboards, then roll them back to IGS-aligned measurement.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platform loop: economic conditions shape access, CAN turns that evidence into business creation, and Mastercard makes the funding and measurement layer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6C6916E1-BB1D-4A53-8774-180B657A4B26}"/>
              </a:ext>
            </a:extLst>
          </p:cNvPr>
          <p:cNvSpPr>
            <a:spLocks noGrp="1"/>
          </p:cNvSpPr>
          <p:nvPr/>
        </p:nvSpPr>
        <p:spPr>
          <a:xfrm>
            <a:off x="9858375" y="-904875"/>
            <a:ext cx="2762250" cy="2762250"/>
          </a:xfrm>
          <a:prstGeom prst="ellipse">
            <a:avLst/>
          </a:prstGeom>
          <a:solidFill>
            <a:srgbClr val="F8D2A2">
              <a:alpha val="40000"/>
            </a:srgbClr>
          </a:solidFill>
          <a:ln w="0">
            <a:solidFill>
              <a:srgbClr val="000000">
                <a:alpha val="0"/>
              </a:srgbClr>
            </a:solidFill>
            <a:prstDash val="solid"/>
          </a:ln>
        </p:spPr>
        <p:txBody>
          <a:bodyPr/>
          <a:lstStyle/>
          <a:p>
            <a:endParaRPr lang="en-US"/>
          </a:p>
        </p:txBody>
      </p:sp>
      <p:sp>
        <p:nvSpPr>
          <p:cNvPr id="2" name="Oval 1">
            <a:extLst>
              <a:ext uri="{FF2B5EF4-FFF2-40B4-BE49-F238E27FC236}">
                <a16:creationId xmlns:a16="http://schemas.microsoft.com/office/drawing/2014/main" id="{4B72BEDA-EDF5-4C2B-84E2-956B8EC804DA}"/>
              </a:ext>
            </a:extLst>
          </p:cNvPr>
          <p:cNvSpPr>
            <a:spLocks noGrp="1"/>
          </p:cNvSpPr>
          <p:nvPr/>
        </p:nvSpPr>
        <p:spPr>
          <a:xfrm>
            <a:off x="10572750" y="-666750"/>
            <a:ext cx="2286000" cy="2286000"/>
          </a:xfrm>
          <a:prstGeom prst="ellipse">
            <a:avLst/>
          </a:prstGeom>
          <a:solidFill>
            <a:srgbClr val="E94B35">
              <a:alpha val="37647"/>
            </a:srgbClr>
          </a:soli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C94FCDEC-CCB3-4EA5-B8AC-5AF347F4DF5F}"/>
              </a:ext>
            </a:extLst>
          </p:cNvPr>
          <p:cNvSpPr>
            <a:spLocks noGrp="1"/>
          </p:cNvSpPr>
          <p:nvPr/>
        </p:nvSpPr>
        <p:spPr>
          <a:xfrm>
            <a:off x="-857250" y="5524500"/>
            <a:ext cx="2095500" cy="2095500"/>
          </a:xfrm>
          <a:prstGeom prst="ellipse">
            <a:avLst/>
          </a:prstGeom>
          <a:solidFill>
            <a:srgbClr val="D95F4D">
              <a:alpha val="9412"/>
            </a:srgbClr>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C3B24A84-964F-42CE-8249-8EBE7F09AAE8}"/>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2132AA7-B036-4BCE-8FD3-408DE606FD93}"/>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TITLE</a:t>
            </a:r>
          </a:p>
        </p:txBody>
      </p:sp>
      <p:sp>
        <p:nvSpPr>
          <p:cNvPr id="6" name="Rectangle 5">
            <a:extLst>
              <a:ext uri="{FF2B5EF4-FFF2-40B4-BE49-F238E27FC236}">
                <a16:creationId xmlns:a16="http://schemas.microsoft.com/office/drawing/2014/main" id="{8BE53241-FDE1-4714-BDD0-8BC4A17147AA}"/>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01 / 10</a:t>
            </a:r>
          </a:p>
        </p:txBody>
      </p:sp>
      <p:sp>
        <p:nvSpPr>
          <p:cNvPr id="7" name="Rectangle 6">
            <a:extLst>
              <a:ext uri="{FF2B5EF4-FFF2-40B4-BE49-F238E27FC236}">
                <a16:creationId xmlns:a16="http://schemas.microsoft.com/office/drawing/2014/main" id="{0FFD24ED-1C26-4EBD-B718-521821044892}"/>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0BAA5CE3-676F-4DC8-A0E9-B9CD49C9B6BC}"/>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Healthy Economies, Healthy Communities</a:t>
            </a:r>
          </a:p>
        </p:txBody>
      </p:sp>
      <p:sp>
        <p:nvSpPr>
          <p:cNvPr id="9" name="Rectangle 8">
            <a:extLst>
              <a:ext uri="{FF2B5EF4-FFF2-40B4-BE49-F238E27FC236}">
                <a16:creationId xmlns:a16="http://schemas.microsoft.com/office/drawing/2014/main" id="{DB1F6110-8ADA-4CA8-99F0-C2F396C261CE}"/>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Turning low-IGS communities into local opportunity through CAN - a small-business-anchored platform.</a:t>
            </a:r>
          </a:p>
        </p:txBody>
      </p:sp>
      <p:sp>
        <p:nvSpPr>
          <p:cNvPr id="10" name="Rectangle 9">
            <a:extLst>
              <a:ext uri="{FF2B5EF4-FFF2-40B4-BE49-F238E27FC236}">
                <a16:creationId xmlns:a16="http://schemas.microsoft.com/office/drawing/2014/main" id="{654A3A9D-9887-4744-823C-B7BE8F0BE8BA}"/>
              </a:ext>
            </a:extLst>
          </p:cNvPr>
          <p:cNvSpPr>
            <a:spLocks noGrp="1"/>
          </p:cNvSpPr>
          <p:nvPr/>
        </p:nvSpPr>
        <p:spPr>
          <a:xfrm>
            <a:off x="838200" y="2038350"/>
            <a:ext cx="4953000" cy="228600"/>
          </a:xfrm>
          <a:prstGeom prst="rect">
            <a:avLst/>
          </a:prstGeom>
          <a:solidFill>
            <a:srgbClr val="FCE7E3"/>
          </a:solidFill>
          <a:ln w="0">
            <a:solidFill>
              <a:srgbClr val="000000">
                <a:alpha val="0"/>
              </a:srgbClr>
            </a:solidFill>
            <a:prstDash val="solid"/>
          </a:ln>
        </p:spPr>
        <p:txBody>
          <a:bodyPr lIns="0" tIns="0" rIns="0" bIns="0" anchor="ctr"/>
          <a:lstStyle/>
          <a:p>
            <a:pPr algn="ctr">
              <a:defRPr sz="825" b="1">
                <a:solidFill>
                  <a:srgbClr val="E63A2F"/>
                </a:solidFill>
              </a:defRPr>
            </a:pPr>
            <a:r>
              <a:rPr sz="825" b="1">
                <a:solidFill>
                  <a:srgbClr val="E63A2F"/>
                </a:solidFill>
              </a:rPr>
              <a:t>Community analyzed: EOTR DC tracts with Inclusive Growth Score below 45</a:t>
            </a:r>
          </a:p>
        </p:txBody>
      </p:sp>
      <p:sp>
        <p:nvSpPr>
          <p:cNvPr id="11" name="Rectangle: Rounded Corners 10">
            <a:extLst>
              <a:ext uri="{FF2B5EF4-FFF2-40B4-BE49-F238E27FC236}">
                <a16:creationId xmlns:a16="http://schemas.microsoft.com/office/drawing/2014/main" id="{8A31F264-781E-4CCA-9F3D-E0B99C58575E}"/>
              </a:ext>
            </a:extLst>
          </p:cNvPr>
          <p:cNvSpPr>
            <a:spLocks noGrp="1"/>
          </p:cNvSpPr>
          <p:nvPr/>
        </p:nvSpPr>
        <p:spPr>
          <a:xfrm>
            <a:off x="838200" y="2571750"/>
            <a:ext cx="5219700" cy="1333500"/>
          </a:xfrm>
          <a:prstGeom prst="roundRect">
            <a:avLst>
              <a:gd name="adj" fmla="val 5714"/>
            </a:avLst>
          </a:prstGeom>
          <a:solidFill>
            <a:srgbClr val="FFFDF8"/>
          </a:solidFill>
          <a:ln w="9525">
            <a:solidFill>
              <a:srgbClr val="D6D0C7"/>
            </a:solidFill>
            <a:prstDash val="solid"/>
          </a:ln>
        </p:spPr>
        <p:txBody>
          <a:bodyPr/>
          <a:lstStyle/>
          <a:p>
            <a:endParaRPr lang="en-US"/>
          </a:p>
        </p:txBody>
      </p:sp>
      <p:sp>
        <p:nvSpPr>
          <p:cNvPr id="12" name="Rectangle 11">
            <a:extLst>
              <a:ext uri="{FF2B5EF4-FFF2-40B4-BE49-F238E27FC236}">
                <a16:creationId xmlns:a16="http://schemas.microsoft.com/office/drawing/2014/main" id="{FB17B3E0-B781-4C7B-8266-6C79F6E267B3}"/>
              </a:ext>
            </a:extLst>
          </p:cNvPr>
          <p:cNvSpPr>
            <a:spLocks noGrp="1"/>
          </p:cNvSpPr>
          <p:nvPr/>
        </p:nvSpPr>
        <p:spPr>
          <a:xfrm>
            <a:off x="838200" y="2571750"/>
            <a:ext cx="57150" cy="1333500"/>
          </a:xfrm>
          <a:prstGeom prst="rect">
            <a:avLst/>
          </a:prstGeom>
          <a:solidFill>
            <a:srgbClr val="E63A2F"/>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C694CEBA-4810-4B56-8032-80DC49D6DF60}"/>
              </a:ext>
            </a:extLst>
          </p:cNvPr>
          <p:cNvSpPr>
            <a:spLocks noGrp="1"/>
          </p:cNvSpPr>
          <p:nvPr/>
        </p:nvSpPr>
        <p:spPr>
          <a:xfrm>
            <a:off x="1047750" y="2743200"/>
            <a:ext cx="48958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Challenge focus</a:t>
            </a:r>
          </a:p>
        </p:txBody>
      </p:sp>
      <p:sp>
        <p:nvSpPr>
          <p:cNvPr id="14" name="Rectangle 13">
            <a:extLst>
              <a:ext uri="{FF2B5EF4-FFF2-40B4-BE49-F238E27FC236}">
                <a16:creationId xmlns:a16="http://schemas.microsoft.com/office/drawing/2014/main" id="{DD552427-F48E-40C3-977A-CE31245FB650}"/>
              </a:ext>
            </a:extLst>
          </p:cNvPr>
          <p:cNvSpPr>
            <a:spLocks noGrp="1"/>
          </p:cNvSpPr>
          <p:nvPr/>
        </p:nvSpPr>
        <p:spPr>
          <a:xfrm>
            <a:off x="1047750" y="3086100"/>
            <a:ext cx="48958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In communities with IGS below 45, how do economic conditions affect healthcare access, and how can small businesses help improve outcomes?</a:t>
            </a:r>
          </a:p>
        </p:txBody>
      </p:sp>
      <p:sp>
        <p:nvSpPr>
          <p:cNvPr id="15" name="Rectangle: Rounded Corners 14">
            <a:extLst>
              <a:ext uri="{FF2B5EF4-FFF2-40B4-BE49-F238E27FC236}">
                <a16:creationId xmlns:a16="http://schemas.microsoft.com/office/drawing/2014/main" id="{2EBB16A0-E9C9-4FDE-BFC3-9F20602AF394}"/>
              </a:ext>
            </a:extLst>
          </p:cNvPr>
          <p:cNvSpPr>
            <a:spLocks noGrp="1"/>
          </p:cNvSpPr>
          <p:nvPr/>
        </p:nvSpPr>
        <p:spPr>
          <a:xfrm>
            <a:off x="6343650" y="2571750"/>
            <a:ext cx="5029200" cy="1333500"/>
          </a:xfrm>
          <a:prstGeom prst="roundRect">
            <a:avLst>
              <a:gd name="adj" fmla="val 5714"/>
            </a:avLst>
          </a:prstGeom>
          <a:solidFill>
            <a:srgbClr val="FFFDF8"/>
          </a:solidFill>
          <a:ln w="9525">
            <a:solidFill>
              <a:srgbClr val="D6D0C7"/>
            </a:solidFill>
            <a:prstDash val="solid"/>
          </a:ln>
        </p:spPr>
        <p:txBody>
          <a:bodyPr/>
          <a:lstStyle/>
          <a:p>
            <a:endParaRPr lang="en-US"/>
          </a:p>
        </p:txBody>
      </p:sp>
      <p:sp>
        <p:nvSpPr>
          <p:cNvPr id="16" name="Rectangle 15">
            <a:extLst>
              <a:ext uri="{FF2B5EF4-FFF2-40B4-BE49-F238E27FC236}">
                <a16:creationId xmlns:a16="http://schemas.microsoft.com/office/drawing/2014/main" id="{1C34A327-E876-40E4-9072-B95FB6D12D40}"/>
              </a:ext>
            </a:extLst>
          </p:cNvPr>
          <p:cNvSpPr>
            <a:spLocks noGrp="1"/>
          </p:cNvSpPr>
          <p:nvPr/>
        </p:nvSpPr>
        <p:spPr>
          <a:xfrm>
            <a:off x="6343650" y="2571750"/>
            <a:ext cx="57150" cy="1333500"/>
          </a:xfrm>
          <a:prstGeom prst="rect">
            <a:avLst/>
          </a:prstGeom>
          <a:solidFill>
            <a:srgbClr val="F4A321"/>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484EB73F-23A5-4486-809D-CB53E6697B03}"/>
              </a:ext>
            </a:extLst>
          </p:cNvPr>
          <p:cNvSpPr>
            <a:spLocks noGrp="1"/>
          </p:cNvSpPr>
          <p:nvPr/>
        </p:nvSpPr>
        <p:spPr>
          <a:xfrm>
            <a:off x="6553200" y="2743200"/>
            <a:ext cx="470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Our thesis</a:t>
            </a:r>
          </a:p>
        </p:txBody>
      </p:sp>
      <p:sp>
        <p:nvSpPr>
          <p:cNvPr id="18" name="Rectangle 17">
            <a:extLst>
              <a:ext uri="{FF2B5EF4-FFF2-40B4-BE49-F238E27FC236}">
                <a16:creationId xmlns:a16="http://schemas.microsoft.com/office/drawing/2014/main" id="{9C9D7154-3A23-4086-AFA8-611D38DB9B33}"/>
              </a:ext>
            </a:extLst>
          </p:cNvPr>
          <p:cNvSpPr>
            <a:spLocks noGrp="1"/>
          </p:cNvSpPr>
          <p:nvPr/>
        </p:nvSpPr>
        <p:spPr>
          <a:xfrm>
            <a:off x="6553200" y="3086100"/>
            <a:ext cx="470535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Economic conditions block healthcare access in low-IGS tracts. Small businesses are the most leveraged response, but only if residents can start them and stakeholders can find them. CAN connects both sides.</a:t>
            </a:r>
          </a:p>
        </p:txBody>
      </p:sp>
      <p:sp>
        <p:nvSpPr>
          <p:cNvPr id="19" name="Rectangle: Rounded Corners 18">
            <a:extLst>
              <a:ext uri="{FF2B5EF4-FFF2-40B4-BE49-F238E27FC236}">
                <a16:creationId xmlns:a16="http://schemas.microsoft.com/office/drawing/2014/main" id="{83F80DF1-11CE-4355-B982-5771AF40C4B2}"/>
              </a:ext>
            </a:extLst>
          </p:cNvPr>
          <p:cNvSpPr>
            <a:spLocks noGrp="1"/>
          </p:cNvSpPr>
          <p:nvPr/>
        </p:nvSpPr>
        <p:spPr>
          <a:xfrm>
            <a:off x="838200" y="4267200"/>
            <a:ext cx="5029200" cy="1104900"/>
          </a:xfrm>
          <a:prstGeom prst="roundRect">
            <a:avLst>
              <a:gd name="adj" fmla="val 6897"/>
            </a:avLst>
          </a:prstGeom>
          <a:solidFill>
            <a:srgbClr val="FFFDF8"/>
          </a:solidFill>
          <a:ln w="9525">
            <a:solidFill>
              <a:srgbClr val="D6D0C7"/>
            </a:solidFill>
            <a:prstDash val="solid"/>
          </a:ln>
        </p:spPr>
        <p:txBody>
          <a:bodyPr/>
          <a:lstStyle/>
          <a:p>
            <a:endParaRPr lang="en-US"/>
          </a:p>
        </p:txBody>
      </p:sp>
      <p:sp>
        <p:nvSpPr>
          <p:cNvPr id="20" name="Rectangle 19">
            <a:extLst>
              <a:ext uri="{FF2B5EF4-FFF2-40B4-BE49-F238E27FC236}">
                <a16:creationId xmlns:a16="http://schemas.microsoft.com/office/drawing/2014/main" id="{4FA46EFB-3CEA-4689-98D0-1512B7CDF6C9}"/>
              </a:ext>
            </a:extLst>
          </p:cNvPr>
          <p:cNvSpPr>
            <a:spLocks noGrp="1"/>
          </p:cNvSpPr>
          <p:nvPr/>
        </p:nvSpPr>
        <p:spPr>
          <a:xfrm>
            <a:off x="838200" y="4267200"/>
            <a:ext cx="57150" cy="1104900"/>
          </a:xfrm>
          <a:prstGeom prst="rect">
            <a:avLst/>
          </a:prstGeom>
          <a:solidFill>
            <a:srgbClr val="0E8C8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B4F69B0A-D0FE-470C-B34E-A4E26EE3B354}"/>
              </a:ext>
            </a:extLst>
          </p:cNvPr>
          <p:cNvSpPr>
            <a:spLocks noGrp="1"/>
          </p:cNvSpPr>
          <p:nvPr/>
        </p:nvSpPr>
        <p:spPr>
          <a:xfrm>
            <a:off x="1047750" y="4438650"/>
            <a:ext cx="470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Selected community</a:t>
            </a:r>
          </a:p>
        </p:txBody>
      </p:sp>
      <p:sp>
        <p:nvSpPr>
          <p:cNvPr id="22" name="Rectangle 21">
            <a:extLst>
              <a:ext uri="{FF2B5EF4-FFF2-40B4-BE49-F238E27FC236}">
                <a16:creationId xmlns:a16="http://schemas.microsoft.com/office/drawing/2014/main" id="{0C98D9CD-2EB7-4EDE-8189-36C9F5100423}"/>
              </a:ext>
            </a:extLst>
          </p:cNvPr>
          <p:cNvSpPr>
            <a:spLocks noGrp="1"/>
          </p:cNvSpPr>
          <p:nvPr/>
        </p:nvSpPr>
        <p:spPr>
          <a:xfrm>
            <a:off x="1047750" y="4781550"/>
            <a:ext cx="47053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EOTR low-IGS tract pool.</a:t>
            </a:r>
          </a:p>
          <a:p>
            <a:pPr algn="l">
              <a:defRPr sz="1050" b="0">
                <a:solidFill>
                  <a:srgbClr val="57534E"/>
                </a:solidFill>
              </a:defRPr>
            </a:pPr>
            <a:r>
              <a:rPr sz="1050" b="0">
                <a:solidFill>
                  <a:srgbClr val="57534E"/>
                </a:solidFill>
              </a:rPr>
              <a:t>46 tracts analyzed.</a:t>
            </a:r>
          </a:p>
          <a:p>
            <a:pPr algn="l">
              <a:defRPr sz="1050" b="0">
                <a:solidFill>
                  <a:srgbClr val="57534E"/>
                </a:solidFill>
              </a:defRPr>
            </a:pPr>
            <a:r>
              <a:rPr sz="1050" b="0">
                <a:solidFill>
                  <a:srgbClr val="57534E"/>
                </a:solidFill>
              </a:rPr>
              <a:t>Median IGS 38 vs 56 in the rest of DC.</a:t>
            </a:r>
          </a:p>
        </p:txBody>
      </p:sp>
      <p:sp>
        <p:nvSpPr>
          <p:cNvPr id="23" name="Rectangle: Rounded Corners 22">
            <a:extLst>
              <a:ext uri="{FF2B5EF4-FFF2-40B4-BE49-F238E27FC236}">
                <a16:creationId xmlns:a16="http://schemas.microsoft.com/office/drawing/2014/main" id="{8C9A8664-5795-4507-9765-F4DF773B632D}"/>
              </a:ext>
            </a:extLst>
          </p:cNvPr>
          <p:cNvSpPr>
            <a:spLocks noGrp="1"/>
          </p:cNvSpPr>
          <p:nvPr/>
        </p:nvSpPr>
        <p:spPr>
          <a:xfrm>
            <a:off x="6343650" y="4267200"/>
            <a:ext cx="5029200" cy="1104900"/>
          </a:xfrm>
          <a:prstGeom prst="roundRect">
            <a:avLst>
              <a:gd name="adj" fmla="val 6897"/>
            </a:avLst>
          </a:prstGeom>
          <a:solidFill>
            <a:srgbClr val="FFFDF8"/>
          </a:solidFill>
          <a:ln w="9525">
            <a:solidFill>
              <a:srgbClr val="D6D0C7"/>
            </a:solidFill>
            <a:prstDash val="solid"/>
          </a:ln>
        </p:spPr>
        <p:txBody>
          <a:bodyPr/>
          <a:lstStyle/>
          <a:p>
            <a:endParaRPr lang="en-US"/>
          </a:p>
        </p:txBody>
      </p:sp>
      <p:sp>
        <p:nvSpPr>
          <p:cNvPr id="24" name="Rectangle 23">
            <a:extLst>
              <a:ext uri="{FF2B5EF4-FFF2-40B4-BE49-F238E27FC236}">
                <a16:creationId xmlns:a16="http://schemas.microsoft.com/office/drawing/2014/main" id="{25355B39-6358-4D87-AE85-C37947191E24}"/>
              </a:ext>
            </a:extLst>
          </p:cNvPr>
          <p:cNvSpPr>
            <a:spLocks noGrp="1"/>
          </p:cNvSpPr>
          <p:nvPr/>
        </p:nvSpPr>
        <p:spPr>
          <a:xfrm>
            <a:off x="6343650" y="4267200"/>
            <a:ext cx="57150" cy="1104900"/>
          </a:xfrm>
          <a:prstGeom prst="rect">
            <a:avLst/>
          </a:prstGeom>
          <a:solidFill>
            <a:srgbClr val="265E8B"/>
          </a:solidFill>
          <a:ln w="0">
            <a:solidFill>
              <a:srgbClr val="000000">
                <a:alpha val="0"/>
              </a:srgbClr>
            </a:solidFill>
            <a:prstDash val="solid"/>
          </a:ln>
        </p:spPr>
        <p:txBody>
          <a:bodyPr/>
          <a:lstStyle/>
          <a:p>
            <a:endParaRPr lang="en-US"/>
          </a:p>
        </p:txBody>
      </p:sp>
      <p:sp>
        <p:nvSpPr>
          <p:cNvPr id="25" name="Rectangle 24">
            <a:extLst>
              <a:ext uri="{FF2B5EF4-FFF2-40B4-BE49-F238E27FC236}">
                <a16:creationId xmlns:a16="http://schemas.microsoft.com/office/drawing/2014/main" id="{5A237D6A-82A6-4063-AFE0-1C62DDF20A47}"/>
              </a:ext>
            </a:extLst>
          </p:cNvPr>
          <p:cNvSpPr>
            <a:spLocks noGrp="1"/>
          </p:cNvSpPr>
          <p:nvPr/>
        </p:nvSpPr>
        <p:spPr>
          <a:xfrm>
            <a:off x="6553200" y="4438650"/>
            <a:ext cx="4705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Submission goal</a:t>
            </a:r>
          </a:p>
        </p:txBody>
      </p:sp>
      <p:sp>
        <p:nvSpPr>
          <p:cNvPr id="26" name="Rectangle 25">
            <a:extLst>
              <a:ext uri="{FF2B5EF4-FFF2-40B4-BE49-F238E27FC236}">
                <a16:creationId xmlns:a16="http://schemas.microsoft.com/office/drawing/2014/main" id="{C0876059-3768-4CC4-A080-EE1BA3FC1920}"/>
              </a:ext>
            </a:extLst>
          </p:cNvPr>
          <p:cNvSpPr>
            <a:spLocks noGrp="1"/>
          </p:cNvSpPr>
          <p:nvPr/>
        </p:nvSpPr>
        <p:spPr>
          <a:xfrm>
            <a:off x="6553200" y="4781550"/>
            <a:ext cx="47053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Show the data -&gt; opportunity -&gt; small business -&gt; stakeholder support -&gt; impact loop.</a:t>
            </a:r>
          </a:p>
        </p:txBody>
      </p:sp>
      <p:sp>
        <p:nvSpPr>
          <p:cNvPr id="27" name="Rectangle 26">
            <a:extLst>
              <a:ext uri="{FF2B5EF4-FFF2-40B4-BE49-F238E27FC236}">
                <a16:creationId xmlns:a16="http://schemas.microsoft.com/office/drawing/2014/main" id="{19B969B5-B01B-4E6F-8DD7-A366928A9FEB}"/>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E17D919C-BFD9-4E24-A0C2-46104B4EC8D1}"/>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Mastercard Data Science Challenge Finals | Healthy economies, healthy communities.</a:t>
            </a:r>
          </a:p>
        </p:txBody>
      </p:sp>
    </p:spTree>
    <p:extLst>
      <p:ext uri="{BB962C8B-B14F-4D97-AF65-F5344CB8AC3E}">
        <p14:creationId xmlns:p14="http://schemas.microsoft.com/office/powerpoint/2010/main" val="207843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706C8F5-BA8B-435B-8EE2-F2C4DC764AAA}"/>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2D45AAE5-E361-4E55-9A20-EFB6BEE37DAC}"/>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OBJECTIVE / PROBLEM STATEMENT</a:t>
            </a:r>
          </a:p>
        </p:txBody>
      </p:sp>
      <p:sp>
        <p:nvSpPr>
          <p:cNvPr id="3" name="Rectangle 2">
            <a:extLst>
              <a:ext uri="{FF2B5EF4-FFF2-40B4-BE49-F238E27FC236}">
                <a16:creationId xmlns:a16="http://schemas.microsoft.com/office/drawing/2014/main" id="{4CEBE091-33EE-42E0-9452-0D1B5AE59935}"/>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02 / 10</a:t>
            </a:r>
          </a:p>
        </p:txBody>
      </p:sp>
      <p:sp>
        <p:nvSpPr>
          <p:cNvPr id="4" name="Rectangle 3">
            <a:extLst>
              <a:ext uri="{FF2B5EF4-FFF2-40B4-BE49-F238E27FC236}">
                <a16:creationId xmlns:a16="http://schemas.microsoft.com/office/drawing/2014/main" id="{0323F274-CE62-415E-817B-0EBF1C2ADA50}"/>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3180901-A25D-406E-9421-D91F781C2047}"/>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Objective and problem statement: if care is nearby, why is access still failing?</a:t>
            </a:r>
          </a:p>
        </p:txBody>
      </p:sp>
      <p:sp>
        <p:nvSpPr>
          <p:cNvPr id="6" name="Rectangle 5">
            <a:extLst>
              <a:ext uri="{FF2B5EF4-FFF2-40B4-BE49-F238E27FC236}">
                <a16:creationId xmlns:a16="http://schemas.microsoft.com/office/drawing/2014/main" id="{62C93C6E-EE37-4F3C-92BD-93F637A9357D}"/>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Our objective is to explain how economic conditions block healthcare use even when facilities are geographically close.</a:t>
            </a:r>
          </a:p>
        </p:txBody>
      </p:sp>
      <p:sp>
        <p:nvSpPr>
          <p:cNvPr id="7" name="Rectangle 6">
            <a:extLst>
              <a:ext uri="{FF2B5EF4-FFF2-40B4-BE49-F238E27FC236}">
                <a16:creationId xmlns:a16="http://schemas.microsoft.com/office/drawing/2014/main" id="{135D5242-2801-496B-8C06-3E74A1045A61}"/>
              </a:ext>
            </a:extLst>
          </p:cNvPr>
          <p:cNvSpPr>
            <a:spLocks noGrp="1"/>
          </p:cNvSpPr>
          <p:nvPr/>
        </p:nvSpPr>
        <p:spPr>
          <a:xfrm>
            <a:off x="838200" y="2038350"/>
            <a:ext cx="4267200" cy="228600"/>
          </a:xfrm>
          <a:prstGeom prst="rect">
            <a:avLst/>
          </a:prstGeom>
          <a:solidFill>
            <a:srgbClr val="FCE7E3"/>
          </a:solidFill>
          <a:ln w="0">
            <a:solidFill>
              <a:srgbClr val="000000">
                <a:alpha val="0"/>
              </a:srgbClr>
            </a:solidFill>
            <a:prstDash val="solid"/>
          </a:ln>
        </p:spPr>
        <p:txBody>
          <a:bodyPr lIns="0" tIns="0" rIns="0" bIns="0" anchor="ctr"/>
          <a:lstStyle/>
          <a:p>
            <a:pPr algn="ctr">
              <a:defRPr sz="825" b="1">
                <a:solidFill>
                  <a:srgbClr val="E63A2F"/>
                </a:solidFill>
              </a:defRPr>
            </a:pPr>
            <a:r>
              <a:rPr sz="825" b="1">
                <a:solidFill>
                  <a:srgbClr val="E63A2F"/>
                </a:solidFill>
              </a:rPr>
              <a:t>14 of 18 proximity tests point the wrong way for distance-first policy</a:t>
            </a:r>
          </a:p>
        </p:txBody>
      </p:sp>
      <p:sp>
        <p:nvSpPr>
          <p:cNvPr id="8" name="Rectangle: Rounded Corners 7">
            <a:extLst>
              <a:ext uri="{FF2B5EF4-FFF2-40B4-BE49-F238E27FC236}">
                <a16:creationId xmlns:a16="http://schemas.microsoft.com/office/drawing/2014/main" id="{B0DA86CC-0B12-4E53-8541-8C510BBB4BB6}"/>
              </a:ext>
            </a:extLst>
          </p:cNvPr>
          <p:cNvSpPr>
            <a:spLocks noGrp="1"/>
          </p:cNvSpPr>
          <p:nvPr/>
        </p:nvSpPr>
        <p:spPr>
          <a:xfrm>
            <a:off x="800100" y="2533650"/>
            <a:ext cx="4953000" cy="2990850"/>
          </a:xfrm>
          <a:prstGeom prst="roundRect">
            <a:avLst>
              <a:gd name="adj" fmla="val 2548"/>
            </a:avLst>
          </a:prstGeom>
          <a:solidFill>
            <a:srgbClr val="FFFFFF"/>
          </a:solidFill>
          <a:ln w="9525">
            <a:solidFill>
              <a:srgbClr val="D6D0C7"/>
            </a:solidFill>
            <a:prstDash val="solid"/>
          </a:ln>
        </p:spPr>
        <p:txBody>
          <a:bodyPr/>
          <a:lstStyle/>
          <a:p>
            <a:endParaRPr lang="en-US"/>
          </a:p>
        </p:txBody>
      </p:sp>
      <p:sp>
        <p:nvSpPr>
          <p:cNvPr id="9" name="Rectangle 8">
            <a:extLst>
              <a:ext uri="{FF2B5EF4-FFF2-40B4-BE49-F238E27FC236}">
                <a16:creationId xmlns:a16="http://schemas.microsoft.com/office/drawing/2014/main" id="{145190B1-65F8-437B-A4BA-9D1B782EA97C}"/>
              </a:ext>
            </a:extLst>
          </p:cNvPr>
          <p:cNvSpPr>
            <a:spLocks noGrp="1"/>
          </p:cNvSpPr>
          <p:nvPr/>
        </p:nvSpPr>
        <p:spPr>
          <a:xfrm>
            <a:off x="971550" y="2667000"/>
            <a:ext cx="4610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Food insecurity in EOTR</a:t>
            </a:r>
          </a:p>
        </p:txBody>
      </p:sp>
      <p:sp>
        <p:nvSpPr>
          <p:cNvPr id="10" name="Rectangle 9">
            <a:extLst>
              <a:ext uri="{FF2B5EF4-FFF2-40B4-BE49-F238E27FC236}">
                <a16:creationId xmlns:a16="http://schemas.microsoft.com/office/drawing/2014/main" id="{9B451260-0D10-45FB-AFF0-674F99E55423}"/>
              </a:ext>
            </a:extLst>
          </p:cNvPr>
          <p:cNvSpPr>
            <a:spLocks noGrp="1"/>
          </p:cNvSpPr>
          <p:nvPr/>
        </p:nvSpPr>
        <p:spPr>
          <a:xfrm>
            <a:off x="1181100" y="5162550"/>
            <a:ext cx="4286250" cy="11430"/>
          </a:xfrm>
          <a:prstGeom prst="rect">
            <a:avLst/>
          </a:prstGeom>
          <a:solidFill>
            <a:srgbClr val="D6D0C7"/>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113BF9AB-23ED-4411-BE96-14C2AA69820B}"/>
              </a:ext>
            </a:extLst>
          </p:cNvPr>
          <p:cNvSpPr>
            <a:spLocks noGrp="1"/>
          </p:cNvSpPr>
          <p:nvPr/>
        </p:nvSpPr>
        <p:spPr>
          <a:xfrm>
            <a:off x="1276350" y="3567684"/>
            <a:ext cx="495300" cy="1594866"/>
          </a:xfrm>
          <a:prstGeom prst="rect">
            <a:avLst/>
          </a:prstGeom>
          <a:solidFill>
            <a:srgbClr val="E63A2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D33E4CE1-8C46-42DF-9C06-C0C7679284B7}"/>
              </a:ext>
            </a:extLst>
          </p:cNvPr>
          <p:cNvSpPr>
            <a:spLocks noGrp="1"/>
          </p:cNvSpPr>
          <p:nvPr/>
        </p:nvSpPr>
        <p:spPr>
          <a:xfrm>
            <a:off x="1257300" y="3396234"/>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48.3</a:t>
            </a:r>
          </a:p>
        </p:txBody>
      </p:sp>
      <p:sp>
        <p:nvSpPr>
          <p:cNvPr id="13" name="Rectangle 12">
            <a:extLst>
              <a:ext uri="{FF2B5EF4-FFF2-40B4-BE49-F238E27FC236}">
                <a16:creationId xmlns:a16="http://schemas.microsoft.com/office/drawing/2014/main" id="{FDA8390B-78CB-4EBD-9786-B91DD9F4705C}"/>
              </a:ext>
            </a:extLst>
          </p:cNvPr>
          <p:cNvSpPr>
            <a:spLocks noGrp="1"/>
          </p:cNvSpPr>
          <p:nvPr/>
        </p:nvSpPr>
        <p:spPr>
          <a:xfrm>
            <a:off x="1200150" y="5238750"/>
            <a:ext cx="214312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Highest 10 FI tracts</a:t>
            </a:r>
          </a:p>
        </p:txBody>
      </p:sp>
      <p:sp>
        <p:nvSpPr>
          <p:cNvPr id="14" name="Rectangle 13">
            <a:extLst>
              <a:ext uri="{FF2B5EF4-FFF2-40B4-BE49-F238E27FC236}">
                <a16:creationId xmlns:a16="http://schemas.microsoft.com/office/drawing/2014/main" id="{9087B112-C051-4BFD-80F9-1F5A2C228976}"/>
              </a:ext>
            </a:extLst>
          </p:cNvPr>
          <p:cNvSpPr>
            <a:spLocks noGrp="1"/>
          </p:cNvSpPr>
          <p:nvPr/>
        </p:nvSpPr>
        <p:spPr>
          <a:xfrm>
            <a:off x="3419475" y="4439412"/>
            <a:ext cx="495300" cy="723138"/>
          </a:xfrm>
          <a:prstGeom prst="rect">
            <a:avLst/>
          </a:prstGeom>
          <a:solidFill>
            <a:srgbClr val="E63A2F"/>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69198286-211C-4034-87C5-28E82133E14F}"/>
              </a:ext>
            </a:extLst>
          </p:cNvPr>
          <p:cNvSpPr>
            <a:spLocks noGrp="1"/>
          </p:cNvSpPr>
          <p:nvPr/>
        </p:nvSpPr>
        <p:spPr>
          <a:xfrm>
            <a:off x="3400425" y="4267962"/>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21.9</a:t>
            </a:r>
          </a:p>
        </p:txBody>
      </p:sp>
      <p:sp>
        <p:nvSpPr>
          <p:cNvPr id="16" name="Rectangle 15">
            <a:extLst>
              <a:ext uri="{FF2B5EF4-FFF2-40B4-BE49-F238E27FC236}">
                <a16:creationId xmlns:a16="http://schemas.microsoft.com/office/drawing/2014/main" id="{399A549C-5669-443C-86CB-23693A21E04E}"/>
              </a:ext>
            </a:extLst>
          </p:cNvPr>
          <p:cNvSpPr>
            <a:spLocks noGrp="1"/>
          </p:cNvSpPr>
          <p:nvPr/>
        </p:nvSpPr>
        <p:spPr>
          <a:xfrm>
            <a:off x="3343275" y="5238750"/>
            <a:ext cx="214312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Lowest 10 FI tracts</a:t>
            </a:r>
          </a:p>
        </p:txBody>
      </p:sp>
      <p:sp>
        <p:nvSpPr>
          <p:cNvPr id="17" name="Rectangle: Rounded Corners 16">
            <a:extLst>
              <a:ext uri="{FF2B5EF4-FFF2-40B4-BE49-F238E27FC236}">
                <a16:creationId xmlns:a16="http://schemas.microsoft.com/office/drawing/2014/main" id="{2BEAAAE3-5396-4A4A-8EBD-D8D703DA544C}"/>
              </a:ext>
            </a:extLst>
          </p:cNvPr>
          <p:cNvSpPr>
            <a:spLocks noGrp="1"/>
          </p:cNvSpPr>
          <p:nvPr/>
        </p:nvSpPr>
        <p:spPr>
          <a:xfrm>
            <a:off x="6229350" y="2533650"/>
            <a:ext cx="4953000" cy="2990850"/>
          </a:xfrm>
          <a:prstGeom prst="roundRect">
            <a:avLst>
              <a:gd name="adj" fmla="val 2548"/>
            </a:avLst>
          </a:prstGeom>
          <a:solidFill>
            <a:srgbClr val="FFFFFF"/>
          </a:solidFill>
          <a:ln w="9525">
            <a:solidFill>
              <a:srgbClr val="D6D0C7"/>
            </a:solidFill>
            <a:prstDash val="solid"/>
          </a:ln>
        </p:spPr>
        <p:txBody>
          <a:bodyPr/>
          <a:lstStyle/>
          <a:p>
            <a:endParaRPr lang="en-US"/>
          </a:p>
        </p:txBody>
      </p:sp>
      <p:sp>
        <p:nvSpPr>
          <p:cNvPr id="18" name="Rectangle 17">
            <a:extLst>
              <a:ext uri="{FF2B5EF4-FFF2-40B4-BE49-F238E27FC236}">
                <a16:creationId xmlns:a16="http://schemas.microsoft.com/office/drawing/2014/main" id="{8EA1AAA5-2EF9-4E14-9D62-7656B94A3BB1}"/>
              </a:ext>
            </a:extLst>
          </p:cNvPr>
          <p:cNvSpPr>
            <a:spLocks noGrp="1"/>
          </p:cNvSpPr>
          <p:nvPr/>
        </p:nvSpPr>
        <p:spPr>
          <a:xfrm>
            <a:off x="6400800" y="2667000"/>
            <a:ext cx="4610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Medical-care proximity in the same tracts</a:t>
            </a:r>
          </a:p>
        </p:txBody>
      </p:sp>
      <p:sp>
        <p:nvSpPr>
          <p:cNvPr id="19" name="Rectangle 18">
            <a:extLst>
              <a:ext uri="{FF2B5EF4-FFF2-40B4-BE49-F238E27FC236}">
                <a16:creationId xmlns:a16="http://schemas.microsoft.com/office/drawing/2014/main" id="{EDE2A193-AAF1-474F-9F03-AB8039662FD8}"/>
              </a:ext>
            </a:extLst>
          </p:cNvPr>
          <p:cNvSpPr>
            <a:spLocks noGrp="1"/>
          </p:cNvSpPr>
          <p:nvPr/>
        </p:nvSpPr>
        <p:spPr>
          <a:xfrm>
            <a:off x="6610350" y="5162550"/>
            <a:ext cx="4286250" cy="11430"/>
          </a:xfrm>
          <a:prstGeom prst="rect">
            <a:avLst/>
          </a:prstGeom>
          <a:solidFill>
            <a:srgbClr val="D6D0C7"/>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523D3CA5-BEDB-458C-AA42-CA2E95A550A4}"/>
              </a:ext>
            </a:extLst>
          </p:cNvPr>
          <p:cNvSpPr>
            <a:spLocks noGrp="1"/>
          </p:cNvSpPr>
          <p:nvPr/>
        </p:nvSpPr>
        <p:spPr>
          <a:xfrm>
            <a:off x="6705600" y="3549287"/>
            <a:ext cx="495300" cy="1613263"/>
          </a:xfrm>
          <a:prstGeom prst="rect">
            <a:avLst/>
          </a:prstGeom>
          <a:solidFill>
            <a:srgbClr val="F4A321"/>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3B7478CB-30BD-4068-BDD3-E11D32C60B23}"/>
              </a:ext>
            </a:extLst>
          </p:cNvPr>
          <p:cNvSpPr>
            <a:spLocks noGrp="1"/>
          </p:cNvSpPr>
          <p:nvPr/>
        </p:nvSpPr>
        <p:spPr>
          <a:xfrm>
            <a:off x="6686550" y="3377837"/>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0.57</a:t>
            </a:r>
          </a:p>
        </p:txBody>
      </p:sp>
      <p:sp>
        <p:nvSpPr>
          <p:cNvPr id="22" name="Rectangle 21">
            <a:extLst>
              <a:ext uri="{FF2B5EF4-FFF2-40B4-BE49-F238E27FC236}">
                <a16:creationId xmlns:a16="http://schemas.microsoft.com/office/drawing/2014/main" id="{FB950CAF-440C-4D20-B13B-F1DB501A7B98}"/>
              </a:ext>
            </a:extLst>
          </p:cNvPr>
          <p:cNvSpPr>
            <a:spLocks noGrp="1"/>
          </p:cNvSpPr>
          <p:nvPr/>
        </p:nvSpPr>
        <p:spPr>
          <a:xfrm>
            <a:off x="6629400" y="5238750"/>
            <a:ext cx="214312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Highest 10 FI tracts</a:t>
            </a:r>
          </a:p>
        </p:txBody>
      </p:sp>
      <p:sp>
        <p:nvSpPr>
          <p:cNvPr id="23" name="Rectangle 22">
            <a:extLst>
              <a:ext uri="{FF2B5EF4-FFF2-40B4-BE49-F238E27FC236}">
                <a16:creationId xmlns:a16="http://schemas.microsoft.com/office/drawing/2014/main" id="{8B51456C-C0D6-44A9-A943-1FDA59D4C47E}"/>
              </a:ext>
            </a:extLst>
          </p:cNvPr>
          <p:cNvSpPr>
            <a:spLocks noGrp="1"/>
          </p:cNvSpPr>
          <p:nvPr/>
        </p:nvSpPr>
        <p:spPr>
          <a:xfrm>
            <a:off x="8848725" y="4285161"/>
            <a:ext cx="495300" cy="877389"/>
          </a:xfrm>
          <a:prstGeom prst="rect">
            <a:avLst/>
          </a:prstGeom>
          <a:solidFill>
            <a:srgbClr val="F4A321"/>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F51D3D4-1782-40B7-A9BA-3D9897D86ED7}"/>
              </a:ext>
            </a:extLst>
          </p:cNvPr>
          <p:cNvSpPr>
            <a:spLocks noGrp="1"/>
          </p:cNvSpPr>
          <p:nvPr/>
        </p:nvSpPr>
        <p:spPr>
          <a:xfrm>
            <a:off x="8829675" y="4113711"/>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0.31</a:t>
            </a:r>
          </a:p>
        </p:txBody>
      </p:sp>
      <p:sp>
        <p:nvSpPr>
          <p:cNvPr id="25" name="Rectangle 24">
            <a:extLst>
              <a:ext uri="{FF2B5EF4-FFF2-40B4-BE49-F238E27FC236}">
                <a16:creationId xmlns:a16="http://schemas.microsoft.com/office/drawing/2014/main" id="{8FFEED20-669F-4A99-985C-576E452A3C59}"/>
              </a:ext>
            </a:extLst>
          </p:cNvPr>
          <p:cNvSpPr>
            <a:spLocks noGrp="1"/>
          </p:cNvSpPr>
          <p:nvPr/>
        </p:nvSpPr>
        <p:spPr>
          <a:xfrm>
            <a:off x="8772525" y="5238750"/>
            <a:ext cx="214312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Lowest 10 FI tracts</a:t>
            </a:r>
          </a:p>
        </p:txBody>
      </p:sp>
      <p:sp>
        <p:nvSpPr>
          <p:cNvPr id="26" name="Rectangle: Rounded Corners 25">
            <a:extLst>
              <a:ext uri="{FF2B5EF4-FFF2-40B4-BE49-F238E27FC236}">
                <a16:creationId xmlns:a16="http://schemas.microsoft.com/office/drawing/2014/main" id="{AFC79AB2-1387-4552-B847-E686203B6752}"/>
              </a:ext>
            </a:extLst>
          </p:cNvPr>
          <p:cNvSpPr>
            <a:spLocks noGrp="1"/>
          </p:cNvSpPr>
          <p:nvPr/>
        </p:nvSpPr>
        <p:spPr>
          <a:xfrm>
            <a:off x="8667750" y="876300"/>
            <a:ext cx="2724150" cy="1379220"/>
          </a:xfrm>
          <a:prstGeom prst="roundRect">
            <a:avLst>
              <a:gd name="adj" fmla="val 6061"/>
            </a:avLst>
          </a:prstGeom>
          <a:solidFill>
            <a:srgbClr val="FFFDF8"/>
          </a:solidFill>
          <a:ln w="9525">
            <a:solidFill>
              <a:srgbClr val="D6D0C7"/>
            </a:solidFill>
            <a:prstDash val="solid"/>
          </a:ln>
        </p:spPr>
        <p:txBody>
          <a:bodyPr/>
          <a:lstStyle/>
          <a:p>
            <a:endParaRPr lang="en-US"/>
          </a:p>
        </p:txBody>
      </p:sp>
      <p:sp>
        <p:nvSpPr>
          <p:cNvPr id="27" name="Rectangle 26">
            <a:extLst>
              <a:ext uri="{FF2B5EF4-FFF2-40B4-BE49-F238E27FC236}">
                <a16:creationId xmlns:a16="http://schemas.microsoft.com/office/drawing/2014/main" id="{4E7A3B81-DBD9-4BDE-B38E-990CB627800B}"/>
              </a:ext>
            </a:extLst>
          </p:cNvPr>
          <p:cNvSpPr>
            <a:spLocks noGrp="1"/>
          </p:cNvSpPr>
          <p:nvPr/>
        </p:nvSpPr>
        <p:spPr>
          <a:xfrm>
            <a:off x="8667750" y="876300"/>
            <a:ext cx="57150" cy="1257300"/>
          </a:xfrm>
          <a:prstGeom prst="rect">
            <a:avLst/>
          </a:prstGeom>
          <a:solidFill>
            <a:srgbClr val="F4A321"/>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489641B7-311C-4061-8B27-C69BE2DC6837}"/>
              </a:ext>
            </a:extLst>
          </p:cNvPr>
          <p:cNvSpPr>
            <a:spLocks noGrp="1"/>
          </p:cNvSpPr>
          <p:nvPr/>
        </p:nvSpPr>
        <p:spPr>
          <a:xfrm>
            <a:off x="8877300" y="1047750"/>
            <a:ext cx="2400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Problem statement</a:t>
            </a:r>
          </a:p>
        </p:txBody>
      </p:sp>
      <p:sp>
        <p:nvSpPr>
          <p:cNvPr id="29" name="Rectangle 28">
            <a:extLst>
              <a:ext uri="{FF2B5EF4-FFF2-40B4-BE49-F238E27FC236}">
                <a16:creationId xmlns:a16="http://schemas.microsoft.com/office/drawing/2014/main" id="{96A4A5E1-6898-48D2-9037-E4628C4283AB}"/>
              </a:ext>
            </a:extLst>
          </p:cNvPr>
          <p:cNvSpPr>
            <a:spLocks noGrp="1"/>
          </p:cNvSpPr>
          <p:nvPr/>
        </p:nvSpPr>
        <p:spPr>
          <a:xfrm>
            <a:off x="8877300" y="1390650"/>
            <a:ext cx="24003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The real barrier is economic friction, not geographic distance. The intervention has to be economic, and small businesses are how communities create the services they lack.</a:t>
            </a:r>
          </a:p>
        </p:txBody>
      </p:sp>
      <p:sp>
        <p:nvSpPr>
          <p:cNvPr id="30" name="Rectangle 29">
            <a:extLst>
              <a:ext uri="{FF2B5EF4-FFF2-40B4-BE49-F238E27FC236}">
                <a16:creationId xmlns:a16="http://schemas.microsoft.com/office/drawing/2014/main" id="{3AECCD21-D25D-4151-BC75-3CF5A6EBC9D4}"/>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E375FE1B-4CCB-4687-AF0F-40671169C1DC}"/>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Project analysis from 01_findings.ipynb and data_pipeline.py using USDA Food Access, DC Built Environment, and CDC PLACES tract data.</a:t>
            </a:r>
          </a:p>
        </p:txBody>
      </p:sp>
    </p:spTree>
    <p:extLst>
      <p:ext uri="{BB962C8B-B14F-4D97-AF65-F5344CB8AC3E}">
        <p14:creationId xmlns:p14="http://schemas.microsoft.com/office/powerpoint/2010/main" val="981610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02830D20-F3B9-442F-AC58-34404B10506A}"/>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3ADA88D-BE37-4584-B3A7-8B5B82B79856}"/>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COMMUNITY OVERVIEW</a:t>
            </a:r>
          </a:p>
        </p:txBody>
      </p:sp>
      <p:sp>
        <p:nvSpPr>
          <p:cNvPr id="3" name="Rectangle 2">
            <a:extLst>
              <a:ext uri="{FF2B5EF4-FFF2-40B4-BE49-F238E27FC236}">
                <a16:creationId xmlns:a16="http://schemas.microsoft.com/office/drawing/2014/main" id="{25668221-58BF-476A-A16B-9710012E8058}"/>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03 / 10</a:t>
            </a:r>
          </a:p>
        </p:txBody>
      </p:sp>
      <p:sp>
        <p:nvSpPr>
          <p:cNvPr id="4" name="Rectangle 3">
            <a:extLst>
              <a:ext uri="{FF2B5EF4-FFF2-40B4-BE49-F238E27FC236}">
                <a16:creationId xmlns:a16="http://schemas.microsoft.com/office/drawing/2014/main" id="{215264E1-C1D3-4B30-AF47-B2ABA71149FF}"/>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FB86F89D-1EAC-4EF0-ABB9-0A08C096DBB9}"/>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Community overview: low-score tracts cluster east of the river</a:t>
            </a:r>
          </a:p>
        </p:txBody>
      </p:sp>
      <p:sp>
        <p:nvSpPr>
          <p:cNvPr id="6" name="Rectangle 5">
            <a:extLst>
              <a:ext uri="{FF2B5EF4-FFF2-40B4-BE49-F238E27FC236}">
                <a16:creationId xmlns:a16="http://schemas.microsoft.com/office/drawing/2014/main" id="{641DC69A-66D9-42C6-8F8A-7B2B6CC80EAD}"/>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Our selected community is a corridor of EOTR neighborhoods where low Inclusive Growth Scores and high distress are concentrated inside one part of DC.</a:t>
            </a:r>
          </a:p>
        </p:txBody>
      </p:sp>
      <p:sp>
        <p:nvSpPr>
          <p:cNvPr id="7" name="Rectangle 6">
            <a:extLst>
              <a:ext uri="{FF2B5EF4-FFF2-40B4-BE49-F238E27FC236}">
                <a16:creationId xmlns:a16="http://schemas.microsoft.com/office/drawing/2014/main" id="{A39EF4F9-5500-4AB1-AFBF-5C678DAAC2E3}"/>
              </a:ext>
            </a:extLst>
          </p:cNvPr>
          <p:cNvSpPr>
            <a:spLocks noGrp="1"/>
          </p:cNvSpPr>
          <p:nvPr/>
        </p:nvSpPr>
        <p:spPr>
          <a:xfrm>
            <a:off x="838200" y="2038350"/>
            <a:ext cx="4000500" cy="228600"/>
          </a:xfrm>
          <a:prstGeom prst="rect">
            <a:avLst/>
          </a:prstGeom>
          <a:solidFill>
            <a:srgbClr val="FCE7E3"/>
          </a:solidFill>
          <a:ln w="0">
            <a:solidFill>
              <a:srgbClr val="000000">
                <a:alpha val="0"/>
              </a:srgbClr>
            </a:solidFill>
            <a:prstDash val="solid"/>
          </a:ln>
        </p:spPr>
        <p:txBody>
          <a:bodyPr lIns="0" tIns="0" rIns="0" bIns="0" anchor="ctr"/>
          <a:lstStyle/>
          <a:p>
            <a:pPr algn="ctr">
              <a:defRPr sz="825" b="1">
                <a:solidFill>
                  <a:srgbClr val="E63A2F"/>
                </a:solidFill>
              </a:defRPr>
            </a:pPr>
            <a:r>
              <a:rPr sz="825" b="1">
                <a:solidFill>
                  <a:srgbClr val="E63A2F"/>
                </a:solidFill>
              </a:rPr>
              <a:t>Community pool: 46 EOTR tracts selected for analysis</a:t>
            </a:r>
          </a:p>
        </p:txBody>
      </p:sp>
      <p:sp>
        <p:nvSpPr>
          <p:cNvPr id="8" name="Rectangle: Rounded Corners 7">
            <a:extLst>
              <a:ext uri="{FF2B5EF4-FFF2-40B4-BE49-F238E27FC236}">
                <a16:creationId xmlns:a16="http://schemas.microsoft.com/office/drawing/2014/main" id="{4281278D-63DC-4C5B-8F68-198A946441B0}"/>
              </a:ext>
            </a:extLst>
          </p:cNvPr>
          <p:cNvSpPr>
            <a:spLocks noGrp="1"/>
          </p:cNvSpPr>
          <p:nvPr/>
        </p:nvSpPr>
        <p:spPr>
          <a:xfrm>
            <a:off x="762000" y="2419350"/>
            <a:ext cx="6686550" cy="3314700"/>
          </a:xfrm>
          <a:prstGeom prst="roundRect">
            <a:avLst>
              <a:gd name="adj" fmla="val 2299"/>
            </a:avLst>
          </a:prstGeom>
          <a:solidFill>
            <a:srgbClr val="FFFFFF"/>
          </a:solidFill>
          <a:ln w="9525">
            <a:solidFill>
              <a:srgbClr val="D6D0C7"/>
            </a:solidFill>
            <a:prstDash val="solid"/>
          </a:ln>
        </p:spPr>
        <p:txBody>
          <a:bodyPr/>
          <a:lstStyle/>
          <a:p>
            <a:endParaRPr lang="en-US"/>
          </a:p>
        </p:txBody>
      </p:sp>
      <p:sp>
        <p:nvSpPr>
          <p:cNvPr id="9" name="Rectangle 8">
            <a:extLst>
              <a:ext uri="{FF2B5EF4-FFF2-40B4-BE49-F238E27FC236}">
                <a16:creationId xmlns:a16="http://schemas.microsoft.com/office/drawing/2014/main" id="{9A205248-7A91-4ACB-914B-5641F0D238C4}"/>
              </a:ext>
            </a:extLst>
          </p:cNvPr>
          <p:cNvSpPr>
            <a:spLocks noGrp="1"/>
          </p:cNvSpPr>
          <p:nvPr/>
        </p:nvSpPr>
        <p:spPr>
          <a:xfrm>
            <a:off x="933450" y="2552700"/>
            <a:ext cx="6343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2025 Inclusive Growth Score distribution across DC tracts</a:t>
            </a:r>
          </a:p>
        </p:txBody>
      </p:sp>
      <p:sp>
        <p:nvSpPr>
          <p:cNvPr id="10" name="Rectangle 9">
            <a:extLst>
              <a:ext uri="{FF2B5EF4-FFF2-40B4-BE49-F238E27FC236}">
                <a16:creationId xmlns:a16="http://schemas.microsoft.com/office/drawing/2014/main" id="{E9362803-DCC7-44B9-8A45-F64048A67472}"/>
              </a:ext>
            </a:extLst>
          </p:cNvPr>
          <p:cNvSpPr>
            <a:spLocks noGrp="1"/>
          </p:cNvSpPr>
          <p:nvPr/>
        </p:nvSpPr>
        <p:spPr>
          <a:xfrm>
            <a:off x="1143000" y="5372100"/>
            <a:ext cx="6019800" cy="11430"/>
          </a:xfrm>
          <a:prstGeom prst="rect">
            <a:avLst/>
          </a:prstGeom>
          <a:solidFill>
            <a:srgbClr val="D6D0C7"/>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A1FF895F-D2E8-4A9D-A80E-109D8917A44B}"/>
              </a:ext>
            </a:extLst>
          </p:cNvPr>
          <p:cNvSpPr>
            <a:spLocks noGrp="1"/>
          </p:cNvSpPr>
          <p:nvPr/>
        </p:nvSpPr>
        <p:spPr>
          <a:xfrm>
            <a:off x="1238250" y="5372100"/>
            <a:ext cx="495300" cy="0"/>
          </a:xfrm>
          <a:prstGeom prst="rect">
            <a:avLst/>
          </a:prstGeom>
          <a:solidFill>
            <a:srgbClr val="E63A2F"/>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70B5601C-7037-4B44-9196-4C0C3BC820EE}"/>
              </a:ext>
            </a:extLst>
          </p:cNvPr>
          <p:cNvSpPr>
            <a:spLocks noGrp="1"/>
          </p:cNvSpPr>
          <p:nvPr/>
        </p:nvSpPr>
        <p:spPr>
          <a:xfrm>
            <a:off x="1219200" y="5200650"/>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0</a:t>
            </a:r>
          </a:p>
        </p:txBody>
      </p:sp>
      <p:sp>
        <p:nvSpPr>
          <p:cNvPr id="13" name="Rectangle 12">
            <a:extLst>
              <a:ext uri="{FF2B5EF4-FFF2-40B4-BE49-F238E27FC236}">
                <a16:creationId xmlns:a16="http://schemas.microsoft.com/office/drawing/2014/main" id="{B3F86E17-D848-4FC0-9867-9F47C16460F3}"/>
              </a:ext>
            </a:extLst>
          </p:cNvPr>
          <p:cNvSpPr>
            <a:spLocks noGrp="1"/>
          </p:cNvSpPr>
          <p:nvPr/>
        </p:nvSpPr>
        <p:spPr>
          <a:xfrm>
            <a:off x="1790700" y="5325999"/>
            <a:ext cx="495300" cy="46101"/>
          </a:xfrm>
          <a:prstGeom prst="rect">
            <a:avLst/>
          </a:prstGeom>
          <a:solidFill>
            <a:srgbClr val="265E8B"/>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F1C447CB-3594-4D8D-B57E-57FF1ED72D4E}"/>
              </a:ext>
            </a:extLst>
          </p:cNvPr>
          <p:cNvSpPr>
            <a:spLocks noGrp="1"/>
          </p:cNvSpPr>
          <p:nvPr/>
        </p:nvSpPr>
        <p:spPr>
          <a:xfrm>
            <a:off x="1771650" y="5154549"/>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2</a:t>
            </a:r>
          </a:p>
        </p:txBody>
      </p:sp>
      <p:sp>
        <p:nvSpPr>
          <p:cNvPr id="15" name="Rectangle 14">
            <a:extLst>
              <a:ext uri="{FF2B5EF4-FFF2-40B4-BE49-F238E27FC236}">
                <a16:creationId xmlns:a16="http://schemas.microsoft.com/office/drawing/2014/main" id="{9C1B4D92-42F8-4AD1-AE70-5E535CAAB6AF}"/>
              </a:ext>
            </a:extLst>
          </p:cNvPr>
          <p:cNvSpPr>
            <a:spLocks noGrp="1"/>
          </p:cNvSpPr>
          <p:nvPr/>
        </p:nvSpPr>
        <p:spPr>
          <a:xfrm>
            <a:off x="1162050" y="5448300"/>
            <a:ext cx="120396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0-24</a:t>
            </a:r>
          </a:p>
        </p:txBody>
      </p:sp>
      <p:sp>
        <p:nvSpPr>
          <p:cNvPr id="16" name="Rectangle 15">
            <a:extLst>
              <a:ext uri="{FF2B5EF4-FFF2-40B4-BE49-F238E27FC236}">
                <a16:creationId xmlns:a16="http://schemas.microsoft.com/office/drawing/2014/main" id="{D0FA3BA6-94BB-4BD7-8881-F1DC841AB3F9}"/>
              </a:ext>
            </a:extLst>
          </p:cNvPr>
          <p:cNvSpPr>
            <a:spLocks noGrp="1"/>
          </p:cNvSpPr>
          <p:nvPr/>
        </p:nvSpPr>
        <p:spPr>
          <a:xfrm>
            <a:off x="2442210" y="5118545"/>
            <a:ext cx="495300" cy="253556"/>
          </a:xfrm>
          <a:prstGeom prst="rect">
            <a:avLst/>
          </a:prstGeom>
          <a:solidFill>
            <a:srgbClr val="E63A2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BF14B729-7D8F-4787-AB8C-CDD10F839BB7}"/>
              </a:ext>
            </a:extLst>
          </p:cNvPr>
          <p:cNvSpPr>
            <a:spLocks noGrp="1"/>
          </p:cNvSpPr>
          <p:nvPr/>
        </p:nvSpPr>
        <p:spPr>
          <a:xfrm>
            <a:off x="2423160" y="4947095"/>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11</a:t>
            </a:r>
          </a:p>
        </p:txBody>
      </p:sp>
      <p:sp>
        <p:nvSpPr>
          <p:cNvPr id="18" name="Rectangle 17">
            <a:extLst>
              <a:ext uri="{FF2B5EF4-FFF2-40B4-BE49-F238E27FC236}">
                <a16:creationId xmlns:a16="http://schemas.microsoft.com/office/drawing/2014/main" id="{EE9E37B0-2175-42F8-8363-F9A7AF6DB57E}"/>
              </a:ext>
            </a:extLst>
          </p:cNvPr>
          <p:cNvSpPr>
            <a:spLocks noGrp="1"/>
          </p:cNvSpPr>
          <p:nvPr/>
        </p:nvSpPr>
        <p:spPr>
          <a:xfrm>
            <a:off x="2994660" y="5372100"/>
            <a:ext cx="495300" cy="0"/>
          </a:xfrm>
          <a:prstGeom prst="rect">
            <a:avLst/>
          </a:prstGeom>
          <a:solidFill>
            <a:srgbClr val="265E8B"/>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FD461375-2A5F-4334-8745-D1893B4BE636}"/>
              </a:ext>
            </a:extLst>
          </p:cNvPr>
          <p:cNvSpPr>
            <a:spLocks noGrp="1"/>
          </p:cNvSpPr>
          <p:nvPr/>
        </p:nvSpPr>
        <p:spPr>
          <a:xfrm>
            <a:off x="2975610" y="5200650"/>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0</a:t>
            </a:r>
          </a:p>
        </p:txBody>
      </p:sp>
      <p:sp>
        <p:nvSpPr>
          <p:cNvPr id="20" name="Rectangle 19">
            <a:extLst>
              <a:ext uri="{FF2B5EF4-FFF2-40B4-BE49-F238E27FC236}">
                <a16:creationId xmlns:a16="http://schemas.microsoft.com/office/drawing/2014/main" id="{FE6D7122-21CE-4A9E-9F9A-DC35E0EE9531}"/>
              </a:ext>
            </a:extLst>
          </p:cNvPr>
          <p:cNvSpPr>
            <a:spLocks noGrp="1"/>
          </p:cNvSpPr>
          <p:nvPr/>
        </p:nvSpPr>
        <p:spPr>
          <a:xfrm>
            <a:off x="2366010" y="5448300"/>
            <a:ext cx="120396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25-34</a:t>
            </a:r>
          </a:p>
        </p:txBody>
      </p:sp>
      <p:sp>
        <p:nvSpPr>
          <p:cNvPr id="21" name="Rectangle 20">
            <a:extLst>
              <a:ext uri="{FF2B5EF4-FFF2-40B4-BE49-F238E27FC236}">
                <a16:creationId xmlns:a16="http://schemas.microsoft.com/office/drawing/2014/main" id="{B7BED18C-B767-4744-BDE2-B70FF9476D26}"/>
              </a:ext>
            </a:extLst>
          </p:cNvPr>
          <p:cNvSpPr>
            <a:spLocks noGrp="1"/>
          </p:cNvSpPr>
          <p:nvPr/>
        </p:nvSpPr>
        <p:spPr>
          <a:xfrm>
            <a:off x="3646170" y="4726686"/>
            <a:ext cx="495300" cy="645414"/>
          </a:xfrm>
          <a:prstGeom prst="rect">
            <a:avLst/>
          </a:prstGeom>
          <a:solidFill>
            <a:srgbClr val="E63A2F"/>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25300016-1C54-440E-8611-A2D06776EB0B}"/>
              </a:ext>
            </a:extLst>
          </p:cNvPr>
          <p:cNvSpPr>
            <a:spLocks noGrp="1"/>
          </p:cNvSpPr>
          <p:nvPr/>
        </p:nvSpPr>
        <p:spPr>
          <a:xfrm>
            <a:off x="3627120" y="4555236"/>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28</a:t>
            </a:r>
          </a:p>
        </p:txBody>
      </p:sp>
      <p:sp>
        <p:nvSpPr>
          <p:cNvPr id="23" name="Rectangle 22">
            <a:extLst>
              <a:ext uri="{FF2B5EF4-FFF2-40B4-BE49-F238E27FC236}">
                <a16:creationId xmlns:a16="http://schemas.microsoft.com/office/drawing/2014/main" id="{E02010D7-6111-4381-822E-C67B601B87A6}"/>
              </a:ext>
            </a:extLst>
          </p:cNvPr>
          <p:cNvSpPr>
            <a:spLocks noGrp="1"/>
          </p:cNvSpPr>
          <p:nvPr/>
        </p:nvSpPr>
        <p:spPr>
          <a:xfrm>
            <a:off x="4198620" y="4888039"/>
            <a:ext cx="495300" cy="484061"/>
          </a:xfrm>
          <a:prstGeom prst="rect">
            <a:avLst/>
          </a:prstGeom>
          <a:solidFill>
            <a:srgbClr val="265E8B"/>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4257C03F-9250-45E0-81A3-E175AD3245EB}"/>
              </a:ext>
            </a:extLst>
          </p:cNvPr>
          <p:cNvSpPr>
            <a:spLocks noGrp="1"/>
          </p:cNvSpPr>
          <p:nvPr/>
        </p:nvSpPr>
        <p:spPr>
          <a:xfrm>
            <a:off x="4179570" y="4716589"/>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21</a:t>
            </a:r>
          </a:p>
        </p:txBody>
      </p:sp>
      <p:sp>
        <p:nvSpPr>
          <p:cNvPr id="25" name="Rectangle 24">
            <a:extLst>
              <a:ext uri="{FF2B5EF4-FFF2-40B4-BE49-F238E27FC236}">
                <a16:creationId xmlns:a16="http://schemas.microsoft.com/office/drawing/2014/main" id="{9B252C46-E817-4965-BBD9-6D12548D50D0}"/>
              </a:ext>
            </a:extLst>
          </p:cNvPr>
          <p:cNvSpPr>
            <a:spLocks noGrp="1"/>
          </p:cNvSpPr>
          <p:nvPr/>
        </p:nvSpPr>
        <p:spPr>
          <a:xfrm>
            <a:off x="3569970" y="5448300"/>
            <a:ext cx="120396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35-44</a:t>
            </a:r>
          </a:p>
        </p:txBody>
      </p:sp>
      <p:sp>
        <p:nvSpPr>
          <p:cNvPr id="26" name="Rectangle 25">
            <a:extLst>
              <a:ext uri="{FF2B5EF4-FFF2-40B4-BE49-F238E27FC236}">
                <a16:creationId xmlns:a16="http://schemas.microsoft.com/office/drawing/2014/main" id="{3A88A89D-03AE-4B86-9991-9C9CFFFBB047}"/>
              </a:ext>
            </a:extLst>
          </p:cNvPr>
          <p:cNvSpPr>
            <a:spLocks noGrp="1"/>
          </p:cNvSpPr>
          <p:nvPr/>
        </p:nvSpPr>
        <p:spPr>
          <a:xfrm>
            <a:off x="4850130" y="5233797"/>
            <a:ext cx="495300" cy="138303"/>
          </a:xfrm>
          <a:prstGeom prst="rect">
            <a:avLst/>
          </a:prstGeom>
          <a:solidFill>
            <a:srgbClr val="E63A2F"/>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40DB9D93-8EB6-49DF-B805-78F87DB6F786}"/>
              </a:ext>
            </a:extLst>
          </p:cNvPr>
          <p:cNvSpPr>
            <a:spLocks noGrp="1"/>
          </p:cNvSpPr>
          <p:nvPr/>
        </p:nvSpPr>
        <p:spPr>
          <a:xfrm>
            <a:off x="4831080" y="5062347"/>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6</a:t>
            </a:r>
          </a:p>
        </p:txBody>
      </p:sp>
      <p:sp>
        <p:nvSpPr>
          <p:cNvPr id="28" name="Rectangle 27">
            <a:extLst>
              <a:ext uri="{FF2B5EF4-FFF2-40B4-BE49-F238E27FC236}">
                <a16:creationId xmlns:a16="http://schemas.microsoft.com/office/drawing/2014/main" id="{2A165087-F616-4F98-957D-2D098D14E25D}"/>
              </a:ext>
            </a:extLst>
          </p:cNvPr>
          <p:cNvSpPr>
            <a:spLocks noGrp="1"/>
          </p:cNvSpPr>
          <p:nvPr/>
        </p:nvSpPr>
        <p:spPr>
          <a:xfrm>
            <a:off x="5402580" y="4403979"/>
            <a:ext cx="495300" cy="968121"/>
          </a:xfrm>
          <a:prstGeom prst="rect">
            <a:avLst/>
          </a:prstGeom>
          <a:solidFill>
            <a:srgbClr val="265E8B"/>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4E4AED72-AA1C-4F5E-9519-CD25C1386518}"/>
              </a:ext>
            </a:extLst>
          </p:cNvPr>
          <p:cNvSpPr>
            <a:spLocks noGrp="1"/>
          </p:cNvSpPr>
          <p:nvPr/>
        </p:nvSpPr>
        <p:spPr>
          <a:xfrm>
            <a:off x="5383530" y="4232529"/>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42</a:t>
            </a:r>
          </a:p>
        </p:txBody>
      </p:sp>
      <p:sp>
        <p:nvSpPr>
          <p:cNvPr id="30" name="Rectangle 29">
            <a:extLst>
              <a:ext uri="{FF2B5EF4-FFF2-40B4-BE49-F238E27FC236}">
                <a16:creationId xmlns:a16="http://schemas.microsoft.com/office/drawing/2014/main" id="{A80347F4-C9C2-4EA2-A3D3-2BAD202D84F3}"/>
              </a:ext>
            </a:extLst>
          </p:cNvPr>
          <p:cNvSpPr>
            <a:spLocks noGrp="1"/>
          </p:cNvSpPr>
          <p:nvPr/>
        </p:nvSpPr>
        <p:spPr>
          <a:xfrm>
            <a:off x="4773930" y="5448300"/>
            <a:ext cx="120396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45-54</a:t>
            </a:r>
          </a:p>
        </p:txBody>
      </p:sp>
      <p:sp>
        <p:nvSpPr>
          <p:cNvPr id="31" name="Rectangle 30">
            <a:extLst>
              <a:ext uri="{FF2B5EF4-FFF2-40B4-BE49-F238E27FC236}">
                <a16:creationId xmlns:a16="http://schemas.microsoft.com/office/drawing/2014/main" id="{0CB8E9F7-2408-4020-B03B-38968027C300}"/>
              </a:ext>
            </a:extLst>
          </p:cNvPr>
          <p:cNvSpPr>
            <a:spLocks noGrp="1"/>
          </p:cNvSpPr>
          <p:nvPr/>
        </p:nvSpPr>
        <p:spPr>
          <a:xfrm>
            <a:off x="6054090" y="5349050"/>
            <a:ext cx="495300" cy="23051"/>
          </a:xfrm>
          <a:prstGeom prst="rect">
            <a:avLst/>
          </a:prstGeom>
          <a:solidFill>
            <a:srgbClr val="E63A2F"/>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937D887A-1987-4F3D-B36D-60C59B7EF631}"/>
              </a:ext>
            </a:extLst>
          </p:cNvPr>
          <p:cNvSpPr>
            <a:spLocks noGrp="1"/>
          </p:cNvSpPr>
          <p:nvPr/>
        </p:nvSpPr>
        <p:spPr>
          <a:xfrm>
            <a:off x="6035040" y="5177600"/>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1</a:t>
            </a:r>
          </a:p>
        </p:txBody>
      </p:sp>
      <p:sp>
        <p:nvSpPr>
          <p:cNvPr id="33" name="Rectangle 32">
            <a:extLst>
              <a:ext uri="{FF2B5EF4-FFF2-40B4-BE49-F238E27FC236}">
                <a16:creationId xmlns:a16="http://schemas.microsoft.com/office/drawing/2014/main" id="{B35375C6-4336-4D26-8199-139F1689BB23}"/>
              </a:ext>
            </a:extLst>
          </p:cNvPr>
          <p:cNvSpPr>
            <a:spLocks noGrp="1"/>
          </p:cNvSpPr>
          <p:nvPr/>
        </p:nvSpPr>
        <p:spPr>
          <a:xfrm>
            <a:off x="6606540" y="3205353"/>
            <a:ext cx="495300" cy="2166747"/>
          </a:xfrm>
          <a:prstGeom prst="rect">
            <a:avLst/>
          </a:prstGeom>
          <a:solidFill>
            <a:srgbClr val="265E8B"/>
          </a:solidFill>
          <a:ln w="0">
            <a:solidFill>
              <a:srgbClr val="000000">
                <a:alpha val="0"/>
              </a:srgbClr>
            </a:solidFill>
            <a:prstDash val="solid"/>
          </a:ln>
        </p:spPr>
        <p:txBody>
          <a:bodyPr/>
          <a:lstStyle/>
          <a:p>
            <a:endParaRPr lang="en-US"/>
          </a:p>
        </p:txBody>
      </p:sp>
      <p:sp>
        <p:nvSpPr>
          <p:cNvPr id="34" name="Rectangle 33">
            <a:extLst>
              <a:ext uri="{FF2B5EF4-FFF2-40B4-BE49-F238E27FC236}">
                <a16:creationId xmlns:a16="http://schemas.microsoft.com/office/drawing/2014/main" id="{799EC7DE-2AF6-4A42-82C4-DFF657E68C56}"/>
              </a:ext>
            </a:extLst>
          </p:cNvPr>
          <p:cNvSpPr>
            <a:spLocks noGrp="1"/>
          </p:cNvSpPr>
          <p:nvPr/>
        </p:nvSpPr>
        <p:spPr>
          <a:xfrm>
            <a:off x="6587490" y="3033903"/>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94</a:t>
            </a:r>
          </a:p>
        </p:txBody>
      </p:sp>
      <p:sp>
        <p:nvSpPr>
          <p:cNvPr id="35" name="Rectangle 34">
            <a:extLst>
              <a:ext uri="{FF2B5EF4-FFF2-40B4-BE49-F238E27FC236}">
                <a16:creationId xmlns:a16="http://schemas.microsoft.com/office/drawing/2014/main" id="{C49A5B6C-5B0C-46A5-84D7-B6FAE9017754}"/>
              </a:ext>
            </a:extLst>
          </p:cNvPr>
          <p:cNvSpPr>
            <a:spLocks noGrp="1"/>
          </p:cNvSpPr>
          <p:nvPr/>
        </p:nvSpPr>
        <p:spPr>
          <a:xfrm>
            <a:off x="5977890" y="5448300"/>
            <a:ext cx="120396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55+</a:t>
            </a:r>
          </a:p>
        </p:txBody>
      </p:sp>
      <p:sp>
        <p:nvSpPr>
          <p:cNvPr id="36" name="Rectangle 35">
            <a:extLst>
              <a:ext uri="{FF2B5EF4-FFF2-40B4-BE49-F238E27FC236}">
                <a16:creationId xmlns:a16="http://schemas.microsoft.com/office/drawing/2014/main" id="{5F74E79A-D09A-4396-9094-31E084F07DF8}"/>
              </a:ext>
            </a:extLst>
          </p:cNvPr>
          <p:cNvSpPr>
            <a:spLocks noGrp="1"/>
          </p:cNvSpPr>
          <p:nvPr/>
        </p:nvSpPr>
        <p:spPr>
          <a:xfrm>
            <a:off x="963083" y="3096683"/>
            <a:ext cx="114300" cy="114300"/>
          </a:xfrm>
          <a:prstGeom prst="rect">
            <a:avLst/>
          </a:prstGeom>
          <a:solidFill>
            <a:srgbClr val="E63A2F"/>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A73D4551-DCAD-45A3-BF4D-D09984B16A42}"/>
              </a:ext>
            </a:extLst>
          </p:cNvPr>
          <p:cNvSpPr>
            <a:spLocks noGrp="1"/>
          </p:cNvSpPr>
          <p:nvPr/>
        </p:nvSpPr>
        <p:spPr>
          <a:xfrm>
            <a:off x="1171575" y="3086100"/>
            <a:ext cx="1238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57534E"/>
                </a:solidFill>
              </a:defRPr>
            </a:pPr>
            <a:r>
              <a:rPr sz="750" b="0" dirty="0">
                <a:solidFill>
                  <a:srgbClr val="57534E"/>
                </a:solidFill>
              </a:rPr>
              <a:t>EOTR tracts</a:t>
            </a:r>
          </a:p>
        </p:txBody>
      </p:sp>
      <p:sp>
        <p:nvSpPr>
          <p:cNvPr id="38" name="Rectangle 37">
            <a:extLst>
              <a:ext uri="{FF2B5EF4-FFF2-40B4-BE49-F238E27FC236}">
                <a16:creationId xmlns:a16="http://schemas.microsoft.com/office/drawing/2014/main" id="{67499046-A1B4-48C2-80DD-4EFAA553B867}"/>
              </a:ext>
            </a:extLst>
          </p:cNvPr>
          <p:cNvSpPr>
            <a:spLocks noGrp="1"/>
          </p:cNvSpPr>
          <p:nvPr/>
        </p:nvSpPr>
        <p:spPr>
          <a:xfrm>
            <a:off x="962025" y="3267075"/>
            <a:ext cx="114300" cy="114300"/>
          </a:xfrm>
          <a:prstGeom prst="rect">
            <a:avLst/>
          </a:prstGeom>
          <a:solidFill>
            <a:srgbClr val="265E8B"/>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0E5A7BAE-2255-4337-B4EC-316736C462A7}"/>
              </a:ext>
            </a:extLst>
          </p:cNvPr>
          <p:cNvSpPr>
            <a:spLocks noGrp="1"/>
          </p:cNvSpPr>
          <p:nvPr/>
        </p:nvSpPr>
        <p:spPr>
          <a:xfrm>
            <a:off x="1171575" y="3271310"/>
            <a:ext cx="1238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57534E"/>
                </a:solidFill>
              </a:defRPr>
            </a:pPr>
            <a:r>
              <a:rPr sz="750" b="0" dirty="0">
                <a:solidFill>
                  <a:srgbClr val="57534E"/>
                </a:solidFill>
              </a:rPr>
              <a:t>Rest of DC</a:t>
            </a:r>
          </a:p>
        </p:txBody>
      </p:sp>
      <p:sp>
        <p:nvSpPr>
          <p:cNvPr id="40" name="Rectangle 39">
            <a:extLst>
              <a:ext uri="{FF2B5EF4-FFF2-40B4-BE49-F238E27FC236}">
                <a16:creationId xmlns:a16="http://schemas.microsoft.com/office/drawing/2014/main" id="{25BCAA63-C59A-401D-871B-1851E7850C78}"/>
              </a:ext>
            </a:extLst>
          </p:cNvPr>
          <p:cNvSpPr>
            <a:spLocks noGrp="1"/>
          </p:cNvSpPr>
          <p:nvPr/>
        </p:nvSpPr>
        <p:spPr>
          <a:xfrm>
            <a:off x="933450" y="5543550"/>
            <a:ext cx="6343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8A8074"/>
                </a:solidFill>
              </a:defRPr>
            </a:pPr>
            <a:r>
              <a:rPr sz="750" b="0">
                <a:solidFill>
                  <a:srgbClr val="8A8074"/>
                </a:solidFill>
              </a:rPr>
              <a:t>Tract count by score band</a:t>
            </a:r>
          </a:p>
        </p:txBody>
      </p:sp>
      <p:sp>
        <p:nvSpPr>
          <p:cNvPr id="41" name="Rectangle: Rounded Corners 40">
            <a:extLst>
              <a:ext uri="{FF2B5EF4-FFF2-40B4-BE49-F238E27FC236}">
                <a16:creationId xmlns:a16="http://schemas.microsoft.com/office/drawing/2014/main" id="{99D13080-81A2-4869-A556-B0C1F0A45A20}"/>
              </a:ext>
            </a:extLst>
          </p:cNvPr>
          <p:cNvSpPr>
            <a:spLocks noGrp="1"/>
          </p:cNvSpPr>
          <p:nvPr/>
        </p:nvSpPr>
        <p:spPr>
          <a:xfrm>
            <a:off x="7829550" y="2419350"/>
            <a:ext cx="3200400" cy="1009650"/>
          </a:xfrm>
          <a:prstGeom prst="roundRect">
            <a:avLst>
              <a:gd name="adj" fmla="val 7547"/>
            </a:avLst>
          </a:prstGeom>
          <a:solidFill>
            <a:srgbClr val="E63A2F"/>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992B1954-7C83-4B31-96F5-CE131884ED30}"/>
              </a:ext>
            </a:extLst>
          </p:cNvPr>
          <p:cNvSpPr>
            <a:spLocks noGrp="1"/>
          </p:cNvSpPr>
          <p:nvPr/>
        </p:nvSpPr>
        <p:spPr>
          <a:xfrm>
            <a:off x="8020050" y="2590800"/>
            <a:ext cx="28194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a:solidFill>
                  <a:srgbClr val="FFFFFF"/>
                </a:solidFill>
              </a:rPr>
              <a:t>46</a:t>
            </a:r>
          </a:p>
        </p:txBody>
      </p:sp>
      <p:sp>
        <p:nvSpPr>
          <p:cNvPr id="43" name="Rectangle 42">
            <a:extLst>
              <a:ext uri="{FF2B5EF4-FFF2-40B4-BE49-F238E27FC236}">
                <a16:creationId xmlns:a16="http://schemas.microsoft.com/office/drawing/2014/main" id="{1C048E6D-11A4-459C-AF17-D77D469E31D3}"/>
              </a:ext>
            </a:extLst>
          </p:cNvPr>
          <p:cNvSpPr>
            <a:spLocks noGrp="1"/>
          </p:cNvSpPr>
          <p:nvPr/>
        </p:nvSpPr>
        <p:spPr>
          <a:xfrm>
            <a:off x="8020050" y="2990850"/>
            <a:ext cx="2819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EOTR tracts in the community pool</a:t>
            </a:r>
          </a:p>
        </p:txBody>
      </p:sp>
      <p:sp>
        <p:nvSpPr>
          <p:cNvPr id="44" name="Rectangle 43">
            <a:extLst>
              <a:ext uri="{FF2B5EF4-FFF2-40B4-BE49-F238E27FC236}">
                <a16:creationId xmlns:a16="http://schemas.microsoft.com/office/drawing/2014/main" id="{6B9B1FF0-3EAF-4B3F-8A98-36E1ABF3D976}"/>
              </a:ext>
            </a:extLst>
          </p:cNvPr>
          <p:cNvSpPr>
            <a:spLocks noGrp="1"/>
          </p:cNvSpPr>
          <p:nvPr/>
        </p:nvSpPr>
        <p:spPr>
          <a:xfrm>
            <a:off x="8020050" y="3200400"/>
            <a:ext cx="2819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FFFFFF"/>
                </a:solidFill>
              </a:defRPr>
            </a:pPr>
            <a:r>
              <a:rPr sz="900" b="0">
                <a:solidFill>
                  <a:srgbClr val="FFFFFF"/>
                </a:solidFill>
              </a:rPr>
              <a:t>Low-score corridor inside DC.</a:t>
            </a:r>
          </a:p>
        </p:txBody>
      </p:sp>
      <p:sp>
        <p:nvSpPr>
          <p:cNvPr id="45" name="Rectangle: Rounded Corners 44">
            <a:extLst>
              <a:ext uri="{FF2B5EF4-FFF2-40B4-BE49-F238E27FC236}">
                <a16:creationId xmlns:a16="http://schemas.microsoft.com/office/drawing/2014/main" id="{0B3C5246-E1DB-4696-AC61-CE18250F5F75}"/>
              </a:ext>
            </a:extLst>
          </p:cNvPr>
          <p:cNvSpPr>
            <a:spLocks noGrp="1"/>
          </p:cNvSpPr>
          <p:nvPr/>
        </p:nvSpPr>
        <p:spPr>
          <a:xfrm>
            <a:off x="7829550" y="3600450"/>
            <a:ext cx="3200400" cy="1009650"/>
          </a:xfrm>
          <a:prstGeom prst="roundRect">
            <a:avLst>
              <a:gd name="adj" fmla="val 7547"/>
            </a:avLst>
          </a:prstGeom>
          <a:solidFill>
            <a:srgbClr val="F4A321"/>
          </a:solidFill>
          <a:ln w="0">
            <a:solidFill>
              <a:srgbClr val="000000">
                <a:alpha val="0"/>
              </a:srgbClr>
            </a:solidFill>
            <a:prstDash val="solid"/>
          </a:ln>
        </p:spPr>
        <p:txBody>
          <a:bodyPr/>
          <a:lstStyle/>
          <a:p>
            <a:endParaRPr lang="en-US"/>
          </a:p>
        </p:txBody>
      </p:sp>
      <p:sp>
        <p:nvSpPr>
          <p:cNvPr id="46" name="Rectangle 45">
            <a:extLst>
              <a:ext uri="{FF2B5EF4-FFF2-40B4-BE49-F238E27FC236}">
                <a16:creationId xmlns:a16="http://schemas.microsoft.com/office/drawing/2014/main" id="{FABB6D80-7847-4156-903A-AACD97D0E954}"/>
              </a:ext>
            </a:extLst>
          </p:cNvPr>
          <p:cNvSpPr>
            <a:spLocks noGrp="1"/>
          </p:cNvSpPr>
          <p:nvPr/>
        </p:nvSpPr>
        <p:spPr>
          <a:xfrm>
            <a:off x="8020050" y="3771900"/>
            <a:ext cx="28194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dirty="0">
                <a:solidFill>
                  <a:schemeClr val="tx1">
                    <a:lumMod val="95000"/>
                    <a:lumOff val="5000"/>
                  </a:schemeClr>
                </a:solidFill>
              </a:rPr>
              <a:t>16,281</a:t>
            </a:r>
          </a:p>
        </p:txBody>
      </p:sp>
      <p:sp>
        <p:nvSpPr>
          <p:cNvPr id="47" name="Rectangle 46">
            <a:extLst>
              <a:ext uri="{FF2B5EF4-FFF2-40B4-BE49-F238E27FC236}">
                <a16:creationId xmlns:a16="http://schemas.microsoft.com/office/drawing/2014/main" id="{799DC2B2-0AFF-4EC6-9F17-2C54C6FCD3CA}"/>
              </a:ext>
            </a:extLst>
          </p:cNvPr>
          <p:cNvSpPr>
            <a:spLocks noGrp="1"/>
          </p:cNvSpPr>
          <p:nvPr/>
        </p:nvSpPr>
        <p:spPr>
          <a:xfrm>
            <a:off x="8020050" y="4171950"/>
            <a:ext cx="2819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dirty="0">
                <a:solidFill>
                  <a:schemeClr val="tx1">
                    <a:lumMod val="95000"/>
                    <a:lumOff val="5000"/>
                  </a:schemeClr>
                </a:solidFill>
              </a:rPr>
              <a:t>Residents in top five launch tracts</a:t>
            </a:r>
          </a:p>
        </p:txBody>
      </p:sp>
      <p:sp>
        <p:nvSpPr>
          <p:cNvPr id="48" name="Rectangle 47">
            <a:extLst>
              <a:ext uri="{FF2B5EF4-FFF2-40B4-BE49-F238E27FC236}">
                <a16:creationId xmlns:a16="http://schemas.microsoft.com/office/drawing/2014/main" id="{87F9FFC9-46B5-4DD5-88F7-D121333EBE56}"/>
              </a:ext>
            </a:extLst>
          </p:cNvPr>
          <p:cNvSpPr>
            <a:spLocks noGrp="1"/>
          </p:cNvSpPr>
          <p:nvPr/>
        </p:nvSpPr>
        <p:spPr>
          <a:xfrm>
            <a:off x="8020050" y="4381500"/>
            <a:ext cx="2819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FFFFFF"/>
                </a:solidFill>
              </a:defRPr>
            </a:pPr>
            <a:r>
              <a:rPr sz="900" b="0" dirty="0">
                <a:solidFill>
                  <a:schemeClr val="tx1">
                    <a:lumMod val="95000"/>
                    <a:lumOff val="5000"/>
                  </a:schemeClr>
                </a:solidFill>
              </a:rPr>
              <a:t>Named launch sites in this corridor.</a:t>
            </a:r>
          </a:p>
        </p:txBody>
      </p:sp>
      <p:sp>
        <p:nvSpPr>
          <p:cNvPr id="49" name="Rectangle: Rounded Corners 48">
            <a:extLst>
              <a:ext uri="{FF2B5EF4-FFF2-40B4-BE49-F238E27FC236}">
                <a16:creationId xmlns:a16="http://schemas.microsoft.com/office/drawing/2014/main" id="{484E0765-7143-4E6D-BB38-C0F0C02AFB68}"/>
              </a:ext>
            </a:extLst>
          </p:cNvPr>
          <p:cNvSpPr>
            <a:spLocks noGrp="1"/>
          </p:cNvSpPr>
          <p:nvPr/>
        </p:nvSpPr>
        <p:spPr>
          <a:xfrm>
            <a:off x="7829550" y="4781550"/>
            <a:ext cx="3200400" cy="1009650"/>
          </a:xfrm>
          <a:prstGeom prst="roundRect">
            <a:avLst>
              <a:gd name="adj" fmla="val 7547"/>
            </a:avLst>
          </a:prstGeom>
          <a:solidFill>
            <a:srgbClr val="0E8C86"/>
          </a:solidFill>
          <a:ln w="0">
            <a:solidFill>
              <a:srgbClr val="000000">
                <a:alpha val="0"/>
              </a:srgbClr>
            </a:solidFill>
            <a:prstDash val="solid"/>
          </a:ln>
        </p:spPr>
        <p:txBody>
          <a:bodyPr/>
          <a:lstStyle/>
          <a:p>
            <a:endParaRPr lang="en-US"/>
          </a:p>
        </p:txBody>
      </p:sp>
      <p:sp>
        <p:nvSpPr>
          <p:cNvPr id="50" name="Rectangle 49">
            <a:extLst>
              <a:ext uri="{FF2B5EF4-FFF2-40B4-BE49-F238E27FC236}">
                <a16:creationId xmlns:a16="http://schemas.microsoft.com/office/drawing/2014/main" id="{2119B1A7-9F39-485F-9A96-D72CDCA05C98}"/>
              </a:ext>
            </a:extLst>
          </p:cNvPr>
          <p:cNvSpPr>
            <a:spLocks noGrp="1"/>
          </p:cNvSpPr>
          <p:nvPr/>
        </p:nvSpPr>
        <p:spPr>
          <a:xfrm>
            <a:off x="8020050" y="4953000"/>
            <a:ext cx="28194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a:solidFill>
                  <a:srgbClr val="FFFFFF"/>
                </a:solidFill>
              </a:rPr>
              <a:t>46.2%</a:t>
            </a:r>
          </a:p>
        </p:txBody>
      </p:sp>
      <p:sp>
        <p:nvSpPr>
          <p:cNvPr id="51" name="Rectangle 50">
            <a:extLst>
              <a:ext uri="{FF2B5EF4-FFF2-40B4-BE49-F238E27FC236}">
                <a16:creationId xmlns:a16="http://schemas.microsoft.com/office/drawing/2014/main" id="{B7C530EC-3F30-4472-BF49-F8CE30865969}"/>
              </a:ext>
            </a:extLst>
          </p:cNvPr>
          <p:cNvSpPr>
            <a:spLocks noGrp="1"/>
          </p:cNvSpPr>
          <p:nvPr/>
        </p:nvSpPr>
        <p:spPr>
          <a:xfrm>
            <a:off x="8020050" y="5353050"/>
            <a:ext cx="28194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Average food insecurity in top five tracts</a:t>
            </a:r>
          </a:p>
        </p:txBody>
      </p:sp>
      <p:sp>
        <p:nvSpPr>
          <p:cNvPr id="52" name="Rectangle 51">
            <a:extLst>
              <a:ext uri="{FF2B5EF4-FFF2-40B4-BE49-F238E27FC236}">
                <a16:creationId xmlns:a16="http://schemas.microsoft.com/office/drawing/2014/main" id="{04EF9CFD-4D21-4FCE-8B6B-D5386895686E}"/>
              </a:ext>
            </a:extLst>
          </p:cNvPr>
          <p:cNvSpPr>
            <a:spLocks noGrp="1"/>
          </p:cNvSpPr>
          <p:nvPr/>
        </p:nvSpPr>
        <p:spPr>
          <a:xfrm>
            <a:off x="8020050" y="5562600"/>
            <a:ext cx="28194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FFFFFF"/>
                </a:solidFill>
              </a:defRPr>
            </a:pPr>
            <a:r>
              <a:rPr sz="900" b="0">
                <a:solidFill>
                  <a:srgbClr val="FFFFFF"/>
                </a:solidFill>
              </a:rPr>
              <a:t>High-need launch set.</a:t>
            </a:r>
          </a:p>
        </p:txBody>
      </p:sp>
      <p:sp>
        <p:nvSpPr>
          <p:cNvPr id="53" name="Rectangle 52">
            <a:extLst>
              <a:ext uri="{FF2B5EF4-FFF2-40B4-BE49-F238E27FC236}">
                <a16:creationId xmlns:a16="http://schemas.microsoft.com/office/drawing/2014/main" id="{AEA07654-43EE-47C6-BC83-8A6262DBEF40}"/>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54" name="Rectangle 53">
            <a:extLst>
              <a:ext uri="{FF2B5EF4-FFF2-40B4-BE49-F238E27FC236}">
                <a16:creationId xmlns:a16="http://schemas.microsoft.com/office/drawing/2014/main" id="{FD7F426A-B0CF-4267-870D-BC2D223B3455}"/>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Community overview from Mastercard IGS 2025 tract scores and current launch-tract targeting.</a:t>
            </a:r>
          </a:p>
        </p:txBody>
      </p:sp>
    </p:spTree>
    <p:extLst>
      <p:ext uri="{BB962C8B-B14F-4D97-AF65-F5344CB8AC3E}">
        <p14:creationId xmlns:p14="http://schemas.microsoft.com/office/powerpoint/2010/main" val="997330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2F6F187B-E989-4E8F-B371-A2A76A3BDB13}"/>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00A44BA-DF5A-4132-AE9D-621BAD032C9E}"/>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IGS BENCHMARKING</a:t>
            </a:r>
          </a:p>
        </p:txBody>
      </p:sp>
      <p:sp>
        <p:nvSpPr>
          <p:cNvPr id="3" name="Rectangle 2">
            <a:extLst>
              <a:ext uri="{FF2B5EF4-FFF2-40B4-BE49-F238E27FC236}">
                <a16:creationId xmlns:a16="http://schemas.microsoft.com/office/drawing/2014/main" id="{09E916A5-3AE1-49AF-A266-ABBC1273D8BA}"/>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04 / 10</a:t>
            </a:r>
          </a:p>
        </p:txBody>
      </p:sp>
      <p:sp>
        <p:nvSpPr>
          <p:cNvPr id="4" name="Rectangle 3">
            <a:extLst>
              <a:ext uri="{FF2B5EF4-FFF2-40B4-BE49-F238E27FC236}">
                <a16:creationId xmlns:a16="http://schemas.microsoft.com/office/drawing/2014/main" id="{D27EA0AA-66E1-4544-8C29-80F96326C392}"/>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0A1473F-DDC9-4F11-BF6B-6DE6A05B2343}"/>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IGS benchmarking: EOTR clears the challenge threshold by a wide margin</a:t>
            </a:r>
          </a:p>
        </p:txBody>
      </p:sp>
      <p:sp>
        <p:nvSpPr>
          <p:cNvPr id="6" name="Rectangle 5">
            <a:extLst>
              <a:ext uri="{FF2B5EF4-FFF2-40B4-BE49-F238E27FC236}">
                <a16:creationId xmlns:a16="http://schemas.microsoft.com/office/drawing/2014/main" id="{E39DB3C6-E489-45F4-8E92-378B82005547}"/>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Every analyzed EOTR tract sits below 45, with a median IGS of 38 versus 56 in the rest of DC.</a:t>
            </a:r>
          </a:p>
        </p:txBody>
      </p:sp>
      <p:sp>
        <p:nvSpPr>
          <p:cNvPr id="7" name="Rectangle 6">
            <a:extLst>
              <a:ext uri="{FF2B5EF4-FFF2-40B4-BE49-F238E27FC236}">
                <a16:creationId xmlns:a16="http://schemas.microsoft.com/office/drawing/2014/main" id="{7F59FAB0-281F-4763-9E2F-C808FA1DD5F9}"/>
              </a:ext>
            </a:extLst>
          </p:cNvPr>
          <p:cNvSpPr>
            <a:spLocks noGrp="1"/>
          </p:cNvSpPr>
          <p:nvPr/>
        </p:nvSpPr>
        <p:spPr>
          <a:xfrm>
            <a:off x="838200" y="2038350"/>
            <a:ext cx="3048000" cy="228600"/>
          </a:xfrm>
          <a:prstGeom prst="rect">
            <a:avLst/>
          </a:prstGeom>
          <a:solidFill>
            <a:srgbClr val="FCE7E3"/>
          </a:solidFill>
          <a:ln w="0">
            <a:solidFill>
              <a:srgbClr val="000000">
                <a:alpha val="0"/>
              </a:srgbClr>
            </a:solidFill>
            <a:prstDash val="solid"/>
          </a:ln>
        </p:spPr>
        <p:txBody>
          <a:bodyPr lIns="0" tIns="0" rIns="0" bIns="0" anchor="ctr"/>
          <a:lstStyle/>
          <a:p>
            <a:pPr algn="ctr">
              <a:defRPr sz="825" b="1">
                <a:solidFill>
                  <a:srgbClr val="E63A2F"/>
                </a:solidFill>
              </a:defRPr>
            </a:pPr>
            <a:r>
              <a:rPr sz="825" b="1">
                <a:solidFill>
                  <a:srgbClr val="E63A2F"/>
                </a:solidFill>
              </a:rPr>
              <a:t>Challenge threshold: Inclusive Growth Score &lt;45</a:t>
            </a:r>
          </a:p>
        </p:txBody>
      </p:sp>
      <p:sp>
        <p:nvSpPr>
          <p:cNvPr id="8" name="Rectangle: Rounded Corners 7">
            <a:extLst>
              <a:ext uri="{FF2B5EF4-FFF2-40B4-BE49-F238E27FC236}">
                <a16:creationId xmlns:a16="http://schemas.microsoft.com/office/drawing/2014/main" id="{CE494EF4-E28D-4C27-B8EB-B8289622EA84}"/>
              </a:ext>
            </a:extLst>
          </p:cNvPr>
          <p:cNvSpPr>
            <a:spLocks noGrp="1"/>
          </p:cNvSpPr>
          <p:nvPr/>
        </p:nvSpPr>
        <p:spPr>
          <a:xfrm>
            <a:off x="762000" y="2419350"/>
            <a:ext cx="4914900" cy="3028950"/>
          </a:xfrm>
          <a:prstGeom prst="roundRect">
            <a:avLst>
              <a:gd name="adj" fmla="val 2516"/>
            </a:avLst>
          </a:prstGeom>
          <a:solidFill>
            <a:srgbClr val="FFFFFF"/>
          </a:solidFill>
          <a:ln w="9525">
            <a:solidFill>
              <a:srgbClr val="D6D0C7"/>
            </a:solidFill>
            <a:prstDash val="solid"/>
          </a:ln>
        </p:spPr>
        <p:txBody>
          <a:bodyPr/>
          <a:lstStyle/>
          <a:p>
            <a:endParaRPr lang="en-US"/>
          </a:p>
        </p:txBody>
      </p:sp>
      <p:sp>
        <p:nvSpPr>
          <p:cNvPr id="9" name="Rectangle 8">
            <a:extLst>
              <a:ext uri="{FF2B5EF4-FFF2-40B4-BE49-F238E27FC236}">
                <a16:creationId xmlns:a16="http://schemas.microsoft.com/office/drawing/2014/main" id="{0E4EED86-414A-4091-88BB-E0678D794783}"/>
              </a:ext>
            </a:extLst>
          </p:cNvPr>
          <p:cNvSpPr>
            <a:spLocks noGrp="1"/>
          </p:cNvSpPr>
          <p:nvPr/>
        </p:nvSpPr>
        <p:spPr>
          <a:xfrm>
            <a:off x="933450" y="2552700"/>
            <a:ext cx="4572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EOTR tract pool and phase-1 launch tracts</a:t>
            </a:r>
          </a:p>
        </p:txBody>
      </p:sp>
      <p:sp>
        <p:nvSpPr>
          <p:cNvPr id="10" name="Rectangle: Rounded Corners 9">
            <a:extLst>
              <a:ext uri="{FF2B5EF4-FFF2-40B4-BE49-F238E27FC236}">
                <a16:creationId xmlns:a16="http://schemas.microsoft.com/office/drawing/2014/main" id="{ECAC4A19-6075-4DE7-B049-0A728F1BE1FB}"/>
              </a:ext>
            </a:extLst>
          </p:cNvPr>
          <p:cNvSpPr>
            <a:spLocks noGrp="1"/>
          </p:cNvSpPr>
          <p:nvPr/>
        </p:nvSpPr>
        <p:spPr>
          <a:xfrm>
            <a:off x="1028700" y="2914650"/>
            <a:ext cx="4381500" cy="2133600"/>
          </a:xfrm>
          <a:prstGeom prst="roundRect">
            <a:avLst>
              <a:gd name="adj" fmla="val 3571"/>
            </a:avLst>
          </a:prstGeom>
          <a:solidFill>
            <a:srgbClr val="F7F3EC"/>
          </a:solidFill>
          <a:ln w="9525">
            <a:solidFill>
              <a:srgbClr val="E8DDD0"/>
            </a:solidFill>
            <a:prstDash val="solid"/>
          </a:ln>
        </p:spPr>
        <p:txBody>
          <a:bodyPr/>
          <a:lstStyle/>
          <a:p>
            <a:endParaRPr lang="en-US"/>
          </a:p>
        </p:txBody>
      </p:sp>
      <p:sp>
        <p:nvSpPr>
          <p:cNvPr id="11" name="Rectangle 10">
            <a:extLst>
              <a:ext uri="{FF2B5EF4-FFF2-40B4-BE49-F238E27FC236}">
                <a16:creationId xmlns:a16="http://schemas.microsoft.com/office/drawing/2014/main" id="{0BA2926A-0546-449A-B626-E6AEB25BB804}"/>
              </a:ext>
            </a:extLst>
          </p:cNvPr>
          <p:cNvSpPr>
            <a:spLocks noGrp="1"/>
          </p:cNvSpPr>
          <p:nvPr/>
        </p:nvSpPr>
        <p:spPr>
          <a:xfrm>
            <a:off x="5162550" y="3009900"/>
            <a:ext cx="1333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8A8074"/>
                </a:solidFill>
              </a:defRPr>
            </a:pPr>
            <a:r>
              <a:rPr sz="825" b="1">
                <a:solidFill>
                  <a:srgbClr val="8A8074"/>
                </a:solidFill>
              </a:rPr>
              <a:t>N</a:t>
            </a:r>
          </a:p>
        </p:txBody>
      </p:sp>
      <p:sp>
        <p:nvSpPr>
          <p:cNvPr id="12" name="Rectangle 11">
            <a:extLst>
              <a:ext uri="{FF2B5EF4-FFF2-40B4-BE49-F238E27FC236}">
                <a16:creationId xmlns:a16="http://schemas.microsoft.com/office/drawing/2014/main" id="{EF0B0300-9598-4270-87DF-D48D75350DA1}"/>
              </a:ext>
            </a:extLst>
          </p:cNvPr>
          <p:cNvSpPr>
            <a:spLocks noGrp="1"/>
          </p:cNvSpPr>
          <p:nvPr/>
        </p:nvSpPr>
        <p:spPr>
          <a:xfrm>
            <a:off x="5219700" y="3162300"/>
            <a:ext cx="19050" cy="190500"/>
          </a:xfrm>
          <a:prstGeom prst="rect">
            <a:avLst/>
          </a:prstGeom>
          <a:solidFill>
            <a:srgbClr val="8A8074"/>
          </a:solidFill>
          <a:ln w="0">
            <a:solidFill>
              <a:srgbClr val="000000">
                <a:alpha val="0"/>
              </a:srgbClr>
            </a:solidFill>
            <a:prstDash val="solid"/>
          </a:ln>
        </p:spPr>
        <p:txBody>
          <a:bodyPr/>
          <a:lstStyle/>
          <a:p>
            <a:endParaRPr lang="en-US"/>
          </a:p>
        </p:txBody>
      </p:sp>
      <p:sp>
        <p:nvSpPr>
          <p:cNvPr id="13" name="Oval 12">
            <a:extLst>
              <a:ext uri="{FF2B5EF4-FFF2-40B4-BE49-F238E27FC236}">
                <a16:creationId xmlns:a16="http://schemas.microsoft.com/office/drawing/2014/main" id="{3B71E1CA-C458-4977-9C33-853B4E2AAAD8}"/>
              </a:ext>
            </a:extLst>
          </p:cNvPr>
          <p:cNvSpPr>
            <a:spLocks noGrp="1"/>
          </p:cNvSpPr>
          <p:nvPr/>
        </p:nvSpPr>
        <p:spPr>
          <a:xfrm>
            <a:off x="2649254" y="431487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4" name="Oval 13">
            <a:extLst>
              <a:ext uri="{FF2B5EF4-FFF2-40B4-BE49-F238E27FC236}">
                <a16:creationId xmlns:a16="http://schemas.microsoft.com/office/drawing/2014/main" id="{B997472D-58CE-4B69-8720-00A0ECBDB80C}"/>
              </a:ext>
            </a:extLst>
          </p:cNvPr>
          <p:cNvSpPr>
            <a:spLocks noGrp="1"/>
          </p:cNvSpPr>
          <p:nvPr/>
        </p:nvSpPr>
        <p:spPr>
          <a:xfrm>
            <a:off x="2125881" y="383452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5" name="Oval 14">
            <a:extLst>
              <a:ext uri="{FF2B5EF4-FFF2-40B4-BE49-F238E27FC236}">
                <a16:creationId xmlns:a16="http://schemas.microsoft.com/office/drawing/2014/main" id="{A5F0DF89-EA1A-4ACD-A63E-1B29D758E796}"/>
              </a:ext>
            </a:extLst>
          </p:cNvPr>
          <p:cNvSpPr>
            <a:spLocks noGrp="1"/>
          </p:cNvSpPr>
          <p:nvPr/>
        </p:nvSpPr>
        <p:spPr>
          <a:xfrm>
            <a:off x="3080674" y="419025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6" name="Oval 15">
            <a:extLst>
              <a:ext uri="{FF2B5EF4-FFF2-40B4-BE49-F238E27FC236}">
                <a16:creationId xmlns:a16="http://schemas.microsoft.com/office/drawing/2014/main" id="{4BA5E52F-788F-499C-ABC8-5219A491139E}"/>
              </a:ext>
            </a:extLst>
          </p:cNvPr>
          <p:cNvSpPr>
            <a:spLocks noGrp="1"/>
          </p:cNvSpPr>
          <p:nvPr/>
        </p:nvSpPr>
        <p:spPr>
          <a:xfrm>
            <a:off x="2783014" y="4155426"/>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7" name="Oval 16">
            <a:extLst>
              <a:ext uri="{FF2B5EF4-FFF2-40B4-BE49-F238E27FC236}">
                <a16:creationId xmlns:a16="http://schemas.microsoft.com/office/drawing/2014/main" id="{4C9A8CB4-A13A-4761-9F02-9104C77B2B2B}"/>
              </a:ext>
            </a:extLst>
          </p:cNvPr>
          <p:cNvSpPr>
            <a:spLocks noGrp="1"/>
          </p:cNvSpPr>
          <p:nvPr/>
        </p:nvSpPr>
        <p:spPr>
          <a:xfrm>
            <a:off x="2494915" y="405798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8" name="Oval 17">
            <a:extLst>
              <a:ext uri="{FF2B5EF4-FFF2-40B4-BE49-F238E27FC236}">
                <a16:creationId xmlns:a16="http://schemas.microsoft.com/office/drawing/2014/main" id="{450295C1-D966-4EE8-B388-CB4F04CBA9F4}"/>
              </a:ext>
            </a:extLst>
          </p:cNvPr>
          <p:cNvSpPr>
            <a:spLocks noGrp="1"/>
          </p:cNvSpPr>
          <p:nvPr/>
        </p:nvSpPr>
        <p:spPr>
          <a:xfrm>
            <a:off x="2670036" y="402198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19" name="Oval 18">
            <a:extLst>
              <a:ext uri="{FF2B5EF4-FFF2-40B4-BE49-F238E27FC236}">
                <a16:creationId xmlns:a16="http://schemas.microsoft.com/office/drawing/2014/main" id="{DB5FC09C-588E-4E2D-A643-57DF910E5B7E}"/>
              </a:ext>
            </a:extLst>
          </p:cNvPr>
          <p:cNvSpPr>
            <a:spLocks noGrp="1"/>
          </p:cNvSpPr>
          <p:nvPr/>
        </p:nvSpPr>
        <p:spPr>
          <a:xfrm>
            <a:off x="3225549" y="4113787"/>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0" name="Oval 19">
            <a:extLst>
              <a:ext uri="{FF2B5EF4-FFF2-40B4-BE49-F238E27FC236}">
                <a16:creationId xmlns:a16="http://schemas.microsoft.com/office/drawing/2014/main" id="{02424041-10E8-437A-B636-13F251E5CC69}"/>
              </a:ext>
            </a:extLst>
          </p:cNvPr>
          <p:cNvSpPr>
            <a:spLocks noGrp="1"/>
          </p:cNvSpPr>
          <p:nvPr/>
        </p:nvSpPr>
        <p:spPr>
          <a:xfrm>
            <a:off x="3050397" y="4262887"/>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1" name="Oval 20">
            <a:extLst>
              <a:ext uri="{FF2B5EF4-FFF2-40B4-BE49-F238E27FC236}">
                <a16:creationId xmlns:a16="http://schemas.microsoft.com/office/drawing/2014/main" id="{17A1B2FD-6D94-4548-BBD0-B896754967FE}"/>
              </a:ext>
            </a:extLst>
          </p:cNvPr>
          <p:cNvSpPr>
            <a:spLocks noGrp="1"/>
          </p:cNvSpPr>
          <p:nvPr/>
        </p:nvSpPr>
        <p:spPr>
          <a:xfrm>
            <a:off x="3258056" y="4033621"/>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2" name="Oval 21">
            <a:extLst>
              <a:ext uri="{FF2B5EF4-FFF2-40B4-BE49-F238E27FC236}">
                <a16:creationId xmlns:a16="http://schemas.microsoft.com/office/drawing/2014/main" id="{3981C552-4B11-42E6-9356-D53D20B5E33E}"/>
              </a:ext>
            </a:extLst>
          </p:cNvPr>
          <p:cNvSpPr>
            <a:spLocks noGrp="1"/>
          </p:cNvSpPr>
          <p:nvPr/>
        </p:nvSpPr>
        <p:spPr>
          <a:xfrm>
            <a:off x="2590171" y="389892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3" name="Oval 22">
            <a:extLst>
              <a:ext uri="{FF2B5EF4-FFF2-40B4-BE49-F238E27FC236}">
                <a16:creationId xmlns:a16="http://schemas.microsoft.com/office/drawing/2014/main" id="{409564BB-86FB-4A03-9646-E282336D7532}"/>
              </a:ext>
            </a:extLst>
          </p:cNvPr>
          <p:cNvSpPr>
            <a:spLocks noGrp="1"/>
          </p:cNvSpPr>
          <p:nvPr/>
        </p:nvSpPr>
        <p:spPr>
          <a:xfrm>
            <a:off x="2878244" y="395638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4" name="Oval 23">
            <a:extLst>
              <a:ext uri="{FF2B5EF4-FFF2-40B4-BE49-F238E27FC236}">
                <a16:creationId xmlns:a16="http://schemas.microsoft.com/office/drawing/2014/main" id="{59D453BC-7EDE-4FB9-89DC-98403B1A3E90}"/>
              </a:ext>
            </a:extLst>
          </p:cNvPr>
          <p:cNvSpPr>
            <a:spLocks noGrp="1"/>
          </p:cNvSpPr>
          <p:nvPr/>
        </p:nvSpPr>
        <p:spPr>
          <a:xfrm>
            <a:off x="2870803" y="375774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5" name="Oval 24">
            <a:extLst>
              <a:ext uri="{FF2B5EF4-FFF2-40B4-BE49-F238E27FC236}">
                <a16:creationId xmlns:a16="http://schemas.microsoft.com/office/drawing/2014/main" id="{8CBAAF80-4CEA-41F2-9227-752E7CC3C4D3}"/>
              </a:ext>
            </a:extLst>
          </p:cNvPr>
          <p:cNvSpPr>
            <a:spLocks noGrp="1"/>
          </p:cNvSpPr>
          <p:nvPr/>
        </p:nvSpPr>
        <p:spPr>
          <a:xfrm>
            <a:off x="3691746" y="399160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6" name="Oval 25">
            <a:extLst>
              <a:ext uri="{FF2B5EF4-FFF2-40B4-BE49-F238E27FC236}">
                <a16:creationId xmlns:a16="http://schemas.microsoft.com/office/drawing/2014/main" id="{2B8B390D-77DA-4CCC-B673-6D29869F1C97}"/>
              </a:ext>
            </a:extLst>
          </p:cNvPr>
          <p:cNvSpPr>
            <a:spLocks noGrp="1"/>
          </p:cNvSpPr>
          <p:nvPr/>
        </p:nvSpPr>
        <p:spPr>
          <a:xfrm>
            <a:off x="3488984" y="3861207"/>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7" name="Oval 26">
            <a:extLst>
              <a:ext uri="{FF2B5EF4-FFF2-40B4-BE49-F238E27FC236}">
                <a16:creationId xmlns:a16="http://schemas.microsoft.com/office/drawing/2014/main" id="{F525F96E-4591-4257-BFE0-CCEBB730F79C}"/>
              </a:ext>
            </a:extLst>
          </p:cNvPr>
          <p:cNvSpPr>
            <a:spLocks noGrp="1"/>
          </p:cNvSpPr>
          <p:nvPr/>
        </p:nvSpPr>
        <p:spPr>
          <a:xfrm>
            <a:off x="3046862" y="386211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8" name="Oval 27">
            <a:extLst>
              <a:ext uri="{FF2B5EF4-FFF2-40B4-BE49-F238E27FC236}">
                <a16:creationId xmlns:a16="http://schemas.microsoft.com/office/drawing/2014/main" id="{47458E31-933D-45B9-8F3F-2E8E3364ECCD}"/>
              </a:ext>
            </a:extLst>
          </p:cNvPr>
          <p:cNvSpPr>
            <a:spLocks noGrp="1"/>
          </p:cNvSpPr>
          <p:nvPr/>
        </p:nvSpPr>
        <p:spPr>
          <a:xfrm>
            <a:off x="4119819" y="348343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29" name="Oval 28">
            <a:extLst>
              <a:ext uri="{FF2B5EF4-FFF2-40B4-BE49-F238E27FC236}">
                <a16:creationId xmlns:a16="http://schemas.microsoft.com/office/drawing/2014/main" id="{AFF3AF93-96C8-47B0-A2D7-D9F886CE5B75}"/>
              </a:ext>
            </a:extLst>
          </p:cNvPr>
          <p:cNvSpPr>
            <a:spLocks noGrp="1"/>
          </p:cNvSpPr>
          <p:nvPr/>
        </p:nvSpPr>
        <p:spPr>
          <a:xfrm>
            <a:off x="4587255" y="363986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0" name="Oval 29">
            <a:extLst>
              <a:ext uri="{FF2B5EF4-FFF2-40B4-BE49-F238E27FC236}">
                <a16:creationId xmlns:a16="http://schemas.microsoft.com/office/drawing/2014/main" id="{AA755166-7E7B-466B-84E0-057E475BCCFE}"/>
              </a:ext>
            </a:extLst>
          </p:cNvPr>
          <p:cNvSpPr>
            <a:spLocks noGrp="1"/>
          </p:cNvSpPr>
          <p:nvPr/>
        </p:nvSpPr>
        <p:spPr>
          <a:xfrm>
            <a:off x="3611163" y="3467146"/>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1" name="Oval 30">
            <a:extLst>
              <a:ext uri="{FF2B5EF4-FFF2-40B4-BE49-F238E27FC236}">
                <a16:creationId xmlns:a16="http://schemas.microsoft.com/office/drawing/2014/main" id="{8632D369-5135-4301-8830-1B139348F598}"/>
              </a:ext>
            </a:extLst>
          </p:cNvPr>
          <p:cNvSpPr>
            <a:spLocks noGrp="1"/>
          </p:cNvSpPr>
          <p:nvPr/>
        </p:nvSpPr>
        <p:spPr>
          <a:xfrm>
            <a:off x="3344814" y="360407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2" name="Oval 31">
            <a:extLst>
              <a:ext uri="{FF2B5EF4-FFF2-40B4-BE49-F238E27FC236}">
                <a16:creationId xmlns:a16="http://schemas.microsoft.com/office/drawing/2014/main" id="{30D5C7F5-4573-46B4-AF5A-1BD65305D54B}"/>
              </a:ext>
            </a:extLst>
          </p:cNvPr>
          <p:cNvSpPr>
            <a:spLocks noGrp="1"/>
          </p:cNvSpPr>
          <p:nvPr/>
        </p:nvSpPr>
        <p:spPr>
          <a:xfrm>
            <a:off x="4377619" y="3297719"/>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3" name="Oval 32">
            <a:extLst>
              <a:ext uri="{FF2B5EF4-FFF2-40B4-BE49-F238E27FC236}">
                <a16:creationId xmlns:a16="http://schemas.microsoft.com/office/drawing/2014/main" id="{729F3827-7A92-4C73-A0A3-07D61110E31A}"/>
              </a:ext>
            </a:extLst>
          </p:cNvPr>
          <p:cNvSpPr>
            <a:spLocks noGrp="1"/>
          </p:cNvSpPr>
          <p:nvPr/>
        </p:nvSpPr>
        <p:spPr>
          <a:xfrm>
            <a:off x="4741648" y="333612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4" name="Oval 33">
            <a:extLst>
              <a:ext uri="{FF2B5EF4-FFF2-40B4-BE49-F238E27FC236}">
                <a16:creationId xmlns:a16="http://schemas.microsoft.com/office/drawing/2014/main" id="{3A5D286A-749A-49BC-921F-C48E4B35B747}"/>
              </a:ext>
            </a:extLst>
          </p:cNvPr>
          <p:cNvSpPr>
            <a:spLocks noGrp="1"/>
          </p:cNvSpPr>
          <p:nvPr/>
        </p:nvSpPr>
        <p:spPr>
          <a:xfrm>
            <a:off x="4694977" y="3123582"/>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5" name="Oval 34">
            <a:extLst>
              <a:ext uri="{FF2B5EF4-FFF2-40B4-BE49-F238E27FC236}">
                <a16:creationId xmlns:a16="http://schemas.microsoft.com/office/drawing/2014/main" id="{4C06DD8B-96F5-4038-96FA-058FB82F25DE}"/>
              </a:ext>
            </a:extLst>
          </p:cNvPr>
          <p:cNvSpPr>
            <a:spLocks noGrp="1"/>
          </p:cNvSpPr>
          <p:nvPr/>
        </p:nvSpPr>
        <p:spPr>
          <a:xfrm>
            <a:off x="5138368" y="3254566"/>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6" name="Oval 35">
            <a:extLst>
              <a:ext uri="{FF2B5EF4-FFF2-40B4-BE49-F238E27FC236}">
                <a16:creationId xmlns:a16="http://schemas.microsoft.com/office/drawing/2014/main" id="{E588ED1F-65B9-43AC-A627-4C8E994147B5}"/>
              </a:ext>
            </a:extLst>
          </p:cNvPr>
          <p:cNvSpPr>
            <a:spLocks noGrp="1"/>
          </p:cNvSpPr>
          <p:nvPr/>
        </p:nvSpPr>
        <p:spPr>
          <a:xfrm>
            <a:off x="5210175" y="3373277"/>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7" name="Oval 36">
            <a:extLst>
              <a:ext uri="{FF2B5EF4-FFF2-40B4-BE49-F238E27FC236}">
                <a16:creationId xmlns:a16="http://schemas.microsoft.com/office/drawing/2014/main" id="{845B332A-F71D-4409-8874-0F3C2C44386B}"/>
              </a:ext>
            </a:extLst>
          </p:cNvPr>
          <p:cNvSpPr>
            <a:spLocks noGrp="1"/>
          </p:cNvSpPr>
          <p:nvPr/>
        </p:nvSpPr>
        <p:spPr>
          <a:xfrm>
            <a:off x="4708735" y="3199256"/>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8" name="Oval 37">
            <a:extLst>
              <a:ext uri="{FF2B5EF4-FFF2-40B4-BE49-F238E27FC236}">
                <a16:creationId xmlns:a16="http://schemas.microsoft.com/office/drawing/2014/main" id="{BF827D72-4F82-4F91-8D03-FB341D93CD45}"/>
              </a:ext>
            </a:extLst>
          </p:cNvPr>
          <p:cNvSpPr>
            <a:spLocks noGrp="1"/>
          </p:cNvSpPr>
          <p:nvPr/>
        </p:nvSpPr>
        <p:spPr>
          <a:xfrm>
            <a:off x="4057854" y="305752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39" name="Oval 38">
            <a:extLst>
              <a:ext uri="{FF2B5EF4-FFF2-40B4-BE49-F238E27FC236}">
                <a16:creationId xmlns:a16="http://schemas.microsoft.com/office/drawing/2014/main" id="{EE494FB9-2BB7-4E7B-9AE1-324644B02399}"/>
              </a:ext>
            </a:extLst>
          </p:cNvPr>
          <p:cNvSpPr>
            <a:spLocks noGrp="1"/>
          </p:cNvSpPr>
          <p:nvPr/>
        </p:nvSpPr>
        <p:spPr>
          <a:xfrm>
            <a:off x="3930457" y="316122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0" name="Oval 39">
            <a:extLst>
              <a:ext uri="{FF2B5EF4-FFF2-40B4-BE49-F238E27FC236}">
                <a16:creationId xmlns:a16="http://schemas.microsoft.com/office/drawing/2014/main" id="{D9304888-57E1-424C-9219-CB3B7B3229FB}"/>
              </a:ext>
            </a:extLst>
          </p:cNvPr>
          <p:cNvSpPr>
            <a:spLocks noGrp="1"/>
          </p:cNvSpPr>
          <p:nvPr/>
        </p:nvSpPr>
        <p:spPr>
          <a:xfrm>
            <a:off x="4109612" y="338061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1" name="Oval 40">
            <a:extLst>
              <a:ext uri="{FF2B5EF4-FFF2-40B4-BE49-F238E27FC236}">
                <a16:creationId xmlns:a16="http://schemas.microsoft.com/office/drawing/2014/main" id="{73861123-BBE7-4DAE-9AEE-E0B87E413BC2}"/>
              </a:ext>
            </a:extLst>
          </p:cNvPr>
          <p:cNvSpPr>
            <a:spLocks noGrp="1"/>
          </p:cNvSpPr>
          <p:nvPr/>
        </p:nvSpPr>
        <p:spPr>
          <a:xfrm>
            <a:off x="3693390" y="335579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2" name="Oval 41">
            <a:extLst>
              <a:ext uri="{FF2B5EF4-FFF2-40B4-BE49-F238E27FC236}">
                <a16:creationId xmlns:a16="http://schemas.microsoft.com/office/drawing/2014/main" id="{6343816B-BABD-4D2F-920A-64CDFEDC5993}"/>
              </a:ext>
            </a:extLst>
          </p:cNvPr>
          <p:cNvSpPr>
            <a:spLocks noGrp="1"/>
          </p:cNvSpPr>
          <p:nvPr/>
        </p:nvSpPr>
        <p:spPr>
          <a:xfrm>
            <a:off x="2592687" y="4434004"/>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3" name="Oval 42">
            <a:extLst>
              <a:ext uri="{FF2B5EF4-FFF2-40B4-BE49-F238E27FC236}">
                <a16:creationId xmlns:a16="http://schemas.microsoft.com/office/drawing/2014/main" id="{4B601567-44E1-4771-8A6C-0F013B724937}"/>
              </a:ext>
            </a:extLst>
          </p:cNvPr>
          <p:cNvSpPr>
            <a:spLocks noGrp="1"/>
          </p:cNvSpPr>
          <p:nvPr/>
        </p:nvSpPr>
        <p:spPr>
          <a:xfrm>
            <a:off x="2233545" y="4481144"/>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4" name="Oval 43">
            <a:extLst>
              <a:ext uri="{FF2B5EF4-FFF2-40B4-BE49-F238E27FC236}">
                <a16:creationId xmlns:a16="http://schemas.microsoft.com/office/drawing/2014/main" id="{E34F7F78-6053-42C1-9E35-C18889EB0F4B}"/>
              </a:ext>
            </a:extLst>
          </p:cNvPr>
          <p:cNvSpPr>
            <a:spLocks noGrp="1"/>
          </p:cNvSpPr>
          <p:nvPr/>
        </p:nvSpPr>
        <p:spPr>
          <a:xfrm>
            <a:off x="2224777" y="452153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5" name="Oval 44">
            <a:extLst>
              <a:ext uri="{FF2B5EF4-FFF2-40B4-BE49-F238E27FC236}">
                <a16:creationId xmlns:a16="http://schemas.microsoft.com/office/drawing/2014/main" id="{342C6679-E371-4FD1-B35F-64873C56A4DC}"/>
              </a:ext>
            </a:extLst>
          </p:cNvPr>
          <p:cNvSpPr>
            <a:spLocks noGrp="1"/>
          </p:cNvSpPr>
          <p:nvPr/>
        </p:nvSpPr>
        <p:spPr>
          <a:xfrm>
            <a:off x="1924354" y="4428876"/>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6" name="Oval 45">
            <a:extLst>
              <a:ext uri="{FF2B5EF4-FFF2-40B4-BE49-F238E27FC236}">
                <a16:creationId xmlns:a16="http://schemas.microsoft.com/office/drawing/2014/main" id="{0968D5F4-36CF-4F76-9CD4-E42FA8655ED5}"/>
              </a:ext>
            </a:extLst>
          </p:cNvPr>
          <p:cNvSpPr>
            <a:spLocks noGrp="1"/>
          </p:cNvSpPr>
          <p:nvPr/>
        </p:nvSpPr>
        <p:spPr>
          <a:xfrm>
            <a:off x="2197754" y="4310822"/>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7" name="Oval 46">
            <a:extLst>
              <a:ext uri="{FF2B5EF4-FFF2-40B4-BE49-F238E27FC236}">
                <a16:creationId xmlns:a16="http://schemas.microsoft.com/office/drawing/2014/main" id="{697773A9-F1B3-482D-9650-3EA71DEB7FAD}"/>
              </a:ext>
            </a:extLst>
          </p:cNvPr>
          <p:cNvSpPr>
            <a:spLocks noGrp="1"/>
          </p:cNvSpPr>
          <p:nvPr/>
        </p:nvSpPr>
        <p:spPr>
          <a:xfrm>
            <a:off x="1638161" y="455005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8" name="Oval 47">
            <a:extLst>
              <a:ext uri="{FF2B5EF4-FFF2-40B4-BE49-F238E27FC236}">
                <a16:creationId xmlns:a16="http://schemas.microsoft.com/office/drawing/2014/main" id="{21FE3E82-ED10-4C9E-A142-B751E30AD9F5}"/>
              </a:ext>
            </a:extLst>
          </p:cNvPr>
          <p:cNvSpPr>
            <a:spLocks noGrp="1"/>
          </p:cNvSpPr>
          <p:nvPr/>
        </p:nvSpPr>
        <p:spPr>
          <a:xfrm>
            <a:off x="1945716" y="4609189"/>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49" name="Oval 48">
            <a:extLst>
              <a:ext uri="{FF2B5EF4-FFF2-40B4-BE49-F238E27FC236}">
                <a16:creationId xmlns:a16="http://schemas.microsoft.com/office/drawing/2014/main" id="{4E81FDA5-4763-47BB-9C31-D357346C0E97}"/>
              </a:ext>
            </a:extLst>
          </p:cNvPr>
          <p:cNvSpPr>
            <a:spLocks noGrp="1"/>
          </p:cNvSpPr>
          <p:nvPr/>
        </p:nvSpPr>
        <p:spPr>
          <a:xfrm>
            <a:off x="2151387" y="459772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0" name="Oval 49">
            <a:extLst>
              <a:ext uri="{FF2B5EF4-FFF2-40B4-BE49-F238E27FC236}">
                <a16:creationId xmlns:a16="http://schemas.microsoft.com/office/drawing/2014/main" id="{2C75C7F0-C073-41B2-8830-EA52DDF43E04}"/>
              </a:ext>
            </a:extLst>
          </p:cNvPr>
          <p:cNvSpPr>
            <a:spLocks noGrp="1"/>
          </p:cNvSpPr>
          <p:nvPr/>
        </p:nvSpPr>
        <p:spPr>
          <a:xfrm>
            <a:off x="3815773" y="3688400"/>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1" name="Oval 50">
            <a:extLst>
              <a:ext uri="{FF2B5EF4-FFF2-40B4-BE49-F238E27FC236}">
                <a16:creationId xmlns:a16="http://schemas.microsoft.com/office/drawing/2014/main" id="{007FF52D-43B3-4F43-9190-D03EF27BD087}"/>
              </a:ext>
            </a:extLst>
          </p:cNvPr>
          <p:cNvSpPr>
            <a:spLocks noGrp="1"/>
          </p:cNvSpPr>
          <p:nvPr/>
        </p:nvSpPr>
        <p:spPr>
          <a:xfrm>
            <a:off x="4231771" y="3754878"/>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2" name="Oval 51">
            <a:extLst>
              <a:ext uri="{FF2B5EF4-FFF2-40B4-BE49-F238E27FC236}">
                <a16:creationId xmlns:a16="http://schemas.microsoft.com/office/drawing/2014/main" id="{034D5D55-3A2D-4B35-83FB-02F71A23D90D}"/>
              </a:ext>
            </a:extLst>
          </p:cNvPr>
          <p:cNvSpPr>
            <a:spLocks noGrp="1"/>
          </p:cNvSpPr>
          <p:nvPr/>
        </p:nvSpPr>
        <p:spPr>
          <a:xfrm>
            <a:off x="5132622" y="344616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3" name="Oval 52">
            <a:extLst>
              <a:ext uri="{FF2B5EF4-FFF2-40B4-BE49-F238E27FC236}">
                <a16:creationId xmlns:a16="http://schemas.microsoft.com/office/drawing/2014/main" id="{9F185259-040A-4EB6-B763-FCD7DE2A37CB}"/>
              </a:ext>
            </a:extLst>
          </p:cNvPr>
          <p:cNvSpPr>
            <a:spLocks noGrp="1"/>
          </p:cNvSpPr>
          <p:nvPr/>
        </p:nvSpPr>
        <p:spPr>
          <a:xfrm>
            <a:off x="4749652" y="3504927"/>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4" name="Oval 53">
            <a:extLst>
              <a:ext uri="{FF2B5EF4-FFF2-40B4-BE49-F238E27FC236}">
                <a16:creationId xmlns:a16="http://schemas.microsoft.com/office/drawing/2014/main" id="{06266D8F-54D8-4E1D-8A52-D1F295553FCA}"/>
              </a:ext>
            </a:extLst>
          </p:cNvPr>
          <p:cNvSpPr>
            <a:spLocks noGrp="1"/>
          </p:cNvSpPr>
          <p:nvPr/>
        </p:nvSpPr>
        <p:spPr>
          <a:xfrm>
            <a:off x="4984419" y="352064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5" name="Oval 54">
            <a:extLst>
              <a:ext uri="{FF2B5EF4-FFF2-40B4-BE49-F238E27FC236}">
                <a16:creationId xmlns:a16="http://schemas.microsoft.com/office/drawing/2014/main" id="{49A7A313-495F-4DB8-9A2A-07FBA62C3C27}"/>
              </a:ext>
            </a:extLst>
          </p:cNvPr>
          <p:cNvSpPr>
            <a:spLocks noGrp="1"/>
          </p:cNvSpPr>
          <p:nvPr/>
        </p:nvSpPr>
        <p:spPr>
          <a:xfrm>
            <a:off x="4565183" y="3453104"/>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6" name="Oval 55">
            <a:extLst>
              <a:ext uri="{FF2B5EF4-FFF2-40B4-BE49-F238E27FC236}">
                <a16:creationId xmlns:a16="http://schemas.microsoft.com/office/drawing/2014/main" id="{74B03314-0FF6-4084-A9E4-6544539FA789}"/>
              </a:ext>
            </a:extLst>
          </p:cNvPr>
          <p:cNvSpPr>
            <a:spLocks noGrp="1"/>
          </p:cNvSpPr>
          <p:nvPr/>
        </p:nvSpPr>
        <p:spPr>
          <a:xfrm>
            <a:off x="4453282" y="3549733"/>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7" name="Oval 56">
            <a:extLst>
              <a:ext uri="{FF2B5EF4-FFF2-40B4-BE49-F238E27FC236}">
                <a16:creationId xmlns:a16="http://schemas.microsoft.com/office/drawing/2014/main" id="{29F1C95F-A401-4878-A499-268F7098034E}"/>
              </a:ext>
            </a:extLst>
          </p:cNvPr>
          <p:cNvSpPr>
            <a:spLocks noGrp="1"/>
          </p:cNvSpPr>
          <p:nvPr/>
        </p:nvSpPr>
        <p:spPr>
          <a:xfrm>
            <a:off x="2056880" y="4138052"/>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8" name="Oval 57">
            <a:extLst>
              <a:ext uri="{FF2B5EF4-FFF2-40B4-BE49-F238E27FC236}">
                <a16:creationId xmlns:a16="http://schemas.microsoft.com/office/drawing/2014/main" id="{170BCC52-2FBC-4752-A840-10E12DC60514}"/>
              </a:ext>
            </a:extLst>
          </p:cNvPr>
          <p:cNvSpPr>
            <a:spLocks noGrp="1"/>
          </p:cNvSpPr>
          <p:nvPr/>
        </p:nvSpPr>
        <p:spPr>
          <a:xfrm>
            <a:off x="1171575" y="4848225"/>
            <a:ext cx="57150" cy="57150"/>
          </a:xfrm>
          <a:prstGeom prst="ellipse">
            <a:avLst/>
          </a:prstGeom>
          <a:solidFill>
            <a:srgbClr val="D8D1C7"/>
          </a:solidFill>
          <a:ln w="0">
            <a:solidFill>
              <a:srgbClr val="000000">
                <a:alpha val="0"/>
              </a:srgbClr>
            </a:solidFill>
            <a:prstDash val="solid"/>
          </a:ln>
        </p:spPr>
        <p:txBody>
          <a:bodyPr/>
          <a:lstStyle/>
          <a:p>
            <a:endParaRPr lang="en-US"/>
          </a:p>
        </p:txBody>
      </p:sp>
      <p:sp>
        <p:nvSpPr>
          <p:cNvPr id="59" name="Oval 58">
            <a:extLst>
              <a:ext uri="{FF2B5EF4-FFF2-40B4-BE49-F238E27FC236}">
                <a16:creationId xmlns:a16="http://schemas.microsoft.com/office/drawing/2014/main" id="{6874FB87-0FA9-421C-B75C-A238F3397573}"/>
              </a:ext>
            </a:extLst>
          </p:cNvPr>
          <p:cNvSpPr>
            <a:spLocks noGrp="1"/>
          </p:cNvSpPr>
          <p:nvPr/>
        </p:nvSpPr>
        <p:spPr>
          <a:xfrm>
            <a:off x="3882832" y="3113598"/>
            <a:ext cx="152400" cy="152400"/>
          </a:xfrm>
          <a:prstGeom prst="ellipse">
            <a:avLst/>
          </a:prstGeom>
          <a:solidFill>
            <a:srgbClr val="E63A2F"/>
          </a:solidFill>
          <a:ln w="14288">
            <a:solidFill>
              <a:srgbClr val="FFFFFF"/>
            </a:solidFill>
            <a:prstDash val="solid"/>
          </a:ln>
        </p:spPr>
        <p:txBody>
          <a:bodyPr/>
          <a:lstStyle/>
          <a:p>
            <a:endParaRPr lang="en-US"/>
          </a:p>
        </p:txBody>
      </p:sp>
      <p:sp>
        <p:nvSpPr>
          <p:cNvPr id="60" name="Rectangle 59">
            <a:extLst>
              <a:ext uri="{FF2B5EF4-FFF2-40B4-BE49-F238E27FC236}">
                <a16:creationId xmlns:a16="http://schemas.microsoft.com/office/drawing/2014/main" id="{EDAB1ADA-08A6-4D8D-B5C2-9504DAA891EE}"/>
              </a:ext>
            </a:extLst>
          </p:cNvPr>
          <p:cNvSpPr>
            <a:spLocks noGrp="1"/>
          </p:cNvSpPr>
          <p:nvPr/>
        </p:nvSpPr>
        <p:spPr>
          <a:xfrm>
            <a:off x="4054282" y="2961198"/>
            <a:ext cx="53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E63A2F"/>
                </a:solidFill>
              </a:defRPr>
            </a:pPr>
            <a:r>
              <a:rPr sz="750" b="1">
                <a:solidFill>
                  <a:srgbClr val="E63A2F"/>
                </a:solidFill>
              </a:rPr>
              <a:t>96.02</a:t>
            </a:r>
          </a:p>
        </p:txBody>
      </p:sp>
      <p:sp>
        <p:nvSpPr>
          <p:cNvPr id="61" name="Oval 60">
            <a:extLst>
              <a:ext uri="{FF2B5EF4-FFF2-40B4-BE49-F238E27FC236}">
                <a16:creationId xmlns:a16="http://schemas.microsoft.com/office/drawing/2014/main" id="{00325FC7-81B6-41D1-AC73-212BFC183BE3}"/>
              </a:ext>
            </a:extLst>
          </p:cNvPr>
          <p:cNvSpPr>
            <a:spLocks noGrp="1"/>
          </p:cNvSpPr>
          <p:nvPr/>
        </p:nvSpPr>
        <p:spPr>
          <a:xfrm>
            <a:off x="3033049" y="4142628"/>
            <a:ext cx="152400" cy="152400"/>
          </a:xfrm>
          <a:prstGeom prst="ellipse">
            <a:avLst/>
          </a:prstGeom>
          <a:solidFill>
            <a:srgbClr val="F4A321"/>
          </a:solidFill>
          <a:ln w="14288">
            <a:solidFill>
              <a:srgbClr val="FFFFFF"/>
            </a:solidFill>
            <a:prstDash val="solid"/>
          </a:ln>
        </p:spPr>
        <p:txBody>
          <a:bodyPr/>
          <a:lstStyle/>
          <a:p>
            <a:endParaRPr lang="en-US"/>
          </a:p>
        </p:txBody>
      </p:sp>
      <p:sp>
        <p:nvSpPr>
          <p:cNvPr id="62" name="Rectangle 61">
            <a:extLst>
              <a:ext uri="{FF2B5EF4-FFF2-40B4-BE49-F238E27FC236}">
                <a16:creationId xmlns:a16="http://schemas.microsoft.com/office/drawing/2014/main" id="{1214E788-EA16-429C-8050-B07372FBCED9}"/>
              </a:ext>
            </a:extLst>
          </p:cNvPr>
          <p:cNvSpPr>
            <a:spLocks noGrp="1"/>
          </p:cNvSpPr>
          <p:nvPr/>
        </p:nvSpPr>
        <p:spPr>
          <a:xfrm>
            <a:off x="3204499" y="4275978"/>
            <a:ext cx="53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4A321"/>
                </a:solidFill>
              </a:defRPr>
            </a:pPr>
            <a:r>
              <a:rPr sz="750" b="1">
                <a:solidFill>
                  <a:srgbClr val="F4A321"/>
                </a:solidFill>
              </a:rPr>
              <a:t>74.03</a:t>
            </a:r>
          </a:p>
        </p:txBody>
      </p:sp>
      <p:sp>
        <p:nvSpPr>
          <p:cNvPr id="63" name="Oval 62">
            <a:extLst>
              <a:ext uri="{FF2B5EF4-FFF2-40B4-BE49-F238E27FC236}">
                <a16:creationId xmlns:a16="http://schemas.microsoft.com/office/drawing/2014/main" id="{6391627A-79A3-4E5F-B9F7-25AAAA468055}"/>
              </a:ext>
            </a:extLst>
          </p:cNvPr>
          <p:cNvSpPr>
            <a:spLocks noGrp="1"/>
          </p:cNvSpPr>
          <p:nvPr/>
        </p:nvSpPr>
        <p:spPr>
          <a:xfrm>
            <a:off x="3177924" y="4066162"/>
            <a:ext cx="152400" cy="152400"/>
          </a:xfrm>
          <a:prstGeom prst="ellipse">
            <a:avLst/>
          </a:prstGeom>
          <a:solidFill>
            <a:srgbClr val="0E8C86"/>
          </a:solidFill>
          <a:ln w="14288">
            <a:solidFill>
              <a:srgbClr val="FFFFFF"/>
            </a:solidFill>
            <a:prstDash val="solid"/>
          </a:ln>
        </p:spPr>
        <p:txBody>
          <a:bodyPr/>
          <a:lstStyle/>
          <a:p>
            <a:endParaRPr lang="en-US"/>
          </a:p>
        </p:txBody>
      </p:sp>
      <p:sp>
        <p:nvSpPr>
          <p:cNvPr id="64" name="Rectangle 63">
            <a:extLst>
              <a:ext uri="{FF2B5EF4-FFF2-40B4-BE49-F238E27FC236}">
                <a16:creationId xmlns:a16="http://schemas.microsoft.com/office/drawing/2014/main" id="{CF60B121-87A7-436D-B024-F557A625FBAD}"/>
              </a:ext>
            </a:extLst>
          </p:cNvPr>
          <p:cNvSpPr>
            <a:spLocks noGrp="1"/>
          </p:cNvSpPr>
          <p:nvPr/>
        </p:nvSpPr>
        <p:spPr>
          <a:xfrm>
            <a:off x="3349374" y="4047112"/>
            <a:ext cx="53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0E8C86"/>
                </a:solidFill>
              </a:defRPr>
            </a:pPr>
            <a:r>
              <a:rPr sz="750" b="1">
                <a:solidFill>
                  <a:srgbClr val="0E8C86"/>
                </a:solidFill>
              </a:rPr>
              <a:t>74.08</a:t>
            </a:r>
          </a:p>
        </p:txBody>
      </p:sp>
      <p:sp>
        <p:nvSpPr>
          <p:cNvPr id="65" name="Oval 64">
            <a:extLst>
              <a:ext uri="{FF2B5EF4-FFF2-40B4-BE49-F238E27FC236}">
                <a16:creationId xmlns:a16="http://schemas.microsoft.com/office/drawing/2014/main" id="{37508E39-414F-40CC-8DB2-EC5DC6EC791E}"/>
              </a:ext>
            </a:extLst>
          </p:cNvPr>
          <p:cNvSpPr>
            <a:spLocks noGrp="1"/>
          </p:cNvSpPr>
          <p:nvPr/>
        </p:nvSpPr>
        <p:spPr>
          <a:xfrm>
            <a:off x="5162550" y="3325652"/>
            <a:ext cx="152400" cy="152400"/>
          </a:xfrm>
          <a:prstGeom prst="ellipse">
            <a:avLst/>
          </a:prstGeom>
          <a:solidFill>
            <a:srgbClr val="265E8B"/>
          </a:solidFill>
          <a:ln w="14288">
            <a:solidFill>
              <a:srgbClr val="FFFFFF"/>
            </a:solidFill>
            <a:prstDash val="solid"/>
          </a:ln>
        </p:spPr>
        <p:txBody>
          <a:bodyPr/>
          <a:lstStyle/>
          <a:p>
            <a:endParaRPr lang="en-US"/>
          </a:p>
        </p:txBody>
      </p:sp>
      <p:sp>
        <p:nvSpPr>
          <p:cNvPr id="66" name="Rectangle 65">
            <a:extLst>
              <a:ext uri="{FF2B5EF4-FFF2-40B4-BE49-F238E27FC236}">
                <a16:creationId xmlns:a16="http://schemas.microsoft.com/office/drawing/2014/main" id="{E4F0A4E2-6433-4035-8B14-A9253AB2A3FE}"/>
              </a:ext>
            </a:extLst>
          </p:cNvPr>
          <p:cNvSpPr>
            <a:spLocks noGrp="1"/>
          </p:cNvSpPr>
          <p:nvPr/>
        </p:nvSpPr>
        <p:spPr>
          <a:xfrm>
            <a:off x="5353050" y="3497102"/>
            <a:ext cx="53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265E8B"/>
                </a:solidFill>
              </a:defRPr>
            </a:pPr>
            <a:r>
              <a:rPr sz="750" b="1">
                <a:solidFill>
                  <a:srgbClr val="265E8B"/>
                </a:solidFill>
              </a:rPr>
              <a:t>78.08</a:t>
            </a:r>
          </a:p>
        </p:txBody>
      </p:sp>
      <p:sp>
        <p:nvSpPr>
          <p:cNvPr id="67" name="Oval 66">
            <a:extLst>
              <a:ext uri="{FF2B5EF4-FFF2-40B4-BE49-F238E27FC236}">
                <a16:creationId xmlns:a16="http://schemas.microsoft.com/office/drawing/2014/main" id="{99789831-4748-4260-987C-9CE87F161B92}"/>
              </a:ext>
            </a:extLst>
          </p:cNvPr>
          <p:cNvSpPr>
            <a:spLocks noGrp="1"/>
          </p:cNvSpPr>
          <p:nvPr/>
        </p:nvSpPr>
        <p:spPr>
          <a:xfrm>
            <a:off x="2542546" y="3851298"/>
            <a:ext cx="152400" cy="152400"/>
          </a:xfrm>
          <a:prstGeom prst="ellipse">
            <a:avLst/>
          </a:prstGeom>
          <a:solidFill>
            <a:srgbClr val="297E4F"/>
          </a:solidFill>
          <a:ln w="14288">
            <a:solidFill>
              <a:srgbClr val="FFFFFF"/>
            </a:solidFill>
            <a:prstDash val="solid"/>
          </a:ln>
        </p:spPr>
        <p:txBody>
          <a:bodyPr/>
          <a:lstStyle/>
          <a:p>
            <a:endParaRPr lang="en-US"/>
          </a:p>
        </p:txBody>
      </p:sp>
      <p:sp>
        <p:nvSpPr>
          <p:cNvPr id="68" name="Rectangle 67">
            <a:extLst>
              <a:ext uri="{FF2B5EF4-FFF2-40B4-BE49-F238E27FC236}">
                <a16:creationId xmlns:a16="http://schemas.microsoft.com/office/drawing/2014/main" id="{3552FAC8-FAFA-45F4-A133-CCEF43FF1233}"/>
              </a:ext>
            </a:extLst>
          </p:cNvPr>
          <p:cNvSpPr>
            <a:spLocks noGrp="1"/>
          </p:cNvSpPr>
          <p:nvPr/>
        </p:nvSpPr>
        <p:spPr>
          <a:xfrm>
            <a:off x="2713996" y="3736998"/>
            <a:ext cx="533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297E4F"/>
                </a:solidFill>
              </a:defRPr>
            </a:pPr>
            <a:r>
              <a:rPr sz="750" b="1">
                <a:solidFill>
                  <a:srgbClr val="297E4F"/>
                </a:solidFill>
              </a:rPr>
              <a:t>75.03</a:t>
            </a:r>
          </a:p>
        </p:txBody>
      </p:sp>
      <p:sp>
        <p:nvSpPr>
          <p:cNvPr id="69" name="Rectangle 68">
            <a:extLst>
              <a:ext uri="{FF2B5EF4-FFF2-40B4-BE49-F238E27FC236}">
                <a16:creationId xmlns:a16="http://schemas.microsoft.com/office/drawing/2014/main" id="{37D3BE79-4F74-4E2C-B0BB-9FC3370C1FF5}"/>
              </a:ext>
            </a:extLst>
          </p:cNvPr>
          <p:cNvSpPr>
            <a:spLocks noGrp="1"/>
          </p:cNvSpPr>
          <p:nvPr/>
        </p:nvSpPr>
        <p:spPr>
          <a:xfrm>
            <a:off x="933450" y="5181600"/>
            <a:ext cx="4572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8A8074"/>
                </a:solidFill>
              </a:defRPr>
            </a:pPr>
            <a:r>
              <a:rPr sz="750" b="0">
                <a:solidFill>
                  <a:srgbClr val="8A8074"/>
                </a:solidFill>
              </a:rPr>
              <a:t>Gray = all EOTR tracts  |  color = named phase-1 launch tracts</a:t>
            </a:r>
          </a:p>
        </p:txBody>
      </p:sp>
      <p:sp>
        <p:nvSpPr>
          <p:cNvPr id="70" name="Rectangle: Rounded Corners 69">
            <a:extLst>
              <a:ext uri="{FF2B5EF4-FFF2-40B4-BE49-F238E27FC236}">
                <a16:creationId xmlns:a16="http://schemas.microsoft.com/office/drawing/2014/main" id="{85E42442-1645-4F58-8BB5-0D24977A7363}"/>
              </a:ext>
            </a:extLst>
          </p:cNvPr>
          <p:cNvSpPr>
            <a:spLocks noGrp="1"/>
          </p:cNvSpPr>
          <p:nvPr/>
        </p:nvSpPr>
        <p:spPr>
          <a:xfrm>
            <a:off x="6057900" y="2419350"/>
            <a:ext cx="2381250" cy="1219200"/>
          </a:xfrm>
          <a:prstGeom prst="roundRect">
            <a:avLst>
              <a:gd name="adj" fmla="val 6250"/>
            </a:avLst>
          </a:prstGeom>
          <a:solidFill>
            <a:srgbClr val="E63A2F"/>
          </a:solidFill>
          <a:ln w="0">
            <a:solidFill>
              <a:srgbClr val="000000">
                <a:alpha val="0"/>
              </a:srgbClr>
            </a:solidFill>
            <a:prstDash val="solid"/>
          </a:ln>
        </p:spPr>
        <p:txBody>
          <a:bodyPr/>
          <a:lstStyle/>
          <a:p>
            <a:endParaRPr lang="en-US"/>
          </a:p>
        </p:txBody>
      </p:sp>
      <p:sp>
        <p:nvSpPr>
          <p:cNvPr id="71" name="Rectangle 70">
            <a:extLst>
              <a:ext uri="{FF2B5EF4-FFF2-40B4-BE49-F238E27FC236}">
                <a16:creationId xmlns:a16="http://schemas.microsoft.com/office/drawing/2014/main" id="{7DFDA8E2-91A8-40D1-93B4-C563C312ED4C}"/>
              </a:ext>
            </a:extLst>
          </p:cNvPr>
          <p:cNvSpPr>
            <a:spLocks noGrp="1"/>
          </p:cNvSpPr>
          <p:nvPr/>
        </p:nvSpPr>
        <p:spPr>
          <a:xfrm>
            <a:off x="6248400" y="2590800"/>
            <a:ext cx="2000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a:solidFill>
                  <a:srgbClr val="FFFFFF"/>
                </a:solidFill>
              </a:rPr>
              <a:t>46</a:t>
            </a:r>
          </a:p>
        </p:txBody>
      </p:sp>
      <p:sp>
        <p:nvSpPr>
          <p:cNvPr id="72" name="Rectangle 71">
            <a:extLst>
              <a:ext uri="{FF2B5EF4-FFF2-40B4-BE49-F238E27FC236}">
                <a16:creationId xmlns:a16="http://schemas.microsoft.com/office/drawing/2014/main" id="{AEF0625D-150F-4E8F-9486-C564B09C1090}"/>
              </a:ext>
            </a:extLst>
          </p:cNvPr>
          <p:cNvSpPr>
            <a:spLocks noGrp="1"/>
          </p:cNvSpPr>
          <p:nvPr/>
        </p:nvSpPr>
        <p:spPr>
          <a:xfrm>
            <a:off x="6248400" y="30480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Analyzed EOTR tracts</a:t>
            </a:r>
          </a:p>
        </p:txBody>
      </p:sp>
      <p:sp>
        <p:nvSpPr>
          <p:cNvPr id="73" name="Rectangle 72">
            <a:extLst>
              <a:ext uri="{FF2B5EF4-FFF2-40B4-BE49-F238E27FC236}">
                <a16:creationId xmlns:a16="http://schemas.microsoft.com/office/drawing/2014/main" id="{EB48D6E6-2398-41DC-B094-03A1D3EF4A63}"/>
              </a:ext>
            </a:extLst>
          </p:cNvPr>
          <p:cNvSpPr>
            <a:spLocks noGrp="1"/>
          </p:cNvSpPr>
          <p:nvPr/>
        </p:nvSpPr>
        <p:spPr>
          <a:xfrm>
            <a:off x="6248400" y="34480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All meet the challenge threshold.</a:t>
            </a:r>
          </a:p>
        </p:txBody>
      </p:sp>
      <p:sp>
        <p:nvSpPr>
          <p:cNvPr id="74" name="Rectangle: Rounded Corners 73">
            <a:extLst>
              <a:ext uri="{FF2B5EF4-FFF2-40B4-BE49-F238E27FC236}">
                <a16:creationId xmlns:a16="http://schemas.microsoft.com/office/drawing/2014/main" id="{DB877184-4C1D-4DFD-A3B6-697CC7D6AAAE}"/>
              </a:ext>
            </a:extLst>
          </p:cNvPr>
          <p:cNvSpPr>
            <a:spLocks noGrp="1"/>
          </p:cNvSpPr>
          <p:nvPr/>
        </p:nvSpPr>
        <p:spPr>
          <a:xfrm>
            <a:off x="8648700" y="2419350"/>
            <a:ext cx="2381250" cy="1219200"/>
          </a:xfrm>
          <a:prstGeom prst="roundRect">
            <a:avLst>
              <a:gd name="adj" fmla="val 6250"/>
            </a:avLst>
          </a:prstGeom>
          <a:solidFill>
            <a:srgbClr val="F4A321"/>
          </a:solidFill>
          <a:ln w="0">
            <a:solidFill>
              <a:srgbClr val="000000">
                <a:alpha val="0"/>
              </a:srgbClr>
            </a:solidFill>
            <a:prstDash val="solid"/>
          </a:ln>
        </p:spPr>
        <p:txBody>
          <a:bodyPr/>
          <a:lstStyle/>
          <a:p>
            <a:endParaRPr lang="en-US"/>
          </a:p>
        </p:txBody>
      </p:sp>
      <p:sp>
        <p:nvSpPr>
          <p:cNvPr id="75" name="Rectangle 74">
            <a:extLst>
              <a:ext uri="{FF2B5EF4-FFF2-40B4-BE49-F238E27FC236}">
                <a16:creationId xmlns:a16="http://schemas.microsoft.com/office/drawing/2014/main" id="{CD8E876D-BA09-4270-BBEC-BC75D43B8745}"/>
              </a:ext>
            </a:extLst>
          </p:cNvPr>
          <p:cNvSpPr>
            <a:spLocks noGrp="1"/>
          </p:cNvSpPr>
          <p:nvPr/>
        </p:nvSpPr>
        <p:spPr>
          <a:xfrm>
            <a:off x="8839200" y="2590800"/>
            <a:ext cx="2000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dirty="0">
                <a:solidFill>
                  <a:schemeClr val="tx1">
                    <a:lumMod val="95000"/>
                    <a:lumOff val="5000"/>
                  </a:schemeClr>
                </a:solidFill>
              </a:rPr>
              <a:t>38</a:t>
            </a:r>
          </a:p>
        </p:txBody>
      </p:sp>
      <p:sp>
        <p:nvSpPr>
          <p:cNvPr id="76" name="Rectangle 75">
            <a:extLst>
              <a:ext uri="{FF2B5EF4-FFF2-40B4-BE49-F238E27FC236}">
                <a16:creationId xmlns:a16="http://schemas.microsoft.com/office/drawing/2014/main" id="{F767ED5F-76EB-4A65-947D-54F4E924DBF5}"/>
              </a:ext>
            </a:extLst>
          </p:cNvPr>
          <p:cNvSpPr>
            <a:spLocks noGrp="1"/>
          </p:cNvSpPr>
          <p:nvPr/>
        </p:nvSpPr>
        <p:spPr>
          <a:xfrm>
            <a:off x="8839200" y="30480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dirty="0">
                <a:solidFill>
                  <a:schemeClr val="tx1">
                    <a:lumMod val="95000"/>
                    <a:lumOff val="5000"/>
                  </a:schemeClr>
                </a:solidFill>
              </a:rPr>
              <a:t>Median EOTR IGS</a:t>
            </a:r>
          </a:p>
        </p:txBody>
      </p:sp>
      <p:sp>
        <p:nvSpPr>
          <p:cNvPr id="77" name="Rectangle 76">
            <a:extLst>
              <a:ext uri="{FF2B5EF4-FFF2-40B4-BE49-F238E27FC236}">
                <a16:creationId xmlns:a16="http://schemas.microsoft.com/office/drawing/2014/main" id="{535821AE-9C6D-4EBA-8880-1F1AD84DC62D}"/>
              </a:ext>
            </a:extLst>
          </p:cNvPr>
          <p:cNvSpPr>
            <a:spLocks noGrp="1"/>
          </p:cNvSpPr>
          <p:nvPr/>
        </p:nvSpPr>
        <p:spPr>
          <a:xfrm>
            <a:off x="8839200" y="34480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dirty="0">
                <a:solidFill>
                  <a:schemeClr val="tx1">
                    <a:lumMod val="95000"/>
                    <a:lumOff val="5000"/>
                  </a:schemeClr>
                </a:solidFill>
              </a:rPr>
              <a:t>Versus 56 in the rest of DC</a:t>
            </a:r>
          </a:p>
        </p:txBody>
      </p:sp>
      <p:sp>
        <p:nvSpPr>
          <p:cNvPr id="78" name="Rectangle: Rounded Corners 77">
            <a:extLst>
              <a:ext uri="{FF2B5EF4-FFF2-40B4-BE49-F238E27FC236}">
                <a16:creationId xmlns:a16="http://schemas.microsoft.com/office/drawing/2014/main" id="{60A81B06-B686-46C3-A77A-82A914A29D12}"/>
              </a:ext>
            </a:extLst>
          </p:cNvPr>
          <p:cNvSpPr>
            <a:spLocks noGrp="1"/>
          </p:cNvSpPr>
          <p:nvPr/>
        </p:nvSpPr>
        <p:spPr>
          <a:xfrm>
            <a:off x="6057900" y="3790950"/>
            <a:ext cx="2381250" cy="1219200"/>
          </a:xfrm>
          <a:prstGeom prst="roundRect">
            <a:avLst>
              <a:gd name="adj" fmla="val 6250"/>
            </a:avLst>
          </a:prstGeom>
          <a:solidFill>
            <a:srgbClr val="265E8B"/>
          </a:solidFill>
          <a:ln w="0">
            <a:solidFill>
              <a:srgbClr val="000000">
                <a:alpha val="0"/>
              </a:srgbClr>
            </a:solidFill>
            <a:prstDash val="solid"/>
          </a:ln>
        </p:spPr>
        <p:txBody>
          <a:bodyPr/>
          <a:lstStyle/>
          <a:p>
            <a:endParaRPr lang="en-US"/>
          </a:p>
        </p:txBody>
      </p:sp>
      <p:sp>
        <p:nvSpPr>
          <p:cNvPr id="79" name="Rectangle 78">
            <a:extLst>
              <a:ext uri="{FF2B5EF4-FFF2-40B4-BE49-F238E27FC236}">
                <a16:creationId xmlns:a16="http://schemas.microsoft.com/office/drawing/2014/main" id="{91401D7F-0F81-472A-B992-D8729852BBB7}"/>
              </a:ext>
            </a:extLst>
          </p:cNvPr>
          <p:cNvSpPr>
            <a:spLocks noGrp="1"/>
          </p:cNvSpPr>
          <p:nvPr/>
        </p:nvSpPr>
        <p:spPr>
          <a:xfrm>
            <a:off x="6248400" y="3962400"/>
            <a:ext cx="2000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a:solidFill>
                  <a:srgbClr val="FFFFFF"/>
                </a:solidFill>
              </a:rPr>
              <a:t>56</a:t>
            </a:r>
          </a:p>
        </p:txBody>
      </p:sp>
      <p:sp>
        <p:nvSpPr>
          <p:cNvPr id="80" name="Rectangle 79">
            <a:extLst>
              <a:ext uri="{FF2B5EF4-FFF2-40B4-BE49-F238E27FC236}">
                <a16:creationId xmlns:a16="http://schemas.microsoft.com/office/drawing/2014/main" id="{3EFE90CF-974A-49D7-94CF-2BEEE701BAB5}"/>
              </a:ext>
            </a:extLst>
          </p:cNvPr>
          <p:cNvSpPr>
            <a:spLocks noGrp="1"/>
          </p:cNvSpPr>
          <p:nvPr/>
        </p:nvSpPr>
        <p:spPr>
          <a:xfrm>
            <a:off x="6248400" y="44196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Rest of DC median IGS</a:t>
            </a:r>
          </a:p>
        </p:txBody>
      </p:sp>
      <p:sp>
        <p:nvSpPr>
          <p:cNvPr id="81" name="Rectangle 80">
            <a:extLst>
              <a:ext uri="{FF2B5EF4-FFF2-40B4-BE49-F238E27FC236}">
                <a16:creationId xmlns:a16="http://schemas.microsoft.com/office/drawing/2014/main" id="{D7B2D61F-F9EE-4D59-BBD7-4CBF35CD8DD0}"/>
              </a:ext>
            </a:extLst>
          </p:cNvPr>
          <p:cNvSpPr>
            <a:spLocks noGrp="1"/>
          </p:cNvSpPr>
          <p:nvPr/>
        </p:nvSpPr>
        <p:spPr>
          <a:xfrm>
            <a:off x="6248400" y="48196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Same-city benchmark.</a:t>
            </a:r>
          </a:p>
        </p:txBody>
      </p:sp>
      <p:sp>
        <p:nvSpPr>
          <p:cNvPr id="82" name="Rectangle: Rounded Corners 81">
            <a:extLst>
              <a:ext uri="{FF2B5EF4-FFF2-40B4-BE49-F238E27FC236}">
                <a16:creationId xmlns:a16="http://schemas.microsoft.com/office/drawing/2014/main" id="{738CAB46-AD91-4DC7-AB70-620FAD75CB71}"/>
              </a:ext>
            </a:extLst>
          </p:cNvPr>
          <p:cNvSpPr>
            <a:spLocks noGrp="1"/>
          </p:cNvSpPr>
          <p:nvPr/>
        </p:nvSpPr>
        <p:spPr>
          <a:xfrm>
            <a:off x="8648700" y="3790950"/>
            <a:ext cx="2381250" cy="1219200"/>
          </a:xfrm>
          <a:prstGeom prst="roundRect">
            <a:avLst>
              <a:gd name="adj" fmla="val 6250"/>
            </a:avLst>
          </a:prstGeom>
          <a:solidFill>
            <a:srgbClr val="0E8C86"/>
          </a:solidFill>
          <a:ln w="0">
            <a:solidFill>
              <a:srgbClr val="000000">
                <a:alpha val="0"/>
              </a:srgbClr>
            </a:solidFill>
            <a:prstDash val="solid"/>
          </a:ln>
        </p:spPr>
        <p:txBody>
          <a:bodyPr/>
          <a:lstStyle/>
          <a:p>
            <a:endParaRPr lang="en-US"/>
          </a:p>
        </p:txBody>
      </p:sp>
      <p:sp>
        <p:nvSpPr>
          <p:cNvPr id="83" name="Rectangle 82">
            <a:extLst>
              <a:ext uri="{FF2B5EF4-FFF2-40B4-BE49-F238E27FC236}">
                <a16:creationId xmlns:a16="http://schemas.microsoft.com/office/drawing/2014/main" id="{F572F3CD-369D-411E-BD42-B8CA93244186}"/>
              </a:ext>
            </a:extLst>
          </p:cNvPr>
          <p:cNvSpPr>
            <a:spLocks noGrp="1"/>
          </p:cNvSpPr>
          <p:nvPr/>
        </p:nvSpPr>
        <p:spPr>
          <a:xfrm>
            <a:off x="8839200" y="3962400"/>
            <a:ext cx="2000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defRPr>
            </a:pPr>
            <a:r>
              <a:rPr sz="2100" b="1">
                <a:solidFill>
                  <a:srgbClr val="FFFFFF"/>
                </a:solidFill>
              </a:rPr>
              <a:t>33</a:t>
            </a:r>
          </a:p>
        </p:txBody>
      </p:sp>
      <p:sp>
        <p:nvSpPr>
          <p:cNvPr id="84" name="Rectangle 83">
            <a:extLst>
              <a:ext uri="{FF2B5EF4-FFF2-40B4-BE49-F238E27FC236}">
                <a16:creationId xmlns:a16="http://schemas.microsoft.com/office/drawing/2014/main" id="{4BD19796-9378-44B2-9A56-F88C7FCABD25}"/>
              </a:ext>
            </a:extLst>
          </p:cNvPr>
          <p:cNvSpPr>
            <a:spLocks noGrp="1"/>
          </p:cNvSpPr>
          <p:nvPr/>
        </p:nvSpPr>
        <p:spPr>
          <a:xfrm>
            <a:off x="8839200" y="44196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Economy pillar median</a:t>
            </a:r>
          </a:p>
        </p:txBody>
      </p:sp>
      <p:sp>
        <p:nvSpPr>
          <p:cNvPr id="85" name="Rectangle 84">
            <a:extLst>
              <a:ext uri="{FF2B5EF4-FFF2-40B4-BE49-F238E27FC236}">
                <a16:creationId xmlns:a16="http://schemas.microsoft.com/office/drawing/2014/main" id="{CE01D6A3-A18B-4531-A909-4D37C73F2713}"/>
              </a:ext>
            </a:extLst>
          </p:cNvPr>
          <p:cNvSpPr>
            <a:spLocks noGrp="1"/>
          </p:cNvSpPr>
          <p:nvPr/>
        </p:nvSpPr>
        <p:spPr>
          <a:xfrm>
            <a:off x="8839200" y="48196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Weakest pillar.</a:t>
            </a:r>
          </a:p>
        </p:txBody>
      </p:sp>
      <p:sp>
        <p:nvSpPr>
          <p:cNvPr id="86" name="Rectangle: Rounded Corners 85">
            <a:extLst>
              <a:ext uri="{FF2B5EF4-FFF2-40B4-BE49-F238E27FC236}">
                <a16:creationId xmlns:a16="http://schemas.microsoft.com/office/drawing/2014/main" id="{37F653D3-6D42-47EC-9FB2-19C77BDC15AF}"/>
              </a:ext>
            </a:extLst>
          </p:cNvPr>
          <p:cNvSpPr>
            <a:spLocks noGrp="1"/>
          </p:cNvSpPr>
          <p:nvPr/>
        </p:nvSpPr>
        <p:spPr>
          <a:xfrm>
            <a:off x="6057900" y="5143500"/>
            <a:ext cx="4972050" cy="914400"/>
          </a:xfrm>
          <a:prstGeom prst="roundRect">
            <a:avLst>
              <a:gd name="adj" fmla="val 9302"/>
            </a:avLst>
          </a:prstGeom>
          <a:solidFill>
            <a:srgbClr val="FFFDF8"/>
          </a:solidFill>
          <a:ln w="9525">
            <a:solidFill>
              <a:srgbClr val="D6D0C7"/>
            </a:solidFill>
            <a:prstDash val="solid"/>
          </a:ln>
        </p:spPr>
        <p:txBody>
          <a:bodyPr/>
          <a:lstStyle/>
          <a:p>
            <a:endParaRPr lang="en-US"/>
          </a:p>
        </p:txBody>
      </p:sp>
      <p:sp>
        <p:nvSpPr>
          <p:cNvPr id="87" name="Rectangle 86">
            <a:extLst>
              <a:ext uri="{FF2B5EF4-FFF2-40B4-BE49-F238E27FC236}">
                <a16:creationId xmlns:a16="http://schemas.microsoft.com/office/drawing/2014/main" id="{CB8AD227-4592-4B18-9D6E-6A335E71E2C0}"/>
              </a:ext>
            </a:extLst>
          </p:cNvPr>
          <p:cNvSpPr>
            <a:spLocks noGrp="1"/>
          </p:cNvSpPr>
          <p:nvPr/>
        </p:nvSpPr>
        <p:spPr>
          <a:xfrm>
            <a:off x="6057900" y="5143500"/>
            <a:ext cx="57150" cy="819150"/>
          </a:xfrm>
          <a:prstGeom prst="rect">
            <a:avLst/>
          </a:prstGeom>
          <a:solidFill>
            <a:srgbClr val="297E4F"/>
          </a:solidFill>
          <a:ln w="0">
            <a:solidFill>
              <a:srgbClr val="000000">
                <a:alpha val="0"/>
              </a:srgbClr>
            </a:solidFill>
            <a:prstDash val="solid"/>
          </a:ln>
        </p:spPr>
        <p:txBody>
          <a:bodyPr/>
          <a:lstStyle/>
          <a:p>
            <a:endParaRPr lang="en-US"/>
          </a:p>
        </p:txBody>
      </p:sp>
      <p:sp>
        <p:nvSpPr>
          <p:cNvPr id="88" name="Rectangle 87">
            <a:extLst>
              <a:ext uri="{FF2B5EF4-FFF2-40B4-BE49-F238E27FC236}">
                <a16:creationId xmlns:a16="http://schemas.microsoft.com/office/drawing/2014/main" id="{8062AE28-276A-4FA6-8C64-CA7D2156AEC9}"/>
              </a:ext>
            </a:extLst>
          </p:cNvPr>
          <p:cNvSpPr>
            <a:spLocks noGrp="1"/>
          </p:cNvSpPr>
          <p:nvPr/>
        </p:nvSpPr>
        <p:spPr>
          <a:xfrm>
            <a:off x="6267450" y="5314950"/>
            <a:ext cx="46482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Benchmark interpretation</a:t>
            </a:r>
          </a:p>
        </p:txBody>
      </p:sp>
      <p:sp>
        <p:nvSpPr>
          <p:cNvPr id="89" name="Rectangle 88">
            <a:extLst>
              <a:ext uri="{FF2B5EF4-FFF2-40B4-BE49-F238E27FC236}">
                <a16:creationId xmlns:a16="http://schemas.microsoft.com/office/drawing/2014/main" id="{2B3933DE-9963-425C-80D8-7EEB9A87E751}"/>
              </a:ext>
            </a:extLst>
          </p:cNvPr>
          <p:cNvSpPr>
            <a:spLocks noGrp="1"/>
          </p:cNvSpPr>
          <p:nvPr/>
        </p:nvSpPr>
        <p:spPr>
          <a:xfrm>
            <a:off x="6267450" y="5657850"/>
            <a:ext cx="46482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dirty="0">
                <a:solidFill>
                  <a:srgbClr val="57534E"/>
                </a:solidFill>
              </a:rPr>
              <a:t>Challenge eligibility is established at the tract-pool level first; launch tracts are then selected as Phase-1 deployment markets for CAN.</a:t>
            </a:r>
          </a:p>
        </p:txBody>
      </p:sp>
      <p:sp>
        <p:nvSpPr>
          <p:cNvPr id="90" name="Rectangle 89">
            <a:extLst>
              <a:ext uri="{FF2B5EF4-FFF2-40B4-BE49-F238E27FC236}">
                <a16:creationId xmlns:a16="http://schemas.microsoft.com/office/drawing/2014/main" id="{86DF100C-5158-4516-B980-78DB937EAE98}"/>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91" name="Rectangle 90">
            <a:extLst>
              <a:ext uri="{FF2B5EF4-FFF2-40B4-BE49-F238E27FC236}">
                <a16:creationId xmlns:a16="http://schemas.microsoft.com/office/drawing/2014/main" id="{FAA1468E-66D7-42A9-B492-A751A8E6E250}"/>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IGS benchmarking from Mastercard tract scores, validated against the current deployment analysis.</a:t>
            </a:r>
          </a:p>
        </p:txBody>
      </p:sp>
    </p:spTree>
    <p:extLst>
      <p:ext uri="{BB962C8B-B14F-4D97-AF65-F5344CB8AC3E}">
        <p14:creationId xmlns:p14="http://schemas.microsoft.com/office/powerpoint/2010/main" val="199282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F3E51921-BB03-4F0D-A0D8-3A4E93F05A16}"/>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65172A52-90CB-4480-98A2-44623733B850}"/>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KEY FINDINGS</a:t>
            </a:r>
          </a:p>
        </p:txBody>
      </p:sp>
      <p:sp>
        <p:nvSpPr>
          <p:cNvPr id="3" name="Rectangle 2">
            <a:extLst>
              <a:ext uri="{FF2B5EF4-FFF2-40B4-BE49-F238E27FC236}">
                <a16:creationId xmlns:a16="http://schemas.microsoft.com/office/drawing/2014/main" id="{9C596C8A-BBA5-4E45-8F9D-5445CC3E50C1}"/>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05 / 10</a:t>
            </a:r>
          </a:p>
        </p:txBody>
      </p:sp>
      <p:sp>
        <p:nvSpPr>
          <p:cNvPr id="4" name="Rectangle 3">
            <a:extLst>
              <a:ext uri="{FF2B5EF4-FFF2-40B4-BE49-F238E27FC236}">
                <a16:creationId xmlns:a16="http://schemas.microsoft.com/office/drawing/2014/main" id="{189050A6-8C4B-45D5-B3CE-0343244B6DC8}"/>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6B770C9F-01F4-4C6A-9865-EC1605C9ECEE}"/>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Key findings: access friction is economic and time-based, not just geographic</a:t>
            </a:r>
          </a:p>
        </p:txBody>
      </p:sp>
      <p:sp>
        <p:nvSpPr>
          <p:cNvPr id="6" name="Rectangle 5">
            <a:extLst>
              <a:ext uri="{FF2B5EF4-FFF2-40B4-BE49-F238E27FC236}">
                <a16:creationId xmlns:a16="http://schemas.microsoft.com/office/drawing/2014/main" id="{07E009C0-E2F7-46A1-B036-CC2DEF3F3B3C}"/>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DC-wide modeling shows that labor-market weakness, financing gaps, and travel friction are more stable signals than clinic distance.</a:t>
            </a:r>
          </a:p>
        </p:txBody>
      </p:sp>
      <p:sp>
        <p:nvSpPr>
          <p:cNvPr id="7" name="Rectangle: Rounded Corners 6">
            <a:extLst>
              <a:ext uri="{FF2B5EF4-FFF2-40B4-BE49-F238E27FC236}">
                <a16:creationId xmlns:a16="http://schemas.microsoft.com/office/drawing/2014/main" id="{EC0C2F0A-65AD-4BA2-AA12-39DEDEC44625}"/>
              </a:ext>
            </a:extLst>
          </p:cNvPr>
          <p:cNvSpPr>
            <a:spLocks noGrp="1"/>
          </p:cNvSpPr>
          <p:nvPr/>
        </p:nvSpPr>
        <p:spPr>
          <a:xfrm>
            <a:off x="838200" y="2038350"/>
            <a:ext cx="10515600" cy="800100"/>
          </a:xfrm>
          <a:prstGeom prst="roundRect">
            <a:avLst>
              <a:gd name="adj" fmla="val 9524"/>
            </a:avLst>
          </a:prstGeom>
          <a:solidFill>
            <a:srgbClr val="FBF6EF"/>
          </a:solidFill>
          <a:ln w="9525">
            <a:solidFill>
              <a:srgbClr val="D6D0C7"/>
            </a:solidFill>
            <a:prstDash val="solid"/>
          </a:ln>
        </p:spPr>
        <p:txBody>
          <a:bodyPr/>
          <a:lstStyle/>
          <a:p>
            <a:endParaRPr lang="en-US"/>
          </a:p>
        </p:txBody>
      </p:sp>
      <p:sp>
        <p:nvSpPr>
          <p:cNvPr id="8" name="Rectangle 7">
            <a:extLst>
              <a:ext uri="{FF2B5EF4-FFF2-40B4-BE49-F238E27FC236}">
                <a16:creationId xmlns:a16="http://schemas.microsoft.com/office/drawing/2014/main" id="{954358F5-12C3-46FB-80F7-C14A51AA88E8}"/>
              </a:ext>
            </a:extLst>
          </p:cNvPr>
          <p:cNvSpPr>
            <a:spLocks noGrp="1"/>
          </p:cNvSpPr>
          <p:nvPr/>
        </p:nvSpPr>
        <p:spPr>
          <a:xfrm>
            <a:off x="1104900" y="2247900"/>
            <a:ext cx="9982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1818"/>
                </a:solidFill>
              </a:defRPr>
            </a:pPr>
            <a:r>
              <a:rPr sz="1650" b="1">
                <a:solidFill>
                  <a:srgbClr val="181818"/>
                </a:solidFill>
              </a:rPr>
              <a:t>The stable predictors are inclusive-growth conditions: labor engagement, small-business financing, travel time, internet access, and housing.</a:t>
            </a:r>
          </a:p>
        </p:txBody>
      </p:sp>
      <p:sp>
        <p:nvSpPr>
          <p:cNvPr id="9" name="Rectangle: Rounded Corners 8">
            <a:extLst>
              <a:ext uri="{FF2B5EF4-FFF2-40B4-BE49-F238E27FC236}">
                <a16:creationId xmlns:a16="http://schemas.microsoft.com/office/drawing/2014/main" id="{401D7976-F86B-43B0-9740-30FA36DD83B8}"/>
              </a:ext>
            </a:extLst>
          </p:cNvPr>
          <p:cNvSpPr>
            <a:spLocks noGrp="1"/>
          </p:cNvSpPr>
          <p:nvPr/>
        </p:nvSpPr>
        <p:spPr>
          <a:xfrm>
            <a:off x="838200" y="3048000"/>
            <a:ext cx="2362200" cy="1352550"/>
          </a:xfrm>
          <a:prstGeom prst="roundRect">
            <a:avLst>
              <a:gd name="adj" fmla="val 5882"/>
            </a:avLst>
          </a:prstGeom>
          <a:solidFill>
            <a:srgbClr val="E63A2F"/>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B2873B1D-FBAB-4716-B9EC-83062DBFF30F}"/>
              </a:ext>
            </a:extLst>
          </p:cNvPr>
          <p:cNvSpPr>
            <a:spLocks noGrp="1"/>
          </p:cNvSpPr>
          <p:nvPr/>
        </p:nvSpPr>
        <p:spPr>
          <a:xfrm>
            <a:off x="1028700" y="32194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dirty="0">
                <a:solidFill>
                  <a:srgbClr val="FFFFFF"/>
                </a:solidFill>
              </a:rPr>
              <a:t>0.69 R²</a:t>
            </a:r>
          </a:p>
        </p:txBody>
      </p:sp>
      <p:sp>
        <p:nvSpPr>
          <p:cNvPr id="11" name="Rectangle 10">
            <a:extLst>
              <a:ext uri="{FF2B5EF4-FFF2-40B4-BE49-F238E27FC236}">
                <a16:creationId xmlns:a16="http://schemas.microsoft.com/office/drawing/2014/main" id="{8F726645-BF31-4DD1-8FB2-4A59640D2674}"/>
              </a:ext>
            </a:extLst>
          </p:cNvPr>
          <p:cNvSpPr>
            <a:spLocks noGrp="1"/>
          </p:cNvSpPr>
          <p:nvPr/>
        </p:nvSpPr>
        <p:spPr>
          <a:xfrm>
            <a:off x="1028700" y="36766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5-fold CV on 205 DC tracts</a:t>
            </a:r>
          </a:p>
        </p:txBody>
      </p:sp>
      <p:sp>
        <p:nvSpPr>
          <p:cNvPr id="12" name="Rectangle 11">
            <a:extLst>
              <a:ext uri="{FF2B5EF4-FFF2-40B4-BE49-F238E27FC236}">
                <a16:creationId xmlns:a16="http://schemas.microsoft.com/office/drawing/2014/main" id="{F8EA367A-FD57-4C7A-9DCE-2D52373FC856}"/>
              </a:ext>
            </a:extLst>
          </p:cNvPr>
          <p:cNvSpPr>
            <a:spLocks noGrp="1"/>
          </p:cNvSpPr>
          <p:nvPr/>
        </p:nvSpPr>
        <p:spPr>
          <a:xfrm>
            <a:off x="1028700" y="40767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Out-of-sample support for the claim.</a:t>
            </a:r>
          </a:p>
        </p:txBody>
      </p:sp>
      <p:sp>
        <p:nvSpPr>
          <p:cNvPr id="13" name="Rectangle: Rounded Corners 12">
            <a:extLst>
              <a:ext uri="{FF2B5EF4-FFF2-40B4-BE49-F238E27FC236}">
                <a16:creationId xmlns:a16="http://schemas.microsoft.com/office/drawing/2014/main" id="{847711E7-E7DC-428E-9061-D8EF09E2EBC3}"/>
              </a:ext>
            </a:extLst>
          </p:cNvPr>
          <p:cNvSpPr>
            <a:spLocks noGrp="1"/>
          </p:cNvSpPr>
          <p:nvPr/>
        </p:nvSpPr>
        <p:spPr>
          <a:xfrm>
            <a:off x="3429000" y="3048000"/>
            <a:ext cx="2362200" cy="1352550"/>
          </a:xfrm>
          <a:prstGeom prst="roundRect">
            <a:avLst>
              <a:gd name="adj" fmla="val 5882"/>
            </a:avLst>
          </a:prstGeom>
          <a:solidFill>
            <a:srgbClr val="F4A321"/>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167F5756-96DE-4CD8-8E63-E04B640C26C2}"/>
              </a:ext>
            </a:extLst>
          </p:cNvPr>
          <p:cNvSpPr>
            <a:spLocks noGrp="1"/>
          </p:cNvSpPr>
          <p:nvPr/>
        </p:nvSpPr>
        <p:spPr>
          <a:xfrm>
            <a:off x="3619500" y="32194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dirty="0">
                <a:solidFill>
                  <a:schemeClr val="tx1">
                    <a:lumMod val="95000"/>
                    <a:lumOff val="5000"/>
                  </a:schemeClr>
                </a:solidFill>
              </a:rPr>
              <a:t>0.61 R²</a:t>
            </a:r>
          </a:p>
        </p:txBody>
      </p:sp>
      <p:sp>
        <p:nvSpPr>
          <p:cNvPr id="15" name="Rectangle 14">
            <a:extLst>
              <a:ext uri="{FF2B5EF4-FFF2-40B4-BE49-F238E27FC236}">
                <a16:creationId xmlns:a16="http://schemas.microsoft.com/office/drawing/2014/main" id="{739C4187-1F36-4B04-8D03-D2FA849406A4}"/>
              </a:ext>
            </a:extLst>
          </p:cNvPr>
          <p:cNvSpPr>
            <a:spLocks noGrp="1"/>
          </p:cNvSpPr>
          <p:nvPr/>
        </p:nvSpPr>
        <p:spPr>
          <a:xfrm>
            <a:off x="3619500" y="36766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dirty="0">
                <a:solidFill>
                  <a:schemeClr val="tx1">
                    <a:lumMod val="95000"/>
                    <a:lumOff val="5000"/>
                  </a:schemeClr>
                </a:solidFill>
              </a:rPr>
              <a:t>Held-out test performance</a:t>
            </a:r>
          </a:p>
        </p:txBody>
      </p:sp>
      <p:sp>
        <p:nvSpPr>
          <p:cNvPr id="16" name="Rectangle 15">
            <a:extLst>
              <a:ext uri="{FF2B5EF4-FFF2-40B4-BE49-F238E27FC236}">
                <a16:creationId xmlns:a16="http://schemas.microsoft.com/office/drawing/2014/main" id="{52809436-ACF6-4E2E-B088-478070D081BE}"/>
              </a:ext>
            </a:extLst>
          </p:cNvPr>
          <p:cNvSpPr>
            <a:spLocks noGrp="1"/>
          </p:cNvSpPr>
          <p:nvPr/>
        </p:nvSpPr>
        <p:spPr>
          <a:xfrm>
            <a:off x="3619500" y="40767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dirty="0">
                <a:solidFill>
                  <a:schemeClr val="tx1">
                    <a:lumMod val="95000"/>
                    <a:lumOff val="5000"/>
                  </a:schemeClr>
                </a:solidFill>
              </a:rPr>
              <a:t>Keeps the pitch honest about predictive power.</a:t>
            </a:r>
          </a:p>
        </p:txBody>
      </p:sp>
      <p:sp>
        <p:nvSpPr>
          <p:cNvPr id="17" name="Rectangle: Rounded Corners 16">
            <a:extLst>
              <a:ext uri="{FF2B5EF4-FFF2-40B4-BE49-F238E27FC236}">
                <a16:creationId xmlns:a16="http://schemas.microsoft.com/office/drawing/2014/main" id="{C1D1A548-1223-4243-8816-730731D7F2B2}"/>
              </a:ext>
            </a:extLst>
          </p:cNvPr>
          <p:cNvSpPr>
            <a:spLocks noGrp="1"/>
          </p:cNvSpPr>
          <p:nvPr/>
        </p:nvSpPr>
        <p:spPr>
          <a:xfrm>
            <a:off x="6019800" y="3048000"/>
            <a:ext cx="2362200" cy="1352550"/>
          </a:xfrm>
          <a:prstGeom prst="roundRect">
            <a:avLst>
              <a:gd name="adj" fmla="val 5882"/>
            </a:avLst>
          </a:prstGeom>
          <a:solidFill>
            <a:srgbClr val="0E8C8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5229CC45-C434-4376-83D2-D09C4FE08033}"/>
              </a:ext>
            </a:extLst>
          </p:cNvPr>
          <p:cNvSpPr>
            <a:spLocks noGrp="1"/>
          </p:cNvSpPr>
          <p:nvPr/>
        </p:nvSpPr>
        <p:spPr>
          <a:xfrm>
            <a:off x="6210300" y="32194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a:solidFill>
                  <a:srgbClr val="FFFFFF"/>
                </a:solidFill>
              </a:rPr>
              <a:t>1000x</a:t>
            </a:r>
          </a:p>
        </p:txBody>
      </p:sp>
      <p:sp>
        <p:nvSpPr>
          <p:cNvPr id="19" name="Rectangle 18">
            <a:extLst>
              <a:ext uri="{FF2B5EF4-FFF2-40B4-BE49-F238E27FC236}">
                <a16:creationId xmlns:a16="http://schemas.microsoft.com/office/drawing/2014/main" id="{DC7E8122-8A08-4659-9376-E60623276D8E}"/>
              </a:ext>
            </a:extLst>
          </p:cNvPr>
          <p:cNvSpPr>
            <a:spLocks noGrp="1"/>
          </p:cNvSpPr>
          <p:nvPr/>
        </p:nvSpPr>
        <p:spPr>
          <a:xfrm>
            <a:off x="6210300" y="36766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Bootstrap Lasso resamples</a:t>
            </a:r>
          </a:p>
        </p:txBody>
      </p:sp>
      <p:sp>
        <p:nvSpPr>
          <p:cNvPr id="20" name="Rectangle 19">
            <a:extLst>
              <a:ext uri="{FF2B5EF4-FFF2-40B4-BE49-F238E27FC236}">
                <a16:creationId xmlns:a16="http://schemas.microsoft.com/office/drawing/2014/main" id="{FB3FAE01-F79F-4AEA-849E-EB66CD6C6E1C}"/>
              </a:ext>
            </a:extLst>
          </p:cNvPr>
          <p:cNvSpPr>
            <a:spLocks noGrp="1"/>
          </p:cNvSpPr>
          <p:nvPr/>
        </p:nvSpPr>
        <p:spPr>
          <a:xfrm>
            <a:off x="6210300" y="40767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Stable features instead of one noisy pick.</a:t>
            </a:r>
          </a:p>
        </p:txBody>
      </p:sp>
      <p:sp>
        <p:nvSpPr>
          <p:cNvPr id="21" name="Rectangle: Rounded Corners 20">
            <a:extLst>
              <a:ext uri="{FF2B5EF4-FFF2-40B4-BE49-F238E27FC236}">
                <a16:creationId xmlns:a16="http://schemas.microsoft.com/office/drawing/2014/main" id="{63226C5F-390B-452B-BDE2-C9371E72524E}"/>
              </a:ext>
            </a:extLst>
          </p:cNvPr>
          <p:cNvSpPr>
            <a:spLocks noGrp="1"/>
          </p:cNvSpPr>
          <p:nvPr/>
        </p:nvSpPr>
        <p:spPr>
          <a:xfrm>
            <a:off x="8610600" y="3048000"/>
            <a:ext cx="2362200" cy="1352550"/>
          </a:xfrm>
          <a:prstGeom prst="roundRect">
            <a:avLst>
              <a:gd name="adj" fmla="val 5882"/>
            </a:avLst>
          </a:prstGeom>
          <a:solidFill>
            <a:srgbClr val="265E8B"/>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1E481A51-04DA-473C-97A9-5464E3470D62}"/>
              </a:ext>
            </a:extLst>
          </p:cNvPr>
          <p:cNvSpPr>
            <a:spLocks noGrp="1"/>
          </p:cNvSpPr>
          <p:nvPr/>
        </p:nvSpPr>
        <p:spPr>
          <a:xfrm>
            <a:off x="8801100" y="32194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a:solidFill>
                  <a:srgbClr val="FFFFFF"/>
                </a:solidFill>
              </a:rPr>
              <a:t>205</a:t>
            </a:r>
          </a:p>
        </p:txBody>
      </p:sp>
      <p:sp>
        <p:nvSpPr>
          <p:cNvPr id="23" name="Rectangle 22">
            <a:extLst>
              <a:ext uri="{FF2B5EF4-FFF2-40B4-BE49-F238E27FC236}">
                <a16:creationId xmlns:a16="http://schemas.microsoft.com/office/drawing/2014/main" id="{4AB30CE6-567C-4080-83D1-5E442372024F}"/>
              </a:ext>
            </a:extLst>
          </p:cNvPr>
          <p:cNvSpPr>
            <a:spLocks noGrp="1"/>
          </p:cNvSpPr>
          <p:nvPr/>
        </p:nvSpPr>
        <p:spPr>
          <a:xfrm>
            <a:off x="8801100" y="36766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DC tracts in primary model</a:t>
            </a:r>
          </a:p>
        </p:txBody>
      </p:sp>
      <p:sp>
        <p:nvSpPr>
          <p:cNvPr id="24" name="Rectangle 23">
            <a:extLst>
              <a:ext uri="{FF2B5EF4-FFF2-40B4-BE49-F238E27FC236}">
                <a16:creationId xmlns:a16="http://schemas.microsoft.com/office/drawing/2014/main" id="{99622051-F2E4-43FC-9A98-5A87E0FCE045}"/>
              </a:ext>
            </a:extLst>
          </p:cNvPr>
          <p:cNvSpPr>
            <a:spLocks noGrp="1"/>
          </p:cNvSpPr>
          <p:nvPr/>
        </p:nvSpPr>
        <p:spPr>
          <a:xfrm>
            <a:off x="8801100" y="40767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EOTR used as confirmation, not the only sample.</a:t>
            </a:r>
          </a:p>
        </p:txBody>
      </p:sp>
      <p:sp>
        <p:nvSpPr>
          <p:cNvPr id="25" name="Rectangle: Rounded Corners 24">
            <a:extLst>
              <a:ext uri="{FF2B5EF4-FFF2-40B4-BE49-F238E27FC236}">
                <a16:creationId xmlns:a16="http://schemas.microsoft.com/office/drawing/2014/main" id="{30998653-624C-473A-B4E0-DCA55DF06072}"/>
              </a:ext>
            </a:extLst>
          </p:cNvPr>
          <p:cNvSpPr>
            <a:spLocks noGrp="1"/>
          </p:cNvSpPr>
          <p:nvPr/>
        </p:nvSpPr>
        <p:spPr>
          <a:xfrm>
            <a:off x="838200" y="4572000"/>
            <a:ext cx="6229350" cy="1390650"/>
          </a:xfrm>
          <a:prstGeom prst="roundRect">
            <a:avLst>
              <a:gd name="adj" fmla="val 5479"/>
            </a:avLst>
          </a:prstGeom>
          <a:solidFill>
            <a:srgbClr val="FFFFFF"/>
          </a:solidFill>
          <a:ln w="9525">
            <a:solidFill>
              <a:srgbClr val="D6D0C7"/>
            </a:solidFill>
            <a:prstDash val="solid"/>
          </a:ln>
        </p:spPr>
        <p:txBody>
          <a:bodyPr/>
          <a:lstStyle/>
          <a:p>
            <a:endParaRPr lang="en-US"/>
          </a:p>
        </p:txBody>
      </p:sp>
      <p:sp>
        <p:nvSpPr>
          <p:cNvPr id="26" name="Rectangle 25">
            <a:extLst>
              <a:ext uri="{FF2B5EF4-FFF2-40B4-BE49-F238E27FC236}">
                <a16:creationId xmlns:a16="http://schemas.microsoft.com/office/drawing/2014/main" id="{129D2287-C192-4D08-8C3D-CF0980D8F676}"/>
              </a:ext>
            </a:extLst>
          </p:cNvPr>
          <p:cNvSpPr>
            <a:spLocks noGrp="1"/>
          </p:cNvSpPr>
          <p:nvPr/>
        </p:nvSpPr>
        <p:spPr>
          <a:xfrm>
            <a:off x="1009650" y="4705350"/>
            <a:ext cx="5886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Most stable predictors of food insecurity</a:t>
            </a:r>
          </a:p>
        </p:txBody>
      </p:sp>
      <p:sp>
        <p:nvSpPr>
          <p:cNvPr id="27" name="Rectangle 26">
            <a:extLst>
              <a:ext uri="{FF2B5EF4-FFF2-40B4-BE49-F238E27FC236}">
                <a16:creationId xmlns:a16="http://schemas.microsoft.com/office/drawing/2014/main" id="{EBAEABA9-6A67-40B6-A1C5-7B0EA272B446}"/>
              </a:ext>
            </a:extLst>
          </p:cNvPr>
          <p:cNvSpPr>
            <a:spLocks noGrp="1"/>
          </p:cNvSpPr>
          <p:nvPr/>
        </p:nvSpPr>
        <p:spPr>
          <a:xfrm>
            <a:off x="1219200" y="5600700"/>
            <a:ext cx="5562600" cy="11430"/>
          </a:xfrm>
          <a:prstGeom prst="rect">
            <a:avLst/>
          </a:prstGeom>
          <a:solidFill>
            <a:srgbClr val="D6D0C7"/>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51502DBB-C1E9-4C21-8FA5-F428B3289653}"/>
              </a:ext>
            </a:extLst>
          </p:cNvPr>
          <p:cNvSpPr>
            <a:spLocks noGrp="1"/>
          </p:cNvSpPr>
          <p:nvPr/>
        </p:nvSpPr>
        <p:spPr>
          <a:xfrm>
            <a:off x="1314450" y="5254336"/>
            <a:ext cx="495300" cy="346364"/>
          </a:xfrm>
          <a:prstGeom prst="rect">
            <a:avLst/>
          </a:prstGeom>
          <a:solidFill>
            <a:srgbClr val="265E8B"/>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4B52842A-C2FF-43F4-8F9B-87604D54D1C4}"/>
              </a:ext>
            </a:extLst>
          </p:cNvPr>
          <p:cNvSpPr>
            <a:spLocks noGrp="1"/>
          </p:cNvSpPr>
          <p:nvPr/>
        </p:nvSpPr>
        <p:spPr>
          <a:xfrm>
            <a:off x="1295400" y="5082886"/>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100</a:t>
            </a:r>
          </a:p>
        </p:txBody>
      </p:sp>
      <p:sp>
        <p:nvSpPr>
          <p:cNvPr id="30" name="Rectangle 29">
            <a:extLst>
              <a:ext uri="{FF2B5EF4-FFF2-40B4-BE49-F238E27FC236}">
                <a16:creationId xmlns:a16="http://schemas.microsoft.com/office/drawing/2014/main" id="{03669EA1-E5D2-4C96-A708-0D3FF4AD6A79}"/>
              </a:ext>
            </a:extLst>
          </p:cNvPr>
          <p:cNvSpPr>
            <a:spLocks noGrp="1"/>
          </p:cNvSpPr>
          <p:nvPr/>
        </p:nvSpPr>
        <p:spPr>
          <a:xfrm>
            <a:off x="1238250" y="5676900"/>
            <a:ext cx="111252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Labor Market Engagement</a:t>
            </a:r>
          </a:p>
        </p:txBody>
      </p:sp>
      <p:sp>
        <p:nvSpPr>
          <p:cNvPr id="31" name="Rectangle 30">
            <a:extLst>
              <a:ext uri="{FF2B5EF4-FFF2-40B4-BE49-F238E27FC236}">
                <a16:creationId xmlns:a16="http://schemas.microsoft.com/office/drawing/2014/main" id="{C559EA95-5235-4CC5-953C-1195CF901E93}"/>
              </a:ext>
            </a:extLst>
          </p:cNvPr>
          <p:cNvSpPr>
            <a:spLocks noGrp="1"/>
          </p:cNvSpPr>
          <p:nvPr/>
        </p:nvSpPr>
        <p:spPr>
          <a:xfrm>
            <a:off x="2426970" y="5255375"/>
            <a:ext cx="495300" cy="345325"/>
          </a:xfrm>
          <a:prstGeom prst="rect">
            <a:avLst/>
          </a:prstGeom>
          <a:solidFill>
            <a:srgbClr val="265E8B"/>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EA696798-B5AA-4D4A-ADD6-352B40AFF29A}"/>
              </a:ext>
            </a:extLst>
          </p:cNvPr>
          <p:cNvSpPr>
            <a:spLocks noGrp="1"/>
          </p:cNvSpPr>
          <p:nvPr/>
        </p:nvSpPr>
        <p:spPr>
          <a:xfrm>
            <a:off x="2407920" y="5083925"/>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99.7</a:t>
            </a:r>
          </a:p>
        </p:txBody>
      </p:sp>
      <p:sp>
        <p:nvSpPr>
          <p:cNvPr id="33" name="Rectangle 32">
            <a:extLst>
              <a:ext uri="{FF2B5EF4-FFF2-40B4-BE49-F238E27FC236}">
                <a16:creationId xmlns:a16="http://schemas.microsoft.com/office/drawing/2014/main" id="{41C528DF-2C66-4ACC-B4E1-937554842719}"/>
              </a:ext>
            </a:extLst>
          </p:cNvPr>
          <p:cNvSpPr>
            <a:spLocks noGrp="1"/>
          </p:cNvSpPr>
          <p:nvPr/>
        </p:nvSpPr>
        <p:spPr>
          <a:xfrm>
            <a:off x="2350770" y="5676900"/>
            <a:ext cx="111252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Small Business Loans</a:t>
            </a:r>
          </a:p>
        </p:txBody>
      </p:sp>
      <p:sp>
        <p:nvSpPr>
          <p:cNvPr id="34" name="Rectangle 33">
            <a:extLst>
              <a:ext uri="{FF2B5EF4-FFF2-40B4-BE49-F238E27FC236}">
                <a16:creationId xmlns:a16="http://schemas.microsoft.com/office/drawing/2014/main" id="{6C9721EB-EDA8-4D1A-835E-8DCE2A8533AC}"/>
              </a:ext>
            </a:extLst>
          </p:cNvPr>
          <p:cNvSpPr>
            <a:spLocks noGrp="1"/>
          </p:cNvSpPr>
          <p:nvPr/>
        </p:nvSpPr>
        <p:spPr>
          <a:xfrm>
            <a:off x="3539490" y="5265766"/>
            <a:ext cx="495300" cy="334934"/>
          </a:xfrm>
          <a:prstGeom prst="rect">
            <a:avLst/>
          </a:prstGeom>
          <a:solidFill>
            <a:srgbClr val="265E8B"/>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20EF71BC-B403-47DE-86C9-72E5DB8D979D}"/>
              </a:ext>
            </a:extLst>
          </p:cNvPr>
          <p:cNvSpPr>
            <a:spLocks noGrp="1"/>
          </p:cNvSpPr>
          <p:nvPr/>
        </p:nvSpPr>
        <p:spPr>
          <a:xfrm>
            <a:off x="3520440" y="5094316"/>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96.7</a:t>
            </a:r>
          </a:p>
        </p:txBody>
      </p:sp>
      <p:sp>
        <p:nvSpPr>
          <p:cNvPr id="36" name="Rectangle 35">
            <a:extLst>
              <a:ext uri="{FF2B5EF4-FFF2-40B4-BE49-F238E27FC236}">
                <a16:creationId xmlns:a16="http://schemas.microsoft.com/office/drawing/2014/main" id="{7527A1D2-3CF8-47C0-82FF-E8F23D8747D4}"/>
              </a:ext>
            </a:extLst>
          </p:cNvPr>
          <p:cNvSpPr>
            <a:spLocks noGrp="1"/>
          </p:cNvSpPr>
          <p:nvPr/>
        </p:nvSpPr>
        <p:spPr>
          <a:xfrm>
            <a:off x="3463290" y="5676900"/>
            <a:ext cx="111252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Travel Time to Work</a:t>
            </a:r>
          </a:p>
        </p:txBody>
      </p:sp>
      <p:sp>
        <p:nvSpPr>
          <p:cNvPr id="37" name="Rectangle 36">
            <a:extLst>
              <a:ext uri="{FF2B5EF4-FFF2-40B4-BE49-F238E27FC236}">
                <a16:creationId xmlns:a16="http://schemas.microsoft.com/office/drawing/2014/main" id="{5FC0E8CF-C40F-45B5-A5D6-6D1702E6F499}"/>
              </a:ext>
            </a:extLst>
          </p:cNvPr>
          <p:cNvSpPr>
            <a:spLocks noGrp="1"/>
          </p:cNvSpPr>
          <p:nvPr/>
        </p:nvSpPr>
        <p:spPr>
          <a:xfrm>
            <a:off x="4652010" y="5282045"/>
            <a:ext cx="495300" cy="318655"/>
          </a:xfrm>
          <a:prstGeom prst="rect">
            <a:avLst/>
          </a:prstGeom>
          <a:solidFill>
            <a:srgbClr val="265E8B"/>
          </a:solidFill>
          <a:ln w="0">
            <a:solidFill>
              <a:srgbClr val="000000">
                <a:alpha val="0"/>
              </a:srgbClr>
            </a:solidFill>
            <a:prstDash val="solid"/>
          </a:ln>
        </p:spPr>
        <p:txBody>
          <a:bodyPr/>
          <a:lstStyle/>
          <a:p>
            <a:endParaRPr lang="en-US"/>
          </a:p>
        </p:txBody>
      </p:sp>
      <p:sp>
        <p:nvSpPr>
          <p:cNvPr id="38" name="Rectangle 37">
            <a:extLst>
              <a:ext uri="{FF2B5EF4-FFF2-40B4-BE49-F238E27FC236}">
                <a16:creationId xmlns:a16="http://schemas.microsoft.com/office/drawing/2014/main" id="{2851632D-7DFD-4E33-AA38-E6B15F695E4B}"/>
              </a:ext>
            </a:extLst>
          </p:cNvPr>
          <p:cNvSpPr>
            <a:spLocks noGrp="1"/>
          </p:cNvSpPr>
          <p:nvPr/>
        </p:nvSpPr>
        <p:spPr>
          <a:xfrm>
            <a:off x="4632960" y="5110595"/>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92</a:t>
            </a:r>
          </a:p>
        </p:txBody>
      </p:sp>
      <p:sp>
        <p:nvSpPr>
          <p:cNvPr id="39" name="Rectangle 38">
            <a:extLst>
              <a:ext uri="{FF2B5EF4-FFF2-40B4-BE49-F238E27FC236}">
                <a16:creationId xmlns:a16="http://schemas.microsoft.com/office/drawing/2014/main" id="{48572C25-FFEE-4871-AB87-B49F310B1570}"/>
              </a:ext>
            </a:extLst>
          </p:cNvPr>
          <p:cNvSpPr>
            <a:spLocks noGrp="1"/>
          </p:cNvSpPr>
          <p:nvPr/>
        </p:nvSpPr>
        <p:spPr>
          <a:xfrm>
            <a:off x="4575810" y="5676900"/>
            <a:ext cx="111252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Internet Access</a:t>
            </a:r>
          </a:p>
        </p:txBody>
      </p:sp>
      <p:sp>
        <p:nvSpPr>
          <p:cNvPr id="40" name="Rectangle 39">
            <a:extLst>
              <a:ext uri="{FF2B5EF4-FFF2-40B4-BE49-F238E27FC236}">
                <a16:creationId xmlns:a16="http://schemas.microsoft.com/office/drawing/2014/main" id="{6AF145E3-932C-484B-96C3-080E12DE551A}"/>
              </a:ext>
            </a:extLst>
          </p:cNvPr>
          <p:cNvSpPr>
            <a:spLocks noGrp="1"/>
          </p:cNvSpPr>
          <p:nvPr/>
        </p:nvSpPr>
        <p:spPr>
          <a:xfrm>
            <a:off x="5764530" y="5287934"/>
            <a:ext cx="495300" cy="312766"/>
          </a:xfrm>
          <a:prstGeom prst="rect">
            <a:avLst/>
          </a:prstGeom>
          <a:solidFill>
            <a:srgbClr val="265E8B"/>
          </a:solidFill>
          <a:ln w="0">
            <a:solidFill>
              <a:srgbClr val="000000">
                <a:alpha val="0"/>
              </a:srgbClr>
            </a:solidFill>
            <a:prstDash val="solid"/>
          </a:ln>
        </p:spPr>
        <p:txBody>
          <a:bodyPr/>
          <a:lstStyle/>
          <a:p>
            <a:endParaRPr lang="en-US"/>
          </a:p>
        </p:txBody>
      </p:sp>
      <p:sp>
        <p:nvSpPr>
          <p:cNvPr id="41" name="Rectangle 40">
            <a:extLst>
              <a:ext uri="{FF2B5EF4-FFF2-40B4-BE49-F238E27FC236}">
                <a16:creationId xmlns:a16="http://schemas.microsoft.com/office/drawing/2014/main" id="{D07C3363-01AD-4A76-A0AC-9236F011C327}"/>
              </a:ext>
            </a:extLst>
          </p:cNvPr>
          <p:cNvSpPr>
            <a:spLocks noGrp="1"/>
          </p:cNvSpPr>
          <p:nvPr/>
        </p:nvSpPr>
        <p:spPr>
          <a:xfrm>
            <a:off x="5745480" y="5116484"/>
            <a:ext cx="5334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90.3</a:t>
            </a:r>
          </a:p>
        </p:txBody>
      </p:sp>
      <p:sp>
        <p:nvSpPr>
          <p:cNvPr id="42" name="Rectangle 41">
            <a:extLst>
              <a:ext uri="{FF2B5EF4-FFF2-40B4-BE49-F238E27FC236}">
                <a16:creationId xmlns:a16="http://schemas.microsoft.com/office/drawing/2014/main" id="{566A5E1F-093F-4B96-A014-1F0A7CAFD983}"/>
              </a:ext>
            </a:extLst>
          </p:cNvPr>
          <p:cNvSpPr>
            <a:spLocks noGrp="1"/>
          </p:cNvSpPr>
          <p:nvPr/>
        </p:nvSpPr>
        <p:spPr>
          <a:xfrm>
            <a:off x="5688330" y="5676900"/>
            <a:ext cx="111252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50" b="0">
                <a:solidFill>
                  <a:srgbClr val="57534E"/>
                </a:solidFill>
              </a:defRPr>
            </a:pPr>
            <a:r>
              <a:rPr sz="750" b="0">
                <a:solidFill>
                  <a:srgbClr val="57534E"/>
                </a:solidFill>
              </a:rPr>
              <a:t>Affordable Housing</a:t>
            </a:r>
          </a:p>
        </p:txBody>
      </p:sp>
      <p:sp>
        <p:nvSpPr>
          <p:cNvPr id="43" name="Rectangle: Rounded Corners 42">
            <a:extLst>
              <a:ext uri="{FF2B5EF4-FFF2-40B4-BE49-F238E27FC236}">
                <a16:creationId xmlns:a16="http://schemas.microsoft.com/office/drawing/2014/main" id="{6EE3E13F-0B94-45C8-AD39-B074EFF654D6}"/>
              </a:ext>
            </a:extLst>
          </p:cNvPr>
          <p:cNvSpPr>
            <a:spLocks noGrp="1"/>
          </p:cNvSpPr>
          <p:nvPr/>
        </p:nvSpPr>
        <p:spPr>
          <a:xfrm>
            <a:off x="7410450" y="4572000"/>
            <a:ext cx="3943350" cy="647700"/>
          </a:xfrm>
          <a:prstGeom prst="roundRect">
            <a:avLst>
              <a:gd name="adj" fmla="val 11765"/>
            </a:avLst>
          </a:prstGeom>
          <a:solidFill>
            <a:srgbClr val="FFFDF8"/>
          </a:solidFill>
          <a:ln w="9525">
            <a:solidFill>
              <a:srgbClr val="D6D0C7"/>
            </a:solidFill>
            <a:prstDash val="solid"/>
          </a:ln>
        </p:spPr>
        <p:txBody>
          <a:bodyPr/>
          <a:lstStyle/>
          <a:p>
            <a:endParaRPr lang="en-US"/>
          </a:p>
        </p:txBody>
      </p:sp>
      <p:sp>
        <p:nvSpPr>
          <p:cNvPr id="44" name="Rectangle 43">
            <a:extLst>
              <a:ext uri="{FF2B5EF4-FFF2-40B4-BE49-F238E27FC236}">
                <a16:creationId xmlns:a16="http://schemas.microsoft.com/office/drawing/2014/main" id="{419D6974-8FB5-44FA-9CB1-58244173DDB4}"/>
              </a:ext>
            </a:extLst>
          </p:cNvPr>
          <p:cNvSpPr>
            <a:spLocks noGrp="1"/>
          </p:cNvSpPr>
          <p:nvPr/>
        </p:nvSpPr>
        <p:spPr>
          <a:xfrm>
            <a:off x="7410450" y="4572000"/>
            <a:ext cx="57150" cy="647700"/>
          </a:xfrm>
          <a:prstGeom prst="rect">
            <a:avLst/>
          </a:prstGeom>
          <a:solidFill>
            <a:srgbClr val="265E8B"/>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8985D118-9605-4D70-9ED4-CB58F52A8A0C}"/>
              </a:ext>
            </a:extLst>
          </p:cNvPr>
          <p:cNvSpPr>
            <a:spLocks noGrp="1"/>
          </p:cNvSpPr>
          <p:nvPr/>
        </p:nvSpPr>
        <p:spPr>
          <a:xfrm>
            <a:off x="7620000" y="4743450"/>
            <a:ext cx="3619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Plain-English takeaway</a:t>
            </a:r>
          </a:p>
        </p:txBody>
      </p:sp>
      <p:sp>
        <p:nvSpPr>
          <p:cNvPr id="46" name="Rectangle 45">
            <a:extLst>
              <a:ext uri="{FF2B5EF4-FFF2-40B4-BE49-F238E27FC236}">
                <a16:creationId xmlns:a16="http://schemas.microsoft.com/office/drawing/2014/main" id="{024EAFD9-2A74-4143-813F-EC1D6AD16834}"/>
              </a:ext>
            </a:extLst>
          </p:cNvPr>
          <p:cNvSpPr>
            <a:spLocks noGrp="1"/>
          </p:cNvSpPr>
          <p:nvPr/>
        </p:nvSpPr>
        <p:spPr>
          <a:xfrm>
            <a:off x="7620000" y="4981574"/>
            <a:ext cx="361950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dirty="0">
                <a:solidFill>
                  <a:srgbClr val="57534E"/>
                </a:solidFill>
              </a:rPr>
              <a:t>Access friction is economic and time-based, not just geographic.</a:t>
            </a:r>
          </a:p>
        </p:txBody>
      </p:sp>
      <p:sp>
        <p:nvSpPr>
          <p:cNvPr id="47" name="Rectangle: Rounded Corners 46">
            <a:extLst>
              <a:ext uri="{FF2B5EF4-FFF2-40B4-BE49-F238E27FC236}">
                <a16:creationId xmlns:a16="http://schemas.microsoft.com/office/drawing/2014/main" id="{DF2BA116-E1DC-4BF9-8C7F-54762A9C9808}"/>
              </a:ext>
            </a:extLst>
          </p:cNvPr>
          <p:cNvSpPr>
            <a:spLocks noGrp="1"/>
          </p:cNvSpPr>
          <p:nvPr/>
        </p:nvSpPr>
        <p:spPr>
          <a:xfrm>
            <a:off x="7410450" y="5334000"/>
            <a:ext cx="3943350" cy="727708"/>
          </a:xfrm>
          <a:prstGeom prst="roundRect">
            <a:avLst>
              <a:gd name="adj" fmla="val 11765"/>
            </a:avLst>
          </a:prstGeom>
          <a:solidFill>
            <a:srgbClr val="FFFDF8"/>
          </a:solidFill>
          <a:ln w="9525">
            <a:solidFill>
              <a:srgbClr val="D6D0C7"/>
            </a:solidFill>
            <a:prstDash val="solid"/>
          </a:ln>
        </p:spPr>
        <p:txBody>
          <a:bodyPr/>
          <a:lstStyle/>
          <a:p>
            <a:endParaRPr lang="en-US"/>
          </a:p>
        </p:txBody>
      </p:sp>
      <p:sp>
        <p:nvSpPr>
          <p:cNvPr id="48" name="Rectangle 47">
            <a:extLst>
              <a:ext uri="{FF2B5EF4-FFF2-40B4-BE49-F238E27FC236}">
                <a16:creationId xmlns:a16="http://schemas.microsoft.com/office/drawing/2014/main" id="{FE9B3239-D946-4647-A92E-0543F0394E49}"/>
              </a:ext>
            </a:extLst>
          </p:cNvPr>
          <p:cNvSpPr>
            <a:spLocks noGrp="1"/>
          </p:cNvSpPr>
          <p:nvPr/>
        </p:nvSpPr>
        <p:spPr>
          <a:xfrm>
            <a:off x="7410450" y="5334000"/>
            <a:ext cx="57150" cy="647700"/>
          </a:xfrm>
          <a:prstGeom prst="rect">
            <a:avLst/>
          </a:prstGeom>
          <a:solidFill>
            <a:srgbClr val="297E4F"/>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7B8F404C-3525-447C-8CBD-5BF185087394}"/>
              </a:ext>
            </a:extLst>
          </p:cNvPr>
          <p:cNvSpPr>
            <a:spLocks noGrp="1"/>
          </p:cNvSpPr>
          <p:nvPr/>
        </p:nvSpPr>
        <p:spPr>
          <a:xfrm>
            <a:off x="7620000" y="5438775"/>
            <a:ext cx="3619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dirty="0">
                <a:solidFill>
                  <a:srgbClr val="181818"/>
                </a:solidFill>
              </a:rPr>
              <a:t>What this means for the intervention</a:t>
            </a:r>
          </a:p>
        </p:txBody>
      </p:sp>
      <p:sp>
        <p:nvSpPr>
          <p:cNvPr id="50" name="Rectangle 49">
            <a:extLst>
              <a:ext uri="{FF2B5EF4-FFF2-40B4-BE49-F238E27FC236}">
                <a16:creationId xmlns:a16="http://schemas.microsoft.com/office/drawing/2014/main" id="{B8F14C45-379B-4848-988B-51441A5211AF}"/>
              </a:ext>
            </a:extLst>
          </p:cNvPr>
          <p:cNvSpPr>
            <a:spLocks noGrp="1"/>
          </p:cNvSpPr>
          <p:nvPr/>
        </p:nvSpPr>
        <p:spPr>
          <a:xfrm>
            <a:off x="7620000" y="5664380"/>
            <a:ext cx="3619500" cy="43161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dirty="0">
                <a:solidFill>
                  <a:srgbClr val="57534E"/>
                </a:solidFill>
              </a:rPr>
              <a:t>The predictors are economic. The response has to address small-business formation and local opportunity, not just service delivery.</a:t>
            </a:r>
          </a:p>
        </p:txBody>
      </p:sp>
      <p:sp>
        <p:nvSpPr>
          <p:cNvPr id="51" name="Rectangle 50">
            <a:extLst>
              <a:ext uri="{FF2B5EF4-FFF2-40B4-BE49-F238E27FC236}">
                <a16:creationId xmlns:a16="http://schemas.microsoft.com/office/drawing/2014/main" id="{425471E8-8DBD-42D0-8A6B-76FC51697C6D}"/>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381C7A5D-FBEC-4134-AC3B-58DC22AA55B6}"/>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Project analysis from 02_evidence_chain.ipynb using DC-wide tract modeling, 5-fold LassoCV, RidgeCV, and bootstrap stability.</a:t>
            </a:r>
          </a:p>
        </p:txBody>
      </p:sp>
    </p:spTree>
    <p:extLst>
      <p:ext uri="{BB962C8B-B14F-4D97-AF65-F5344CB8AC3E}">
        <p14:creationId xmlns:p14="http://schemas.microsoft.com/office/powerpoint/2010/main" val="333149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C6B26B-59C4-47D5-89EC-B8FF32F1A4F4}"/>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738D6A42-640F-46D4-B53E-D702951064B7}"/>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HEALTHCARE ACCESS CONTEXT</a:t>
            </a:r>
          </a:p>
        </p:txBody>
      </p:sp>
      <p:sp>
        <p:nvSpPr>
          <p:cNvPr id="3" name="Rectangle 2">
            <a:extLst>
              <a:ext uri="{FF2B5EF4-FFF2-40B4-BE49-F238E27FC236}">
                <a16:creationId xmlns:a16="http://schemas.microsoft.com/office/drawing/2014/main" id="{B22E0C71-1E46-4293-88F6-65AD28392C7E}"/>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06 / 10</a:t>
            </a:r>
          </a:p>
        </p:txBody>
      </p:sp>
      <p:sp>
        <p:nvSpPr>
          <p:cNvPr id="4" name="Rectangle 3">
            <a:extLst>
              <a:ext uri="{FF2B5EF4-FFF2-40B4-BE49-F238E27FC236}">
                <a16:creationId xmlns:a16="http://schemas.microsoft.com/office/drawing/2014/main" id="{EAD5E746-FA1F-4885-9F0A-0F5E53A735B5}"/>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F3E32BF-EFA1-415B-8574-1FC133C6EA65}"/>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Healthcare access context: why nearby care still goes unused</a:t>
            </a:r>
          </a:p>
        </p:txBody>
      </p:sp>
      <p:sp>
        <p:nvSpPr>
          <p:cNvPr id="6" name="Rectangle 5">
            <a:extLst>
              <a:ext uri="{FF2B5EF4-FFF2-40B4-BE49-F238E27FC236}">
                <a16:creationId xmlns:a16="http://schemas.microsoft.com/office/drawing/2014/main" id="{E5E05731-ED6B-4EEA-B58C-B09C35AA3B79}"/>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Residents may be geographically close to care but still unable to use it because care competes with work schedules, travel time, unstable income, digital gaps, and weak local service infrastructure.</a:t>
            </a:r>
          </a:p>
        </p:txBody>
      </p:sp>
      <p:sp>
        <p:nvSpPr>
          <p:cNvPr id="7" name="Rectangle: Rounded Corners 6">
            <a:extLst>
              <a:ext uri="{FF2B5EF4-FFF2-40B4-BE49-F238E27FC236}">
                <a16:creationId xmlns:a16="http://schemas.microsoft.com/office/drawing/2014/main" id="{D3113120-32A1-4863-969C-748DA52EC672}"/>
              </a:ext>
            </a:extLst>
          </p:cNvPr>
          <p:cNvSpPr>
            <a:spLocks noGrp="1"/>
          </p:cNvSpPr>
          <p:nvPr/>
        </p:nvSpPr>
        <p:spPr>
          <a:xfrm>
            <a:off x="838200" y="2247900"/>
            <a:ext cx="3257550" cy="2038350"/>
          </a:xfrm>
          <a:prstGeom prst="roundRect">
            <a:avLst>
              <a:gd name="adj" fmla="val 3738"/>
            </a:avLst>
          </a:prstGeom>
          <a:solidFill>
            <a:srgbClr val="FFFDF8"/>
          </a:solidFill>
          <a:ln w="9525">
            <a:solidFill>
              <a:srgbClr val="D6D0C7"/>
            </a:solidFill>
            <a:prstDash val="solid"/>
          </a:ln>
        </p:spPr>
        <p:txBody>
          <a:bodyPr/>
          <a:lstStyle/>
          <a:p>
            <a:endParaRPr lang="en-US"/>
          </a:p>
        </p:txBody>
      </p:sp>
      <p:sp>
        <p:nvSpPr>
          <p:cNvPr id="8" name="Rectangle 7">
            <a:extLst>
              <a:ext uri="{FF2B5EF4-FFF2-40B4-BE49-F238E27FC236}">
                <a16:creationId xmlns:a16="http://schemas.microsoft.com/office/drawing/2014/main" id="{801B19AE-4506-470E-B10A-EDA5EAD9F5BA}"/>
              </a:ext>
            </a:extLst>
          </p:cNvPr>
          <p:cNvSpPr>
            <a:spLocks noGrp="1"/>
          </p:cNvSpPr>
          <p:nvPr/>
        </p:nvSpPr>
        <p:spPr>
          <a:xfrm>
            <a:off x="838200" y="2247900"/>
            <a:ext cx="57150" cy="2038350"/>
          </a:xfrm>
          <a:prstGeom prst="rect">
            <a:avLst/>
          </a:prstGeom>
          <a:solidFill>
            <a:srgbClr val="E63A2F"/>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F9458AAD-225E-48D9-90C1-DACFEA2D6C94}"/>
              </a:ext>
            </a:extLst>
          </p:cNvPr>
          <p:cNvSpPr>
            <a:spLocks noGrp="1"/>
          </p:cNvSpPr>
          <p:nvPr/>
        </p:nvSpPr>
        <p:spPr>
          <a:xfrm>
            <a:off x="1047750" y="2419350"/>
            <a:ext cx="2933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Place</a:t>
            </a:r>
          </a:p>
        </p:txBody>
      </p:sp>
      <p:sp>
        <p:nvSpPr>
          <p:cNvPr id="10" name="Rectangle 9">
            <a:extLst>
              <a:ext uri="{FF2B5EF4-FFF2-40B4-BE49-F238E27FC236}">
                <a16:creationId xmlns:a16="http://schemas.microsoft.com/office/drawing/2014/main" id="{C8FB73A4-C55E-4233-9870-CA424EEE428F}"/>
              </a:ext>
            </a:extLst>
          </p:cNvPr>
          <p:cNvSpPr>
            <a:spLocks noGrp="1"/>
          </p:cNvSpPr>
          <p:nvPr/>
        </p:nvSpPr>
        <p:spPr>
          <a:xfrm>
            <a:off x="1047750" y="2762250"/>
            <a:ext cx="2933700" cy="1390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Finding: care is geographically nearby, but commute and visit time still block use.</a:t>
            </a:r>
          </a:p>
          <a:p>
            <a:pPr algn="l">
              <a:defRPr sz="1050" b="0">
                <a:solidFill>
                  <a:srgbClr val="57534E"/>
                </a:solidFill>
              </a:defRPr>
            </a:pPr>
            <a:r>
              <a:rPr sz="1050" b="0">
                <a:solidFill>
                  <a:srgbClr val="57534E"/>
                </a:solidFill>
              </a:rPr>
              <a:t>Pilot response: show residents which gaps exist in their neighborhood through a Community Pulse dashboard.</a:t>
            </a:r>
          </a:p>
        </p:txBody>
      </p:sp>
      <p:sp>
        <p:nvSpPr>
          <p:cNvPr id="11" name="Rectangle: Rounded Corners 10">
            <a:extLst>
              <a:ext uri="{FF2B5EF4-FFF2-40B4-BE49-F238E27FC236}">
                <a16:creationId xmlns:a16="http://schemas.microsoft.com/office/drawing/2014/main" id="{FFD671D5-DFC8-4DF6-B98E-4E495CC439CA}"/>
              </a:ext>
            </a:extLst>
          </p:cNvPr>
          <p:cNvSpPr>
            <a:spLocks noGrp="1"/>
          </p:cNvSpPr>
          <p:nvPr/>
        </p:nvSpPr>
        <p:spPr>
          <a:xfrm>
            <a:off x="4457700" y="2247900"/>
            <a:ext cx="3257550" cy="2038350"/>
          </a:xfrm>
          <a:prstGeom prst="roundRect">
            <a:avLst>
              <a:gd name="adj" fmla="val 3738"/>
            </a:avLst>
          </a:prstGeom>
          <a:solidFill>
            <a:srgbClr val="FFFDF8"/>
          </a:solidFill>
          <a:ln w="9525">
            <a:solidFill>
              <a:srgbClr val="D6D0C7"/>
            </a:solidFill>
            <a:prstDash val="solid"/>
          </a:ln>
        </p:spPr>
        <p:txBody>
          <a:bodyPr/>
          <a:lstStyle/>
          <a:p>
            <a:endParaRPr lang="en-US"/>
          </a:p>
        </p:txBody>
      </p:sp>
      <p:sp>
        <p:nvSpPr>
          <p:cNvPr id="12" name="Rectangle 11">
            <a:extLst>
              <a:ext uri="{FF2B5EF4-FFF2-40B4-BE49-F238E27FC236}">
                <a16:creationId xmlns:a16="http://schemas.microsoft.com/office/drawing/2014/main" id="{79363C6F-A2AB-493B-A7D8-F16BACDC748A}"/>
              </a:ext>
            </a:extLst>
          </p:cNvPr>
          <p:cNvSpPr>
            <a:spLocks noGrp="1"/>
          </p:cNvSpPr>
          <p:nvPr/>
        </p:nvSpPr>
        <p:spPr>
          <a:xfrm>
            <a:off x="4457700" y="2247900"/>
            <a:ext cx="57150" cy="2038350"/>
          </a:xfrm>
          <a:prstGeom prst="rect">
            <a:avLst/>
          </a:prstGeom>
          <a:solidFill>
            <a:srgbClr val="F4A321"/>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89357394-2B00-4B56-86AF-1B820F5FA330}"/>
              </a:ext>
            </a:extLst>
          </p:cNvPr>
          <p:cNvSpPr>
            <a:spLocks noGrp="1"/>
          </p:cNvSpPr>
          <p:nvPr/>
        </p:nvSpPr>
        <p:spPr>
          <a:xfrm>
            <a:off x="4667250" y="2419350"/>
            <a:ext cx="2933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Economy</a:t>
            </a:r>
          </a:p>
        </p:txBody>
      </p:sp>
      <p:sp>
        <p:nvSpPr>
          <p:cNvPr id="14" name="Rectangle 13">
            <a:extLst>
              <a:ext uri="{FF2B5EF4-FFF2-40B4-BE49-F238E27FC236}">
                <a16:creationId xmlns:a16="http://schemas.microsoft.com/office/drawing/2014/main" id="{ECD0DDB9-29C6-48A5-9858-EEF78FD94361}"/>
              </a:ext>
            </a:extLst>
          </p:cNvPr>
          <p:cNvSpPr>
            <a:spLocks noGrp="1"/>
          </p:cNvSpPr>
          <p:nvPr/>
        </p:nvSpPr>
        <p:spPr>
          <a:xfrm>
            <a:off x="4667250" y="2762250"/>
            <a:ext cx="2933700" cy="1390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Finding: labor-market weakness and low small-business financing are stable predictors of food insecurity.</a:t>
            </a:r>
          </a:p>
          <a:p>
            <a:pPr algn="l">
              <a:defRPr sz="1050" b="0">
                <a:solidFill>
                  <a:srgbClr val="57534E"/>
                </a:solidFill>
              </a:defRPr>
            </a:pPr>
            <a:r>
              <a:rPr sz="1050" b="0">
                <a:solidFill>
                  <a:srgbClr val="57534E"/>
                </a:solidFill>
              </a:rPr>
              <a:t>Pilot response: let residents start businesses to fill those gaps with AI-powered planning support.</a:t>
            </a:r>
          </a:p>
        </p:txBody>
      </p:sp>
      <p:sp>
        <p:nvSpPr>
          <p:cNvPr id="15" name="Rectangle: Rounded Corners 14">
            <a:extLst>
              <a:ext uri="{FF2B5EF4-FFF2-40B4-BE49-F238E27FC236}">
                <a16:creationId xmlns:a16="http://schemas.microsoft.com/office/drawing/2014/main" id="{48D1A77B-E5AA-4EB0-A3D4-CB656AF2B62D}"/>
              </a:ext>
            </a:extLst>
          </p:cNvPr>
          <p:cNvSpPr>
            <a:spLocks noGrp="1"/>
          </p:cNvSpPr>
          <p:nvPr/>
        </p:nvSpPr>
        <p:spPr>
          <a:xfrm>
            <a:off x="8077200" y="2247900"/>
            <a:ext cx="3295650" cy="2038350"/>
          </a:xfrm>
          <a:prstGeom prst="roundRect">
            <a:avLst>
              <a:gd name="adj" fmla="val 3738"/>
            </a:avLst>
          </a:prstGeom>
          <a:solidFill>
            <a:srgbClr val="FFFDF8"/>
          </a:solidFill>
          <a:ln w="9525">
            <a:solidFill>
              <a:srgbClr val="D6D0C7"/>
            </a:solidFill>
            <a:prstDash val="solid"/>
          </a:ln>
        </p:spPr>
        <p:txBody>
          <a:bodyPr/>
          <a:lstStyle/>
          <a:p>
            <a:endParaRPr lang="en-US"/>
          </a:p>
        </p:txBody>
      </p:sp>
      <p:sp>
        <p:nvSpPr>
          <p:cNvPr id="16" name="Rectangle 15">
            <a:extLst>
              <a:ext uri="{FF2B5EF4-FFF2-40B4-BE49-F238E27FC236}">
                <a16:creationId xmlns:a16="http://schemas.microsoft.com/office/drawing/2014/main" id="{CC7A3136-74C9-4E08-A531-71CCAA406B7A}"/>
              </a:ext>
            </a:extLst>
          </p:cNvPr>
          <p:cNvSpPr>
            <a:spLocks noGrp="1"/>
          </p:cNvSpPr>
          <p:nvPr/>
        </p:nvSpPr>
        <p:spPr>
          <a:xfrm>
            <a:off x="8077200" y="2247900"/>
            <a:ext cx="57150" cy="2038350"/>
          </a:xfrm>
          <a:prstGeom prst="rect">
            <a:avLst/>
          </a:prstGeom>
          <a:solidFill>
            <a:srgbClr val="0E8C86"/>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780A0D94-8605-4ACE-8286-776FD0464604}"/>
              </a:ext>
            </a:extLst>
          </p:cNvPr>
          <p:cNvSpPr>
            <a:spLocks noGrp="1"/>
          </p:cNvSpPr>
          <p:nvPr/>
        </p:nvSpPr>
        <p:spPr>
          <a:xfrm>
            <a:off x="8286750" y="2419350"/>
            <a:ext cx="29718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Community</a:t>
            </a:r>
          </a:p>
        </p:txBody>
      </p:sp>
      <p:sp>
        <p:nvSpPr>
          <p:cNvPr id="18" name="Rectangle 17">
            <a:extLst>
              <a:ext uri="{FF2B5EF4-FFF2-40B4-BE49-F238E27FC236}">
                <a16:creationId xmlns:a16="http://schemas.microsoft.com/office/drawing/2014/main" id="{D2D0570A-C303-4119-BE46-E402B0267E55}"/>
              </a:ext>
            </a:extLst>
          </p:cNvPr>
          <p:cNvSpPr>
            <a:spLocks noGrp="1"/>
          </p:cNvSpPr>
          <p:nvPr/>
        </p:nvSpPr>
        <p:spPr>
          <a:xfrm>
            <a:off x="8286750" y="2762250"/>
            <a:ext cx="2971800" cy="1390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Finding: trust, digital access, and repeat use shape whether services are actually used.</a:t>
            </a:r>
          </a:p>
          <a:p>
            <a:pPr algn="l">
              <a:defRPr sz="1050" b="0">
                <a:solidFill>
                  <a:srgbClr val="57534E"/>
                </a:solidFill>
              </a:defRPr>
            </a:pPr>
            <a:r>
              <a:rPr sz="1050" b="0">
                <a:solidFill>
                  <a:srgbClr val="57534E"/>
                </a:solidFill>
              </a:rPr>
              <a:t>Pilot response: connect residents to stakeholders who fund, hire, and mentor from the same platform.</a:t>
            </a:r>
          </a:p>
        </p:txBody>
      </p:sp>
      <p:sp>
        <p:nvSpPr>
          <p:cNvPr id="19" name="Rectangle: Rounded Corners 18">
            <a:extLst>
              <a:ext uri="{FF2B5EF4-FFF2-40B4-BE49-F238E27FC236}">
                <a16:creationId xmlns:a16="http://schemas.microsoft.com/office/drawing/2014/main" id="{F3550024-1D99-41A1-8619-2D8529595F1B}"/>
              </a:ext>
            </a:extLst>
          </p:cNvPr>
          <p:cNvSpPr>
            <a:spLocks noGrp="1"/>
          </p:cNvSpPr>
          <p:nvPr/>
        </p:nvSpPr>
        <p:spPr>
          <a:xfrm>
            <a:off x="838200" y="4591050"/>
            <a:ext cx="10534650" cy="1314450"/>
          </a:xfrm>
          <a:prstGeom prst="roundRect">
            <a:avLst>
              <a:gd name="adj" fmla="val 5797"/>
            </a:avLst>
          </a:prstGeom>
          <a:solidFill>
            <a:srgbClr val="FBF6EF"/>
          </a:solidFill>
          <a:ln w="19050">
            <a:solidFill>
              <a:srgbClr val="E63A2F"/>
            </a:solidFill>
            <a:prstDash val="solid"/>
          </a:ln>
        </p:spPr>
        <p:txBody>
          <a:bodyPr/>
          <a:lstStyle/>
          <a:p>
            <a:endParaRPr lang="en-US"/>
          </a:p>
        </p:txBody>
      </p:sp>
      <p:sp>
        <p:nvSpPr>
          <p:cNvPr id="20" name="Rectangle 19">
            <a:extLst>
              <a:ext uri="{FF2B5EF4-FFF2-40B4-BE49-F238E27FC236}">
                <a16:creationId xmlns:a16="http://schemas.microsoft.com/office/drawing/2014/main" id="{8FC427B5-11B8-40B2-8010-42B6D0C4BB0A}"/>
              </a:ext>
            </a:extLst>
          </p:cNvPr>
          <p:cNvSpPr>
            <a:spLocks noGrp="1"/>
          </p:cNvSpPr>
          <p:nvPr/>
        </p:nvSpPr>
        <p:spPr>
          <a:xfrm>
            <a:off x="1104900" y="4819650"/>
            <a:ext cx="2857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Challenge answer in one sentence</a:t>
            </a:r>
          </a:p>
        </p:txBody>
      </p:sp>
      <p:sp>
        <p:nvSpPr>
          <p:cNvPr id="21" name="Rectangle 20">
            <a:extLst>
              <a:ext uri="{FF2B5EF4-FFF2-40B4-BE49-F238E27FC236}">
                <a16:creationId xmlns:a16="http://schemas.microsoft.com/office/drawing/2014/main" id="{23E13B06-55FE-4008-B5AD-0B10B4ABB2F2}"/>
              </a:ext>
            </a:extLst>
          </p:cNvPr>
          <p:cNvSpPr>
            <a:spLocks noGrp="1"/>
          </p:cNvSpPr>
          <p:nvPr/>
        </p:nvSpPr>
        <p:spPr>
          <a:xfrm>
            <a:off x="1104900" y="5162550"/>
            <a:ext cx="933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In low-IGS EOTR communities, economic conditions affect healthcare access by making routine care too costly in time, coordination, and reliability to use consistently.</a:t>
            </a:r>
          </a:p>
        </p:txBody>
      </p:sp>
      <p:sp>
        <p:nvSpPr>
          <p:cNvPr id="22" name="Rectangle 21">
            <a:extLst>
              <a:ext uri="{FF2B5EF4-FFF2-40B4-BE49-F238E27FC236}">
                <a16:creationId xmlns:a16="http://schemas.microsoft.com/office/drawing/2014/main" id="{CB5D8B77-BA74-4BD1-91C2-AB45C7153EA0}"/>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AD63F72F-5286-4470-8EAA-3DA66CAD79C7}"/>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Place / Economy / Community alignment synthesized from the official challenge framing and current analysis.</a:t>
            </a:r>
          </a:p>
        </p:txBody>
      </p:sp>
    </p:spTree>
    <p:extLst>
      <p:ext uri="{BB962C8B-B14F-4D97-AF65-F5344CB8AC3E}">
        <p14:creationId xmlns:p14="http://schemas.microsoft.com/office/powerpoint/2010/main" val="725382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3577B52-CCEA-466C-A915-D9AB601BF4FB}"/>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3DEBA09-272B-4A83-BC96-9DD402FBA3DB}"/>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PROPOSED SMALL-BUSINESS SOLUTIONS</a:t>
            </a:r>
          </a:p>
        </p:txBody>
      </p:sp>
      <p:sp>
        <p:nvSpPr>
          <p:cNvPr id="3" name="Rectangle 2">
            <a:extLst>
              <a:ext uri="{FF2B5EF4-FFF2-40B4-BE49-F238E27FC236}">
                <a16:creationId xmlns:a16="http://schemas.microsoft.com/office/drawing/2014/main" id="{5523C33A-8F0A-4B78-ACFD-C04DAB8840AE}"/>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07 / 10</a:t>
            </a:r>
          </a:p>
        </p:txBody>
      </p:sp>
      <p:sp>
        <p:nvSpPr>
          <p:cNvPr id="4" name="Rectangle 3">
            <a:extLst>
              <a:ext uri="{FF2B5EF4-FFF2-40B4-BE49-F238E27FC236}">
                <a16:creationId xmlns:a16="http://schemas.microsoft.com/office/drawing/2014/main" id="{119418F2-13F5-4C4E-BD84-73B81D20CB34}"/>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6E29E78-CCE3-4B44-87E1-60AD9622A52A}"/>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CAN: Community Action Network</a:t>
            </a:r>
          </a:p>
        </p:txBody>
      </p:sp>
      <p:sp>
        <p:nvSpPr>
          <p:cNvPr id="6" name="Rectangle 5">
            <a:extLst>
              <a:ext uri="{FF2B5EF4-FFF2-40B4-BE49-F238E27FC236}">
                <a16:creationId xmlns:a16="http://schemas.microsoft.com/office/drawing/2014/main" id="{48D1BF45-26F5-4CCB-8705-1D438203AE35}"/>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Two sides of the same map: residents start, stakeholders support, and IGS measures.</a:t>
            </a:r>
          </a:p>
        </p:txBody>
      </p:sp>
      <p:sp>
        <p:nvSpPr>
          <p:cNvPr id="7" name="Rectangle: Rounded Corners 6">
            <a:extLst>
              <a:ext uri="{FF2B5EF4-FFF2-40B4-BE49-F238E27FC236}">
                <a16:creationId xmlns:a16="http://schemas.microsoft.com/office/drawing/2014/main" id="{D0423A31-F499-4313-A34A-388AD036AEAA}"/>
              </a:ext>
            </a:extLst>
          </p:cNvPr>
          <p:cNvSpPr>
            <a:spLocks noGrp="1"/>
          </p:cNvSpPr>
          <p:nvPr/>
        </p:nvSpPr>
        <p:spPr>
          <a:xfrm>
            <a:off x="838200" y="2038350"/>
            <a:ext cx="3219450" cy="2152650"/>
          </a:xfrm>
          <a:prstGeom prst="roundRect">
            <a:avLst>
              <a:gd name="adj" fmla="val 3636"/>
            </a:avLst>
          </a:prstGeom>
          <a:solidFill>
            <a:srgbClr val="FFFDF8"/>
          </a:solidFill>
          <a:ln w="9525">
            <a:solidFill>
              <a:srgbClr val="D6D0C7"/>
            </a:solidFill>
            <a:prstDash val="solid"/>
          </a:ln>
        </p:spPr>
        <p:txBody>
          <a:bodyPr/>
          <a:lstStyle/>
          <a:p>
            <a:endParaRPr lang="en-US"/>
          </a:p>
        </p:txBody>
      </p:sp>
      <p:sp>
        <p:nvSpPr>
          <p:cNvPr id="8" name="Rectangle 7">
            <a:extLst>
              <a:ext uri="{FF2B5EF4-FFF2-40B4-BE49-F238E27FC236}">
                <a16:creationId xmlns:a16="http://schemas.microsoft.com/office/drawing/2014/main" id="{1EC4B0C7-E5DD-4D4A-9C09-F7BE098ADDC8}"/>
              </a:ext>
            </a:extLst>
          </p:cNvPr>
          <p:cNvSpPr>
            <a:spLocks noGrp="1"/>
          </p:cNvSpPr>
          <p:nvPr/>
        </p:nvSpPr>
        <p:spPr>
          <a:xfrm>
            <a:off x="838200" y="2038350"/>
            <a:ext cx="57150" cy="2095500"/>
          </a:xfrm>
          <a:prstGeom prst="rect">
            <a:avLst/>
          </a:prstGeom>
          <a:solidFill>
            <a:srgbClr val="E63A2F"/>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E5D7048F-D080-440C-BB4C-F0F3E4DBAA83}"/>
              </a:ext>
            </a:extLst>
          </p:cNvPr>
          <p:cNvSpPr>
            <a:spLocks noGrp="1"/>
          </p:cNvSpPr>
          <p:nvPr/>
        </p:nvSpPr>
        <p:spPr>
          <a:xfrm>
            <a:off x="1047750" y="2209800"/>
            <a:ext cx="2895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Community Pulse</a:t>
            </a:r>
          </a:p>
        </p:txBody>
      </p:sp>
      <p:pic>
        <p:nvPicPr>
          <p:cNvPr id="10" name="Picture 9"/>
          <p:cNvPicPr>
            <a:picLocks noChangeAspect="1"/>
          </p:cNvPicPr>
          <p:nvPr/>
        </p:nvPicPr>
        <p:blipFill>
          <a:blip r:embed="rId3"/>
          <a:stretch/>
        </p:blipFill>
        <p:spPr>
          <a:xfrm>
            <a:off x="1155792" y="2419350"/>
            <a:ext cx="2577376" cy="1295400"/>
          </a:xfrm>
          <a:prstGeom prst="rect">
            <a:avLst/>
          </a:prstGeom>
        </p:spPr>
      </p:pic>
      <p:sp>
        <p:nvSpPr>
          <p:cNvPr id="11" name="Rectangle 10">
            <a:extLst>
              <a:ext uri="{FF2B5EF4-FFF2-40B4-BE49-F238E27FC236}">
                <a16:creationId xmlns:a16="http://schemas.microsoft.com/office/drawing/2014/main" id="{8014A140-7F38-4A98-A0AB-965598E29651}"/>
              </a:ext>
            </a:extLst>
          </p:cNvPr>
          <p:cNvSpPr>
            <a:spLocks noGrp="1"/>
          </p:cNvSpPr>
          <p:nvPr/>
        </p:nvSpPr>
        <p:spPr>
          <a:xfrm>
            <a:off x="1047750" y="3761014"/>
            <a:ext cx="2895600" cy="408214"/>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7534E"/>
                </a:solidFill>
              </a:defRPr>
            </a:pPr>
            <a:r>
              <a:rPr sz="900" b="0" dirty="0">
                <a:solidFill>
                  <a:srgbClr val="57534E"/>
                </a:solidFill>
              </a:rPr>
              <a:t>Residents see their IGS, health, and commercial-diversity scores. Top community needs are surfaced as opportunity gaps.</a:t>
            </a:r>
          </a:p>
        </p:txBody>
      </p:sp>
      <p:sp>
        <p:nvSpPr>
          <p:cNvPr id="12" name="Rectangle: Rounded Corners 11">
            <a:extLst>
              <a:ext uri="{FF2B5EF4-FFF2-40B4-BE49-F238E27FC236}">
                <a16:creationId xmlns:a16="http://schemas.microsoft.com/office/drawing/2014/main" id="{929B84FC-4E9D-409C-976C-2272F6FE899A}"/>
              </a:ext>
            </a:extLst>
          </p:cNvPr>
          <p:cNvSpPr>
            <a:spLocks noGrp="1"/>
          </p:cNvSpPr>
          <p:nvPr/>
        </p:nvSpPr>
        <p:spPr>
          <a:xfrm>
            <a:off x="4476750" y="2038350"/>
            <a:ext cx="3219450" cy="2152650"/>
          </a:xfrm>
          <a:prstGeom prst="roundRect">
            <a:avLst>
              <a:gd name="adj" fmla="val 3636"/>
            </a:avLst>
          </a:prstGeom>
          <a:solidFill>
            <a:srgbClr val="FFFDF8"/>
          </a:solidFill>
          <a:ln w="9525">
            <a:solidFill>
              <a:srgbClr val="D6D0C7"/>
            </a:solidFill>
            <a:prstDash val="solid"/>
          </a:ln>
        </p:spPr>
        <p:txBody>
          <a:bodyPr/>
          <a:lstStyle/>
          <a:p>
            <a:endParaRPr lang="en-US"/>
          </a:p>
        </p:txBody>
      </p:sp>
      <p:sp>
        <p:nvSpPr>
          <p:cNvPr id="13" name="Rectangle 12">
            <a:extLst>
              <a:ext uri="{FF2B5EF4-FFF2-40B4-BE49-F238E27FC236}">
                <a16:creationId xmlns:a16="http://schemas.microsoft.com/office/drawing/2014/main" id="{7521DC5A-3A54-4686-97AE-CFB65AF21071}"/>
              </a:ext>
            </a:extLst>
          </p:cNvPr>
          <p:cNvSpPr>
            <a:spLocks noGrp="1"/>
          </p:cNvSpPr>
          <p:nvPr/>
        </p:nvSpPr>
        <p:spPr>
          <a:xfrm>
            <a:off x="4476750" y="2038350"/>
            <a:ext cx="57150" cy="2095500"/>
          </a:xfrm>
          <a:prstGeom prst="rect">
            <a:avLst/>
          </a:prstGeom>
          <a:solidFill>
            <a:srgbClr val="F4A321"/>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2C27A8CE-C211-4685-AA1D-9B78C9F9A75D}"/>
              </a:ext>
            </a:extLst>
          </p:cNvPr>
          <p:cNvSpPr>
            <a:spLocks noGrp="1"/>
          </p:cNvSpPr>
          <p:nvPr/>
        </p:nvSpPr>
        <p:spPr>
          <a:xfrm>
            <a:off x="4686300" y="2209800"/>
            <a:ext cx="2895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Opportunity Map</a:t>
            </a:r>
          </a:p>
        </p:txBody>
      </p:sp>
      <p:pic>
        <p:nvPicPr>
          <p:cNvPr id="15" name="Picture 14"/>
          <p:cNvPicPr>
            <a:picLocks noChangeAspect="1"/>
          </p:cNvPicPr>
          <p:nvPr/>
        </p:nvPicPr>
        <p:blipFill>
          <a:blip r:embed="rId4"/>
          <a:stretch/>
        </p:blipFill>
        <p:spPr>
          <a:xfrm>
            <a:off x="4794342" y="2419350"/>
            <a:ext cx="2577376" cy="1295400"/>
          </a:xfrm>
          <a:prstGeom prst="rect">
            <a:avLst/>
          </a:prstGeom>
        </p:spPr>
      </p:pic>
      <p:sp>
        <p:nvSpPr>
          <p:cNvPr id="16" name="Rectangle 15">
            <a:extLst>
              <a:ext uri="{FF2B5EF4-FFF2-40B4-BE49-F238E27FC236}">
                <a16:creationId xmlns:a16="http://schemas.microsoft.com/office/drawing/2014/main" id="{4595A279-FC79-4353-BAAB-E253A8584185}"/>
              </a:ext>
            </a:extLst>
          </p:cNvPr>
          <p:cNvSpPr>
            <a:spLocks noGrp="1"/>
          </p:cNvSpPr>
          <p:nvPr/>
        </p:nvSpPr>
        <p:spPr>
          <a:xfrm>
            <a:off x="4686300" y="3867150"/>
            <a:ext cx="2895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7534E"/>
                </a:solidFill>
              </a:defRPr>
            </a:pPr>
            <a:r>
              <a:rPr sz="900" b="0" dirty="0">
                <a:solidFill>
                  <a:srgbClr val="57534E"/>
                </a:solidFill>
              </a:rPr>
              <a:t>Gaps become business opportunities. Childcare, fresh food, and home repair become visible as local demand.</a:t>
            </a:r>
          </a:p>
        </p:txBody>
      </p:sp>
      <p:sp>
        <p:nvSpPr>
          <p:cNvPr id="17" name="Rectangle: Rounded Corners 16">
            <a:extLst>
              <a:ext uri="{FF2B5EF4-FFF2-40B4-BE49-F238E27FC236}">
                <a16:creationId xmlns:a16="http://schemas.microsoft.com/office/drawing/2014/main" id="{4CD1521C-61B3-48B2-8CF0-850CC2A882FF}"/>
              </a:ext>
            </a:extLst>
          </p:cNvPr>
          <p:cNvSpPr>
            <a:spLocks noGrp="1"/>
          </p:cNvSpPr>
          <p:nvPr/>
        </p:nvSpPr>
        <p:spPr>
          <a:xfrm>
            <a:off x="8115300" y="2038350"/>
            <a:ext cx="3238500" cy="2152650"/>
          </a:xfrm>
          <a:prstGeom prst="roundRect">
            <a:avLst>
              <a:gd name="adj" fmla="val 3636"/>
            </a:avLst>
          </a:prstGeom>
          <a:solidFill>
            <a:srgbClr val="FFFDF8"/>
          </a:solidFill>
          <a:ln w="9525">
            <a:solidFill>
              <a:srgbClr val="D6D0C7"/>
            </a:solidFill>
            <a:prstDash val="solid"/>
          </a:ln>
        </p:spPr>
        <p:txBody>
          <a:bodyPr/>
          <a:lstStyle/>
          <a:p>
            <a:endParaRPr lang="en-US"/>
          </a:p>
        </p:txBody>
      </p:sp>
      <p:sp>
        <p:nvSpPr>
          <p:cNvPr id="18" name="Rectangle 17">
            <a:extLst>
              <a:ext uri="{FF2B5EF4-FFF2-40B4-BE49-F238E27FC236}">
                <a16:creationId xmlns:a16="http://schemas.microsoft.com/office/drawing/2014/main" id="{5FE086EF-0BDB-4AA0-83EA-608F223A7037}"/>
              </a:ext>
            </a:extLst>
          </p:cNvPr>
          <p:cNvSpPr>
            <a:spLocks noGrp="1"/>
          </p:cNvSpPr>
          <p:nvPr/>
        </p:nvSpPr>
        <p:spPr>
          <a:xfrm>
            <a:off x="8115300" y="2038350"/>
            <a:ext cx="57150" cy="2095500"/>
          </a:xfrm>
          <a:prstGeom prst="rect">
            <a:avLst/>
          </a:prstGeom>
          <a:solidFill>
            <a:srgbClr val="265E8B"/>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E98AC6DB-1805-4CE7-A5AA-EEAC947CD91D}"/>
              </a:ext>
            </a:extLst>
          </p:cNvPr>
          <p:cNvSpPr>
            <a:spLocks noGrp="1"/>
          </p:cNvSpPr>
          <p:nvPr/>
        </p:nvSpPr>
        <p:spPr>
          <a:xfrm>
            <a:off x="8324850" y="2209800"/>
            <a:ext cx="2914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Stakeholder Dashboard</a:t>
            </a:r>
          </a:p>
        </p:txBody>
      </p:sp>
      <p:pic>
        <p:nvPicPr>
          <p:cNvPr id="20" name="Picture 19"/>
          <p:cNvPicPr>
            <a:picLocks noChangeAspect="1"/>
          </p:cNvPicPr>
          <p:nvPr/>
        </p:nvPicPr>
        <p:blipFill>
          <a:blip r:embed="rId5"/>
          <a:stretch/>
        </p:blipFill>
        <p:spPr>
          <a:xfrm>
            <a:off x="8449060" y="2419350"/>
            <a:ext cx="2564091" cy="1295400"/>
          </a:xfrm>
          <a:prstGeom prst="rect">
            <a:avLst/>
          </a:prstGeom>
        </p:spPr>
      </p:pic>
      <p:sp>
        <p:nvSpPr>
          <p:cNvPr id="21" name="Rectangle 20">
            <a:extLst>
              <a:ext uri="{FF2B5EF4-FFF2-40B4-BE49-F238E27FC236}">
                <a16:creationId xmlns:a16="http://schemas.microsoft.com/office/drawing/2014/main" id="{6795BE36-A609-4211-B2BF-BDDE53B79207}"/>
              </a:ext>
            </a:extLst>
          </p:cNvPr>
          <p:cNvSpPr>
            <a:spLocks noGrp="1"/>
          </p:cNvSpPr>
          <p:nvPr/>
        </p:nvSpPr>
        <p:spPr>
          <a:xfrm>
            <a:off x="8324850" y="3867150"/>
            <a:ext cx="29146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7534E"/>
                </a:solidFill>
              </a:defRPr>
            </a:pPr>
            <a:r>
              <a:rPr sz="900" b="0">
                <a:solidFill>
                  <a:srgbClr val="57534E"/>
                </a:solidFill>
              </a:rPr>
              <a:t>Funders, employers, and CDFIs see businesses tagged by community need and filtered by readiness or support type.</a:t>
            </a:r>
          </a:p>
        </p:txBody>
      </p:sp>
      <p:sp>
        <p:nvSpPr>
          <p:cNvPr id="22" name="Rectangle: Rounded Corners 21">
            <a:extLst>
              <a:ext uri="{FF2B5EF4-FFF2-40B4-BE49-F238E27FC236}">
                <a16:creationId xmlns:a16="http://schemas.microsoft.com/office/drawing/2014/main" id="{712707DD-ABFF-4281-94DF-34C46E42424F}"/>
              </a:ext>
            </a:extLst>
          </p:cNvPr>
          <p:cNvSpPr>
            <a:spLocks noGrp="1"/>
          </p:cNvSpPr>
          <p:nvPr/>
        </p:nvSpPr>
        <p:spPr>
          <a:xfrm>
            <a:off x="838200" y="4305300"/>
            <a:ext cx="4000500" cy="1562100"/>
          </a:xfrm>
          <a:prstGeom prst="roundRect">
            <a:avLst>
              <a:gd name="adj" fmla="val 5195"/>
            </a:avLst>
          </a:prstGeom>
          <a:solidFill>
            <a:srgbClr val="FFFDF8"/>
          </a:solidFill>
          <a:ln w="9525">
            <a:solidFill>
              <a:srgbClr val="D6D0C7"/>
            </a:solidFill>
            <a:prstDash val="solid"/>
          </a:ln>
        </p:spPr>
        <p:txBody>
          <a:bodyPr/>
          <a:lstStyle/>
          <a:p>
            <a:endParaRPr lang="en-US"/>
          </a:p>
        </p:txBody>
      </p:sp>
      <p:sp>
        <p:nvSpPr>
          <p:cNvPr id="23" name="Rectangle 22">
            <a:extLst>
              <a:ext uri="{FF2B5EF4-FFF2-40B4-BE49-F238E27FC236}">
                <a16:creationId xmlns:a16="http://schemas.microsoft.com/office/drawing/2014/main" id="{4CD58BB9-17B9-4FE3-981D-5F6C38377565}"/>
              </a:ext>
            </a:extLst>
          </p:cNvPr>
          <p:cNvSpPr>
            <a:spLocks noGrp="1"/>
          </p:cNvSpPr>
          <p:nvPr/>
        </p:nvSpPr>
        <p:spPr>
          <a:xfrm>
            <a:off x="838200" y="4305300"/>
            <a:ext cx="57150" cy="1466850"/>
          </a:xfrm>
          <a:prstGeom prst="rect">
            <a:avLst/>
          </a:prstGeom>
          <a:solidFill>
            <a:srgbClr val="0E8C8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A84C9573-BC76-494A-BCC6-3669C393F56A}"/>
              </a:ext>
            </a:extLst>
          </p:cNvPr>
          <p:cNvSpPr>
            <a:spLocks noGrp="1"/>
          </p:cNvSpPr>
          <p:nvPr/>
        </p:nvSpPr>
        <p:spPr>
          <a:xfrm>
            <a:off x="952500" y="4470219"/>
            <a:ext cx="3676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dirty="0">
                <a:solidFill>
                  <a:srgbClr val="181818"/>
                </a:solidFill>
              </a:rPr>
              <a:t>Two-sided platform entry</a:t>
            </a:r>
          </a:p>
        </p:txBody>
      </p:sp>
      <p:pic>
        <p:nvPicPr>
          <p:cNvPr id="25" name="Picture 24"/>
          <p:cNvPicPr>
            <a:picLocks noChangeAspect="1"/>
          </p:cNvPicPr>
          <p:nvPr/>
        </p:nvPicPr>
        <p:blipFill>
          <a:blip r:embed="rId6"/>
          <a:stretch/>
        </p:blipFill>
        <p:spPr>
          <a:xfrm>
            <a:off x="2586187" y="4456339"/>
            <a:ext cx="2233937" cy="1123950"/>
          </a:xfrm>
          <a:prstGeom prst="rect">
            <a:avLst/>
          </a:prstGeom>
        </p:spPr>
      </p:pic>
      <p:sp>
        <p:nvSpPr>
          <p:cNvPr id="26" name="Rectangle 25">
            <a:extLst>
              <a:ext uri="{FF2B5EF4-FFF2-40B4-BE49-F238E27FC236}">
                <a16:creationId xmlns:a16="http://schemas.microsoft.com/office/drawing/2014/main" id="{565F0672-7430-4640-96C2-7790C4ADC30E}"/>
              </a:ext>
            </a:extLst>
          </p:cNvPr>
          <p:cNvSpPr>
            <a:spLocks noGrp="1"/>
          </p:cNvSpPr>
          <p:nvPr/>
        </p:nvSpPr>
        <p:spPr>
          <a:xfrm>
            <a:off x="974604" y="4674870"/>
            <a:ext cx="1583008" cy="108966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7534E"/>
                </a:solidFill>
              </a:defRPr>
            </a:pPr>
            <a:r>
              <a:rPr sz="900" b="0" dirty="0">
                <a:solidFill>
                  <a:srgbClr val="57534E"/>
                </a:solidFill>
              </a:rPr>
              <a:t>Residents enter to build; stakeholders enter to fund, hire, and measure impact from the same CAN system.</a:t>
            </a:r>
          </a:p>
        </p:txBody>
      </p:sp>
      <p:sp>
        <p:nvSpPr>
          <p:cNvPr id="27" name="Rectangle: Rounded Corners 26">
            <a:extLst>
              <a:ext uri="{FF2B5EF4-FFF2-40B4-BE49-F238E27FC236}">
                <a16:creationId xmlns:a16="http://schemas.microsoft.com/office/drawing/2014/main" id="{0309D99A-F3DC-4511-93BD-6AA55FEA3204}"/>
              </a:ext>
            </a:extLst>
          </p:cNvPr>
          <p:cNvSpPr>
            <a:spLocks noGrp="1"/>
          </p:cNvSpPr>
          <p:nvPr/>
        </p:nvSpPr>
        <p:spPr>
          <a:xfrm>
            <a:off x="5143500" y="4305300"/>
            <a:ext cx="6210300" cy="1562100"/>
          </a:xfrm>
          <a:prstGeom prst="roundRect">
            <a:avLst>
              <a:gd name="adj" fmla="val 5195"/>
            </a:avLst>
          </a:prstGeom>
          <a:solidFill>
            <a:srgbClr val="FFFDF8"/>
          </a:solidFill>
          <a:ln w="9525">
            <a:solidFill>
              <a:srgbClr val="D6D0C7"/>
            </a:solidFill>
            <a:prstDash val="solid"/>
          </a:ln>
        </p:spPr>
        <p:txBody>
          <a:bodyPr/>
          <a:lstStyle/>
          <a:p>
            <a:endParaRPr lang="en-US"/>
          </a:p>
        </p:txBody>
      </p:sp>
      <p:sp>
        <p:nvSpPr>
          <p:cNvPr id="28" name="Rectangle 27">
            <a:extLst>
              <a:ext uri="{FF2B5EF4-FFF2-40B4-BE49-F238E27FC236}">
                <a16:creationId xmlns:a16="http://schemas.microsoft.com/office/drawing/2014/main" id="{984D6233-9F65-4394-B5E8-04620054B209}"/>
              </a:ext>
            </a:extLst>
          </p:cNvPr>
          <p:cNvSpPr>
            <a:spLocks noGrp="1"/>
          </p:cNvSpPr>
          <p:nvPr/>
        </p:nvSpPr>
        <p:spPr>
          <a:xfrm>
            <a:off x="5143500" y="4305300"/>
            <a:ext cx="57150" cy="1466850"/>
          </a:xfrm>
          <a:prstGeom prst="rect">
            <a:avLst/>
          </a:prstGeom>
          <a:solidFill>
            <a:srgbClr val="297E4F"/>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933271ED-85F3-43E9-8682-1E52435032C9}"/>
              </a:ext>
            </a:extLst>
          </p:cNvPr>
          <p:cNvSpPr>
            <a:spLocks noGrp="1"/>
          </p:cNvSpPr>
          <p:nvPr/>
        </p:nvSpPr>
        <p:spPr>
          <a:xfrm>
            <a:off x="5353050" y="4476750"/>
            <a:ext cx="5886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81818"/>
                </a:solidFill>
              </a:defRPr>
            </a:pPr>
            <a:r>
              <a:rPr sz="1200" b="1">
                <a:solidFill>
                  <a:srgbClr val="181818"/>
                </a:solidFill>
              </a:rPr>
              <a:t>Impact dashboard</a:t>
            </a:r>
          </a:p>
        </p:txBody>
      </p:sp>
      <p:pic>
        <p:nvPicPr>
          <p:cNvPr id="30" name="Picture 29"/>
          <p:cNvPicPr>
            <a:picLocks noChangeAspect="1"/>
          </p:cNvPicPr>
          <p:nvPr/>
        </p:nvPicPr>
        <p:blipFill>
          <a:blip r:embed="rId7"/>
          <a:stretch/>
        </p:blipFill>
        <p:spPr>
          <a:xfrm>
            <a:off x="7829551" y="4373879"/>
            <a:ext cx="3409950" cy="1398269"/>
          </a:xfrm>
          <a:prstGeom prst="rect">
            <a:avLst/>
          </a:prstGeom>
        </p:spPr>
      </p:pic>
      <p:sp>
        <p:nvSpPr>
          <p:cNvPr id="31" name="Rectangle 30">
            <a:extLst>
              <a:ext uri="{FF2B5EF4-FFF2-40B4-BE49-F238E27FC236}">
                <a16:creationId xmlns:a16="http://schemas.microsoft.com/office/drawing/2014/main" id="{9E39AF77-2C34-47D1-8CDA-E2480CD87950}"/>
              </a:ext>
            </a:extLst>
          </p:cNvPr>
          <p:cNvSpPr>
            <a:spLocks noGrp="1"/>
          </p:cNvSpPr>
          <p:nvPr/>
        </p:nvSpPr>
        <p:spPr>
          <a:xfrm>
            <a:off x="5334000" y="4727392"/>
            <a:ext cx="2362200" cy="1044757"/>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7534E"/>
                </a:solidFill>
              </a:defRPr>
            </a:pPr>
            <a:r>
              <a:rPr sz="900" b="0" dirty="0">
                <a:solidFill>
                  <a:srgbClr val="57534E"/>
                </a:solidFill>
              </a:rPr>
              <a:t>CAN tracks funding connected ($445K), jobs created (89), and businesses supported (47) against IGS-aligned outcomes.</a:t>
            </a:r>
          </a:p>
        </p:txBody>
      </p:sp>
      <p:sp>
        <p:nvSpPr>
          <p:cNvPr id="32" name="Rectangle: Rounded Corners 31">
            <a:extLst>
              <a:ext uri="{FF2B5EF4-FFF2-40B4-BE49-F238E27FC236}">
                <a16:creationId xmlns:a16="http://schemas.microsoft.com/office/drawing/2014/main" id="{5BCAD588-1CC1-4E0C-BA21-406D799418D1}"/>
              </a:ext>
            </a:extLst>
          </p:cNvPr>
          <p:cNvSpPr>
            <a:spLocks noGrp="1"/>
          </p:cNvSpPr>
          <p:nvPr/>
        </p:nvSpPr>
        <p:spPr>
          <a:xfrm>
            <a:off x="838200" y="5981700"/>
            <a:ext cx="10515600" cy="419100"/>
          </a:xfrm>
          <a:prstGeom prst="roundRect">
            <a:avLst>
              <a:gd name="adj" fmla="val 18182"/>
            </a:avLst>
          </a:prstGeom>
          <a:solidFill>
            <a:srgbClr val="FBF6EF"/>
          </a:solidFill>
          <a:ln w="9525">
            <a:solidFill>
              <a:srgbClr val="D6D0C7"/>
            </a:solidFill>
            <a:prstDash val="solid"/>
          </a:ln>
        </p:spPr>
        <p:txBody>
          <a:bodyPr/>
          <a:lstStyle/>
          <a:p>
            <a:endParaRPr lang="en-US"/>
          </a:p>
        </p:txBody>
      </p:sp>
      <p:sp>
        <p:nvSpPr>
          <p:cNvPr id="33" name="Rectangle 32">
            <a:extLst>
              <a:ext uri="{FF2B5EF4-FFF2-40B4-BE49-F238E27FC236}">
                <a16:creationId xmlns:a16="http://schemas.microsoft.com/office/drawing/2014/main" id="{7846CF5D-1FAB-470F-A9AC-69C12E859ECE}"/>
              </a:ext>
            </a:extLst>
          </p:cNvPr>
          <p:cNvSpPr>
            <a:spLocks noGrp="1"/>
          </p:cNvSpPr>
          <p:nvPr/>
        </p:nvSpPr>
        <p:spPr>
          <a:xfrm>
            <a:off x="1104900" y="6096000"/>
            <a:ext cx="998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181818"/>
                </a:solidFill>
              </a:defRPr>
            </a:pPr>
            <a:r>
              <a:rPr sz="1200" b="1">
                <a:solidFill>
                  <a:srgbClr val="181818"/>
                </a:solidFill>
              </a:rPr>
              <a:t>Community data -&gt; opportunity gap -&gt; resident starts business -&gt; stakeholder funds -&gt; IGS-tracked impact.</a:t>
            </a:r>
          </a:p>
        </p:txBody>
      </p:sp>
      <p:sp>
        <p:nvSpPr>
          <p:cNvPr id="34" name="Rectangle 33">
            <a:extLst>
              <a:ext uri="{FF2B5EF4-FFF2-40B4-BE49-F238E27FC236}">
                <a16:creationId xmlns:a16="http://schemas.microsoft.com/office/drawing/2014/main" id="{4A63BE64-D7E2-4B86-B48D-031DB562FFDD}"/>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DF6E8F9E-B662-4105-A485-8D9BDBD48A79}"/>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CAN prototype screenshots from the April 27, 2026 Figma Make build. On-screen platform metrics are mock pilot targets adopted as CAN year-1 goals for the pitch.</a:t>
            </a:r>
          </a:p>
        </p:txBody>
      </p:sp>
    </p:spTree>
    <p:extLst>
      <p:ext uri="{BB962C8B-B14F-4D97-AF65-F5344CB8AC3E}">
        <p14:creationId xmlns:p14="http://schemas.microsoft.com/office/powerpoint/2010/main" val="1419062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F7097ED-DD30-4523-AB05-39A23B1679F5}"/>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E7E1557-38DF-406E-A658-1C1D84F206B5}"/>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IMPLEMENTATION CONSIDERATIONS</a:t>
            </a:r>
          </a:p>
        </p:txBody>
      </p:sp>
      <p:sp>
        <p:nvSpPr>
          <p:cNvPr id="3" name="Rectangle 2">
            <a:extLst>
              <a:ext uri="{FF2B5EF4-FFF2-40B4-BE49-F238E27FC236}">
                <a16:creationId xmlns:a16="http://schemas.microsoft.com/office/drawing/2014/main" id="{3C114F5C-A8D5-4990-9900-319B1A96CE4C}"/>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08 / 10</a:t>
            </a:r>
          </a:p>
        </p:txBody>
      </p:sp>
      <p:sp>
        <p:nvSpPr>
          <p:cNvPr id="4" name="Rectangle 3">
            <a:extLst>
              <a:ext uri="{FF2B5EF4-FFF2-40B4-BE49-F238E27FC236}">
                <a16:creationId xmlns:a16="http://schemas.microsoft.com/office/drawing/2014/main" id="{C80D1AD3-4A9A-4041-AD90-7282AF58603B}"/>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CD082543-1F72-44D9-A035-A896CF5C3672}"/>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How CAN deploys, operates, and stops</a:t>
            </a:r>
          </a:p>
        </p:txBody>
      </p:sp>
      <p:sp>
        <p:nvSpPr>
          <p:cNvPr id="6" name="Rectangle 5">
            <a:extLst>
              <a:ext uri="{FF2B5EF4-FFF2-40B4-BE49-F238E27FC236}">
                <a16:creationId xmlns:a16="http://schemas.microsoft.com/office/drawing/2014/main" id="{88743E7F-A1E6-45EE-8EBB-4561665C8D0E}"/>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The platform pilot is concrete: five named tracts, community onboarding, stakeholder participation, and explicit stop/pivot rules.</a:t>
            </a:r>
          </a:p>
        </p:txBody>
      </p:sp>
      <p:sp>
        <p:nvSpPr>
          <p:cNvPr id="7" name="Rectangle: Rounded Corners 6">
            <a:extLst>
              <a:ext uri="{FF2B5EF4-FFF2-40B4-BE49-F238E27FC236}">
                <a16:creationId xmlns:a16="http://schemas.microsoft.com/office/drawing/2014/main" id="{864CA559-F91F-45B5-8E57-5E7319B92A28}"/>
              </a:ext>
            </a:extLst>
          </p:cNvPr>
          <p:cNvSpPr>
            <a:spLocks noGrp="1"/>
          </p:cNvSpPr>
          <p:nvPr/>
        </p:nvSpPr>
        <p:spPr>
          <a:xfrm>
            <a:off x="838200" y="2133600"/>
            <a:ext cx="4953000" cy="1638300"/>
          </a:xfrm>
          <a:prstGeom prst="roundRect">
            <a:avLst>
              <a:gd name="adj" fmla="val 4651"/>
            </a:avLst>
          </a:prstGeom>
          <a:solidFill>
            <a:srgbClr val="FFFDF8"/>
          </a:solidFill>
          <a:ln w="9525">
            <a:solidFill>
              <a:srgbClr val="D6D0C7"/>
            </a:solidFill>
            <a:prstDash val="solid"/>
          </a:ln>
        </p:spPr>
        <p:txBody>
          <a:bodyPr/>
          <a:lstStyle/>
          <a:p>
            <a:endParaRPr lang="en-US"/>
          </a:p>
        </p:txBody>
      </p:sp>
      <p:sp>
        <p:nvSpPr>
          <p:cNvPr id="8" name="Rectangle 7">
            <a:extLst>
              <a:ext uri="{FF2B5EF4-FFF2-40B4-BE49-F238E27FC236}">
                <a16:creationId xmlns:a16="http://schemas.microsoft.com/office/drawing/2014/main" id="{DDF04530-531B-4998-9D57-0DB9638E6794}"/>
              </a:ext>
            </a:extLst>
          </p:cNvPr>
          <p:cNvSpPr>
            <a:spLocks noGrp="1"/>
          </p:cNvSpPr>
          <p:nvPr/>
        </p:nvSpPr>
        <p:spPr>
          <a:xfrm>
            <a:off x="838200" y="2133600"/>
            <a:ext cx="57150" cy="1638300"/>
          </a:xfrm>
          <a:prstGeom prst="rect">
            <a:avLst/>
          </a:prstGeom>
          <a:solidFill>
            <a:srgbClr val="E63A2F"/>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8189FEA9-1DF3-4D3F-A758-5AC3581951D7}"/>
              </a:ext>
            </a:extLst>
          </p:cNvPr>
          <p:cNvSpPr>
            <a:spLocks noGrp="1"/>
          </p:cNvSpPr>
          <p:nvPr/>
        </p:nvSpPr>
        <p:spPr>
          <a:xfrm>
            <a:off x="1047750" y="2305050"/>
            <a:ext cx="4629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Phase 1 footprint</a:t>
            </a:r>
          </a:p>
        </p:txBody>
      </p:sp>
      <p:sp>
        <p:nvSpPr>
          <p:cNvPr id="10" name="Rectangle 9">
            <a:extLst>
              <a:ext uri="{FF2B5EF4-FFF2-40B4-BE49-F238E27FC236}">
                <a16:creationId xmlns:a16="http://schemas.microsoft.com/office/drawing/2014/main" id="{3DBC3380-5B42-4D86-9B0D-4A3DB367AC1C}"/>
              </a:ext>
            </a:extLst>
          </p:cNvPr>
          <p:cNvSpPr>
            <a:spLocks noGrp="1"/>
          </p:cNvSpPr>
          <p:nvPr/>
        </p:nvSpPr>
        <p:spPr>
          <a:xfrm>
            <a:off x="1047750" y="2647950"/>
            <a:ext cx="46291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Five named EOTR launch tracts.</a:t>
            </a:r>
          </a:p>
          <a:p>
            <a:pPr algn="l">
              <a:defRPr sz="1050" b="0">
                <a:solidFill>
                  <a:srgbClr val="57534E"/>
                </a:solidFill>
              </a:defRPr>
            </a:pPr>
            <a:r>
              <a:rPr sz="1050" b="0">
                <a:solidFill>
                  <a:srgbClr val="57534E"/>
                </a:solidFill>
              </a:rPr>
              <a:t>About 16,281 residents in the initial focus set.</a:t>
            </a:r>
          </a:p>
          <a:p>
            <a:pPr algn="l">
              <a:defRPr sz="1050" b="0">
                <a:solidFill>
                  <a:srgbClr val="57534E"/>
                </a:solidFill>
              </a:defRPr>
            </a:pPr>
            <a:r>
              <a:rPr sz="1050" b="0">
                <a:solidFill>
                  <a:srgbClr val="57534E"/>
                </a:solidFill>
              </a:rPr>
              <a:t>Community onboarding through Howard, faith institutions, FQHC outreach, and local partners.</a:t>
            </a:r>
          </a:p>
        </p:txBody>
      </p:sp>
      <p:sp>
        <p:nvSpPr>
          <p:cNvPr id="11" name="Rectangle: Rounded Corners 10">
            <a:extLst>
              <a:ext uri="{FF2B5EF4-FFF2-40B4-BE49-F238E27FC236}">
                <a16:creationId xmlns:a16="http://schemas.microsoft.com/office/drawing/2014/main" id="{BB34BB5C-E8ED-429E-8CA9-B3A6E3BD9007}"/>
              </a:ext>
            </a:extLst>
          </p:cNvPr>
          <p:cNvSpPr>
            <a:spLocks noGrp="1"/>
          </p:cNvSpPr>
          <p:nvPr/>
        </p:nvSpPr>
        <p:spPr>
          <a:xfrm>
            <a:off x="6400800" y="2133600"/>
            <a:ext cx="4953000" cy="1638300"/>
          </a:xfrm>
          <a:prstGeom prst="roundRect">
            <a:avLst>
              <a:gd name="adj" fmla="val 4651"/>
            </a:avLst>
          </a:prstGeom>
          <a:solidFill>
            <a:srgbClr val="FFFDF8"/>
          </a:solidFill>
          <a:ln w="9525">
            <a:solidFill>
              <a:srgbClr val="D6D0C7"/>
            </a:solidFill>
            <a:prstDash val="solid"/>
          </a:ln>
        </p:spPr>
        <p:txBody>
          <a:bodyPr/>
          <a:lstStyle/>
          <a:p>
            <a:endParaRPr lang="en-US"/>
          </a:p>
        </p:txBody>
      </p:sp>
      <p:sp>
        <p:nvSpPr>
          <p:cNvPr id="12" name="Rectangle 11">
            <a:extLst>
              <a:ext uri="{FF2B5EF4-FFF2-40B4-BE49-F238E27FC236}">
                <a16:creationId xmlns:a16="http://schemas.microsoft.com/office/drawing/2014/main" id="{8CEDE9CF-87F1-4478-8D58-EB62289B0B2E}"/>
              </a:ext>
            </a:extLst>
          </p:cNvPr>
          <p:cNvSpPr>
            <a:spLocks noGrp="1"/>
          </p:cNvSpPr>
          <p:nvPr/>
        </p:nvSpPr>
        <p:spPr>
          <a:xfrm>
            <a:off x="6400800" y="2133600"/>
            <a:ext cx="57150" cy="1638300"/>
          </a:xfrm>
          <a:prstGeom prst="rect">
            <a:avLst/>
          </a:prstGeom>
          <a:solidFill>
            <a:srgbClr val="F4A321"/>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F33A5811-8E8D-4F9E-BC89-F8A55BC96CCC}"/>
              </a:ext>
            </a:extLst>
          </p:cNvPr>
          <p:cNvSpPr>
            <a:spLocks noGrp="1"/>
          </p:cNvSpPr>
          <p:nvPr/>
        </p:nvSpPr>
        <p:spPr>
          <a:xfrm>
            <a:off x="6610350" y="2305050"/>
            <a:ext cx="4629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Mastercard layer</a:t>
            </a:r>
          </a:p>
        </p:txBody>
      </p:sp>
      <p:sp>
        <p:nvSpPr>
          <p:cNvPr id="14" name="Rectangle 13">
            <a:extLst>
              <a:ext uri="{FF2B5EF4-FFF2-40B4-BE49-F238E27FC236}">
                <a16:creationId xmlns:a16="http://schemas.microsoft.com/office/drawing/2014/main" id="{B7284476-BD85-43CE-8FDB-396326F6A8A1}"/>
              </a:ext>
            </a:extLst>
          </p:cNvPr>
          <p:cNvSpPr>
            <a:spLocks noGrp="1"/>
          </p:cNvSpPr>
          <p:nvPr/>
        </p:nvSpPr>
        <p:spPr>
          <a:xfrm>
            <a:off x="6610350" y="2647950"/>
            <a:ext cx="46291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IGS feeds Community Pulse.</a:t>
            </a:r>
          </a:p>
          <a:p>
            <a:pPr algn="l">
              <a:defRPr sz="1050" b="0">
                <a:solidFill>
                  <a:srgbClr val="57534E"/>
                </a:solidFill>
              </a:defRPr>
            </a:pPr>
            <a:r>
              <a:rPr sz="1050" b="0">
                <a:solidFill>
                  <a:srgbClr val="57534E"/>
                </a:solidFill>
              </a:rPr>
              <a:t>Payment rails route stakeholder funding to resident-owned businesses.</a:t>
            </a:r>
          </a:p>
          <a:p>
            <a:pPr algn="l">
              <a:defRPr sz="1050" b="0">
                <a:solidFill>
                  <a:srgbClr val="57534E"/>
                </a:solidFill>
              </a:defRPr>
            </a:pPr>
            <a:r>
              <a:rPr sz="1050" b="0">
                <a:solidFill>
                  <a:srgbClr val="57534E"/>
                </a:solidFill>
              </a:rPr>
              <a:t>Merchant and partner network accelerates community and stakeholder onboarding.</a:t>
            </a:r>
          </a:p>
        </p:txBody>
      </p:sp>
      <p:sp>
        <p:nvSpPr>
          <p:cNvPr id="15" name="Rectangle: Rounded Corners 14">
            <a:extLst>
              <a:ext uri="{FF2B5EF4-FFF2-40B4-BE49-F238E27FC236}">
                <a16:creationId xmlns:a16="http://schemas.microsoft.com/office/drawing/2014/main" id="{76D97744-3970-4330-98D6-6DBB09B79362}"/>
              </a:ext>
            </a:extLst>
          </p:cNvPr>
          <p:cNvSpPr>
            <a:spLocks noGrp="1"/>
          </p:cNvSpPr>
          <p:nvPr/>
        </p:nvSpPr>
        <p:spPr>
          <a:xfrm>
            <a:off x="838200" y="4114800"/>
            <a:ext cx="4953000" cy="1638300"/>
          </a:xfrm>
          <a:prstGeom prst="roundRect">
            <a:avLst>
              <a:gd name="adj" fmla="val 4651"/>
            </a:avLst>
          </a:prstGeom>
          <a:solidFill>
            <a:srgbClr val="FFFDF8"/>
          </a:solidFill>
          <a:ln w="9525">
            <a:solidFill>
              <a:srgbClr val="D6D0C7"/>
            </a:solidFill>
            <a:prstDash val="solid"/>
          </a:ln>
        </p:spPr>
        <p:txBody>
          <a:bodyPr/>
          <a:lstStyle/>
          <a:p>
            <a:endParaRPr lang="en-US"/>
          </a:p>
        </p:txBody>
      </p:sp>
      <p:sp>
        <p:nvSpPr>
          <p:cNvPr id="16" name="Rectangle 15">
            <a:extLst>
              <a:ext uri="{FF2B5EF4-FFF2-40B4-BE49-F238E27FC236}">
                <a16:creationId xmlns:a16="http://schemas.microsoft.com/office/drawing/2014/main" id="{52F909D4-9B5C-4479-A640-6506FCF82B13}"/>
              </a:ext>
            </a:extLst>
          </p:cNvPr>
          <p:cNvSpPr>
            <a:spLocks noGrp="1"/>
          </p:cNvSpPr>
          <p:nvPr/>
        </p:nvSpPr>
        <p:spPr>
          <a:xfrm>
            <a:off x="838200" y="4114800"/>
            <a:ext cx="57150" cy="1638300"/>
          </a:xfrm>
          <a:prstGeom prst="rect">
            <a:avLst/>
          </a:prstGeom>
          <a:solidFill>
            <a:srgbClr val="0E8C86"/>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ED0DDBA-CB11-43D6-9D39-B70742D530FA}"/>
              </a:ext>
            </a:extLst>
          </p:cNvPr>
          <p:cNvSpPr>
            <a:spLocks noGrp="1"/>
          </p:cNvSpPr>
          <p:nvPr/>
        </p:nvSpPr>
        <p:spPr>
          <a:xfrm>
            <a:off x="1047750" y="4286250"/>
            <a:ext cx="4629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Cost</a:t>
            </a:r>
          </a:p>
        </p:txBody>
      </p:sp>
      <p:sp>
        <p:nvSpPr>
          <p:cNvPr id="18" name="Rectangle 17">
            <a:extLst>
              <a:ext uri="{FF2B5EF4-FFF2-40B4-BE49-F238E27FC236}">
                <a16:creationId xmlns:a16="http://schemas.microsoft.com/office/drawing/2014/main" id="{72F7B2A1-8E65-4993-8EBC-2B681229FF61}"/>
              </a:ext>
            </a:extLst>
          </p:cNvPr>
          <p:cNvSpPr>
            <a:spLocks noGrp="1"/>
          </p:cNvSpPr>
          <p:nvPr/>
        </p:nvSpPr>
        <p:spPr>
          <a:xfrm>
            <a:off x="1047750" y="4629150"/>
            <a:ext cx="46291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$500K covers platform development, AI infrastructure, community onboarding, stakeholder partnerships, and 18 months of operations across the five launch tracts.</a:t>
            </a:r>
          </a:p>
        </p:txBody>
      </p:sp>
      <p:sp>
        <p:nvSpPr>
          <p:cNvPr id="19" name="Rectangle: Rounded Corners 18">
            <a:extLst>
              <a:ext uri="{FF2B5EF4-FFF2-40B4-BE49-F238E27FC236}">
                <a16:creationId xmlns:a16="http://schemas.microsoft.com/office/drawing/2014/main" id="{C0020363-592F-4616-8357-B8656FBA9858}"/>
              </a:ext>
            </a:extLst>
          </p:cNvPr>
          <p:cNvSpPr>
            <a:spLocks noGrp="1"/>
          </p:cNvSpPr>
          <p:nvPr/>
        </p:nvSpPr>
        <p:spPr>
          <a:xfrm>
            <a:off x="6400800" y="4114800"/>
            <a:ext cx="4953000" cy="1638300"/>
          </a:xfrm>
          <a:prstGeom prst="roundRect">
            <a:avLst>
              <a:gd name="adj" fmla="val 4651"/>
            </a:avLst>
          </a:prstGeom>
          <a:solidFill>
            <a:srgbClr val="FFFDF8"/>
          </a:solidFill>
          <a:ln w="9525">
            <a:solidFill>
              <a:srgbClr val="D6D0C7"/>
            </a:solidFill>
            <a:prstDash val="solid"/>
          </a:ln>
        </p:spPr>
        <p:txBody>
          <a:bodyPr/>
          <a:lstStyle/>
          <a:p>
            <a:endParaRPr lang="en-US"/>
          </a:p>
        </p:txBody>
      </p:sp>
      <p:sp>
        <p:nvSpPr>
          <p:cNvPr id="20" name="Rectangle 19">
            <a:extLst>
              <a:ext uri="{FF2B5EF4-FFF2-40B4-BE49-F238E27FC236}">
                <a16:creationId xmlns:a16="http://schemas.microsoft.com/office/drawing/2014/main" id="{08F0292C-C596-45C0-A429-30D62B96C557}"/>
              </a:ext>
            </a:extLst>
          </p:cNvPr>
          <p:cNvSpPr>
            <a:spLocks noGrp="1"/>
          </p:cNvSpPr>
          <p:nvPr/>
        </p:nvSpPr>
        <p:spPr>
          <a:xfrm>
            <a:off x="6400800" y="4114800"/>
            <a:ext cx="57150" cy="1638300"/>
          </a:xfrm>
          <a:prstGeom prst="rect">
            <a:avLst/>
          </a:prstGeom>
          <a:solidFill>
            <a:srgbClr val="265E8B"/>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7DCA8096-67C2-4A44-9F3D-CD7F2297924C}"/>
              </a:ext>
            </a:extLst>
          </p:cNvPr>
          <p:cNvSpPr>
            <a:spLocks noGrp="1"/>
          </p:cNvSpPr>
          <p:nvPr/>
        </p:nvSpPr>
        <p:spPr>
          <a:xfrm>
            <a:off x="6610350" y="4286250"/>
            <a:ext cx="46291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Stop/pivot rules</a:t>
            </a:r>
          </a:p>
        </p:txBody>
      </p:sp>
      <p:sp>
        <p:nvSpPr>
          <p:cNvPr id="22" name="Rectangle 21">
            <a:extLst>
              <a:ext uri="{FF2B5EF4-FFF2-40B4-BE49-F238E27FC236}">
                <a16:creationId xmlns:a16="http://schemas.microsoft.com/office/drawing/2014/main" id="{70ECB2E8-3D03-491D-82D5-BCDD169BD1E2}"/>
              </a:ext>
            </a:extLst>
          </p:cNvPr>
          <p:cNvSpPr>
            <a:spLocks noGrp="1"/>
          </p:cNvSpPr>
          <p:nvPr/>
        </p:nvSpPr>
        <p:spPr>
          <a:xfrm>
            <a:off x="6610350" y="4629150"/>
            <a:ext cx="462915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Resident sign-ups stay below 200 in Phase 1.</a:t>
            </a:r>
          </a:p>
          <a:p>
            <a:pPr algn="l">
              <a:defRPr sz="1050" b="0">
                <a:solidFill>
                  <a:srgbClr val="57534E"/>
                </a:solidFill>
              </a:defRPr>
            </a:pPr>
            <a:r>
              <a:rPr sz="1050" b="0">
                <a:solidFill>
                  <a:srgbClr val="57534E"/>
                </a:solidFill>
              </a:rPr>
              <a:t>Stakeholders engage with fewer than 25% of visible business profiles.</a:t>
            </a:r>
          </a:p>
          <a:p>
            <a:pPr algn="l">
              <a:defRPr sz="1050" b="0">
                <a:solidFill>
                  <a:srgbClr val="57534E"/>
                </a:solidFill>
              </a:defRPr>
            </a:pPr>
            <a:r>
              <a:rPr sz="1050" b="0">
                <a:solidFill>
                  <a:srgbClr val="57534E"/>
                </a:solidFill>
              </a:rPr>
              <a:t>AI planning output is rated unhelpful by a majority of users.</a:t>
            </a:r>
          </a:p>
        </p:txBody>
      </p:sp>
      <p:sp>
        <p:nvSpPr>
          <p:cNvPr id="23" name="Rectangle 22">
            <a:extLst>
              <a:ext uri="{FF2B5EF4-FFF2-40B4-BE49-F238E27FC236}">
                <a16:creationId xmlns:a16="http://schemas.microsoft.com/office/drawing/2014/main" id="{32FBB1BC-7D29-4D0B-8BFB-F77FC82CAD64}"/>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97DF16CF-470F-4774-B655-962DB816DB9B}"/>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CAN prototype screenshots from the April 27, 2026 Figma Make build. On-screen platform metrics are mock pilot targets adopted as CAN year-1 goals for the pitch. Need x Readiness ranking from 02_evidence_chain.ipynb using food insecurity, transportation barriers, distress, business diversity, loans, and disconnection.</a:t>
            </a:r>
          </a:p>
        </p:txBody>
      </p:sp>
    </p:spTree>
    <p:extLst>
      <p:ext uri="{BB962C8B-B14F-4D97-AF65-F5344CB8AC3E}">
        <p14:creationId xmlns:p14="http://schemas.microsoft.com/office/powerpoint/2010/main" val="114403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5341EBE-A976-4672-A9B7-F6D660830AD7}"/>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4F755EC-00EB-4F03-BBD6-AFF6CC039BD4}"/>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METRICS FOR SUCCESS</a:t>
            </a:r>
          </a:p>
        </p:txBody>
      </p:sp>
      <p:sp>
        <p:nvSpPr>
          <p:cNvPr id="3" name="Rectangle 2">
            <a:extLst>
              <a:ext uri="{FF2B5EF4-FFF2-40B4-BE49-F238E27FC236}">
                <a16:creationId xmlns:a16="http://schemas.microsoft.com/office/drawing/2014/main" id="{BA69B0C5-73E5-4D58-A489-D1318C10F4CB}"/>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09 / 10</a:t>
            </a:r>
          </a:p>
        </p:txBody>
      </p:sp>
      <p:sp>
        <p:nvSpPr>
          <p:cNvPr id="4" name="Rectangle 3">
            <a:extLst>
              <a:ext uri="{FF2B5EF4-FFF2-40B4-BE49-F238E27FC236}">
                <a16:creationId xmlns:a16="http://schemas.microsoft.com/office/drawing/2014/main" id="{042C6E0B-B90A-488C-A530-8F02FE79A61A}"/>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71ACBED2-0042-4A1A-ABF8-6B2BE41404E2}"/>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Metrics for success aligned to IGS pillars</a:t>
            </a:r>
          </a:p>
        </p:txBody>
      </p:sp>
      <p:sp>
        <p:nvSpPr>
          <p:cNvPr id="6" name="Rectangle 5">
            <a:extLst>
              <a:ext uri="{FF2B5EF4-FFF2-40B4-BE49-F238E27FC236}">
                <a16:creationId xmlns:a16="http://schemas.microsoft.com/office/drawing/2014/main" id="{4E22AF2B-619C-4DC5-B6E5-0ED6395F4D11}"/>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The pilot should be judged through access, economic, and community signals that map back to Place, Economy, and Community.</a:t>
            </a:r>
          </a:p>
        </p:txBody>
      </p:sp>
      <p:sp>
        <p:nvSpPr>
          <p:cNvPr id="7" name="Rectangle: Rounded Corners 6">
            <a:extLst>
              <a:ext uri="{FF2B5EF4-FFF2-40B4-BE49-F238E27FC236}">
                <a16:creationId xmlns:a16="http://schemas.microsoft.com/office/drawing/2014/main" id="{5798F623-921B-4923-8BF3-1E923AF7931E}"/>
              </a:ext>
            </a:extLst>
          </p:cNvPr>
          <p:cNvSpPr>
            <a:spLocks noGrp="1"/>
          </p:cNvSpPr>
          <p:nvPr/>
        </p:nvSpPr>
        <p:spPr>
          <a:xfrm>
            <a:off x="838200" y="2266950"/>
            <a:ext cx="3257550" cy="2133600"/>
          </a:xfrm>
          <a:prstGeom prst="roundRect">
            <a:avLst>
              <a:gd name="adj" fmla="val 3571"/>
            </a:avLst>
          </a:prstGeom>
          <a:solidFill>
            <a:srgbClr val="FFFDF8"/>
          </a:solidFill>
          <a:ln w="9525">
            <a:solidFill>
              <a:srgbClr val="D6D0C7"/>
            </a:solidFill>
            <a:prstDash val="solid"/>
          </a:ln>
        </p:spPr>
        <p:txBody>
          <a:bodyPr/>
          <a:lstStyle/>
          <a:p>
            <a:endParaRPr lang="en-US"/>
          </a:p>
        </p:txBody>
      </p:sp>
      <p:sp>
        <p:nvSpPr>
          <p:cNvPr id="8" name="Rectangle 7">
            <a:extLst>
              <a:ext uri="{FF2B5EF4-FFF2-40B4-BE49-F238E27FC236}">
                <a16:creationId xmlns:a16="http://schemas.microsoft.com/office/drawing/2014/main" id="{809D5A82-30BB-47C9-825D-DF1E07A96A8E}"/>
              </a:ext>
            </a:extLst>
          </p:cNvPr>
          <p:cNvSpPr>
            <a:spLocks noGrp="1"/>
          </p:cNvSpPr>
          <p:nvPr/>
        </p:nvSpPr>
        <p:spPr>
          <a:xfrm>
            <a:off x="838200" y="2266950"/>
            <a:ext cx="57150" cy="2133600"/>
          </a:xfrm>
          <a:prstGeom prst="rect">
            <a:avLst/>
          </a:prstGeom>
          <a:solidFill>
            <a:srgbClr val="E63A2F"/>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677C07D5-6F55-4C4F-BD99-0B314C5B8F45}"/>
              </a:ext>
            </a:extLst>
          </p:cNvPr>
          <p:cNvSpPr>
            <a:spLocks noGrp="1"/>
          </p:cNvSpPr>
          <p:nvPr/>
        </p:nvSpPr>
        <p:spPr>
          <a:xfrm>
            <a:off x="1047750" y="2438400"/>
            <a:ext cx="2933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Access / Place</a:t>
            </a:r>
          </a:p>
        </p:txBody>
      </p:sp>
      <p:sp>
        <p:nvSpPr>
          <p:cNvPr id="10" name="Rectangle 9">
            <a:extLst>
              <a:ext uri="{FF2B5EF4-FFF2-40B4-BE49-F238E27FC236}">
                <a16:creationId xmlns:a16="http://schemas.microsoft.com/office/drawing/2014/main" id="{B2A00C08-DA1E-417A-86DD-2E3B9DBCAFAE}"/>
              </a:ext>
            </a:extLst>
          </p:cNvPr>
          <p:cNvSpPr>
            <a:spLocks noGrp="1"/>
          </p:cNvSpPr>
          <p:nvPr/>
        </p:nvSpPr>
        <p:spPr>
          <a:xfrm>
            <a:off x="1047750" y="2781300"/>
            <a:ext cx="293370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Target: residents reached by Community Pulse.</a:t>
            </a:r>
          </a:p>
          <a:p>
            <a:pPr algn="l">
              <a:defRPr sz="1050" b="0">
                <a:solidFill>
                  <a:srgbClr val="57534E"/>
                </a:solidFill>
              </a:defRPr>
            </a:pPr>
            <a:r>
              <a:rPr sz="1050" b="0">
                <a:solidFill>
                  <a:srgbClr val="57534E"/>
                </a:solidFill>
              </a:rPr>
              <a:t>Checkpoint: opportunity gaps surfaced and acted on in each pilot tract.</a:t>
            </a:r>
          </a:p>
          <a:p>
            <a:pPr algn="l">
              <a:defRPr sz="1050" b="0">
                <a:solidFill>
                  <a:srgbClr val="57534E"/>
                </a:solidFill>
              </a:defRPr>
            </a:pPr>
            <a:r>
              <a:rPr sz="1050" b="0">
                <a:solidFill>
                  <a:srgbClr val="57534E"/>
                </a:solidFill>
              </a:rPr>
              <a:t>Signals: dashboard usage, opportunity clicks, and return visits.</a:t>
            </a:r>
          </a:p>
        </p:txBody>
      </p:sp>
      <p:sp>
        <p:nvSpPr>
          <p:cNvPr id="11" name="Rectangle: Rounded Corners 10">
            <a:extLst>
              <a:ext uri="{FF2B5EF4-FFF2-40B4-BE49-F238E27FC236}">
                <a16:creationId xmlns:a16="http://schemas.microsoft.com/office/drawing/2014/main" id="{04E77153-0682-4051-96DA-4AD540D17D2E}"/>
              </a:ext>
            </a:extLst>
          </p:cNvPr>
          <p:cNvSpPr>
            <a:spLocks noGrp="1"/>
          </p:cNvSpPr>
          <p:nvPr/>
        </p:nvSpPr>
        <p:spPr>
          <a:xfrm>
            <a:off x="4457700" y="2266950"/>
            <a:ext cx="3257550" cy="2133600"/>
          </a:xfrm>
          <a:prstGeom prst="roundRect">
            <a:avLst>
              <a:gd name="adj" fmla="val 3571"/>
            </a:avLst>
          </a:prstGeom>
          <a:solidFill>
            <a:srgbClr val="FFFDF8"/>
          </a:solidFill>
          <a:ln w="9525">
            <a:solidFill>
              <a:srgbClr val="D6D0C7"/>
            </a:solidFill>
            <a:prstDash val="solid"/>
          </a:ln>
        </p:spPr>
        <p:txBody>
          <a:bodyPr/>
          <a:lstStyle/>
          <a:p>
            <a:endParaRPr lang="en-US"/>
          </a:p>
        </p:txBody>
      </p:sp>
      <p:sp>
        <p:nvSpPr>
          <p:cNvPr id="12" name="Rectangle 11">
            <a:extLst>
              <a:ext uri="{FF2B5EF4-FFF2-40B4-BE49-F238E27FC236}">
                <a16:creationId xmlns:a16="http://schemas.microsoft.com/office/drawing/2014/main" id="{47CBD59C-DA9A-4419-B0EF-30D3E3FFA0E2}"/>
              </a:ext>
            </a:extLst>
          </p:cNvPr>
          <p:cNvSpPr>
            <a:spLocks noGrp="1"/>
          </p:cNvSpPr>
          <p:nvPr/>
        </p:nvSpPr>
        <p:spPr>
          <a:xfrm>
            <a:off x="4457700" y="2266950"/>
            <a:ext cx="57150" cy="2133600"/>
          </a:xfrm>
          <a:prstGeom prst="rect">
            <a:avLst/>
          </a:prstGeom>
          <a:solidFill>
            <a:srgbClr val="F4A321"/>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C7274FED-F8B5-4698-AE7F-CC6C40597CC8}"/>
              </a:ext>
            </a:extLst>
          </p:cNvPr>
          <p:cNvSpPr>
            <a:spLocks noGrp="1"/>
          </p:cNvSpPr>
          <p:nvPr/>
        </p:nvSpPr>
        <p:spPr>
          <a:xfrm>
            <a:off x="4667250" y="2438400"/>
            <a:ext cx="29337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Economic / Economy</a:t>
            </a:r>
          </a:p>
        </p:txBody>
      </p:sp>
      <p:sp>
        <p:nvSpPr>
          <p:cNvPr id="14" name="Rectangle 13">
            <a:extLst>
              <a:ext uri="{FF2B5EF4-FFF2-40B4-BE49-F238E27FC236}">
                <a16:creationId xmlns:a16="http://schemas.microsoft.com/office/drawing/2014/main" id="{8BB6BF01-B0A3-4CC6-A396-2E50DDC04B46}"/>
              </a:ext>
            </a:extLst>
          </p:cNvPr>
          <p:cNvSpPr>
            <a:spLocks noGrp="1"/>
          </p:cNvSpPr>
          <p:nvPr/>
        </p:nvSpPr>
        <p:spPr>
          <a:xfrm>
            <a:off x="4667250" y="2781300"/>
            <a:ext cx="293370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Target: businesses launched, $445K in stakeholder funding connected, and 89 jobs created.</a:t>
            </a:r>
          </a:p>
          <a:p>
            <a:pPr algn="l">
              <a:defRPr sz="1050" b="0">
                <a:solidFill>
                  <a:srgbClr val="57534E"/>
                </a:solidFill>
              </a:defRPr>
            </a:pPr>
            <a:r>
              <a:rPr sz="1050" b="0">
                <a:solidFill>
                  <a:srgbClr val="57534E"/>
                </a:solidFill>
              </a:rPr>
              <a:t>Signals: commercial diversity score improvement and businesses moving from planning to launch.</a:t>
            </a:r>
          </a:p>
        </p:txBody>
      </p:sp>
      <p:sp>
        <p:nvSpPr>
          <p:cNvPr id="15" name="Rectangle: Rounded Corners 14">
            <a:extLst>
              <a:ext uri="{FF2B5EF4-FFF2-40B4-BE49-F238E27FC236}">
                <a16:creationId xmlns:a16="http://schemas.microsoft.com/office/drawing/2014/main" id="{22707644-6FF0-465E-BEBD-5EF681FE9909}"/>
              </a:ext>
            </a:extLst>
          </p:cNvPr>
          <p:cNvSpPr>
            <a:spLocks noGrp="1"/>
          </p:cNvSpPr>
          <p:nvPr/>
        </p:nvSpPr>
        <p:spPr>
          <a:xfrm>
            <a:off x="8077200" y="2266950"/>
            <a:ext cx="3295650" cy="2133600"/>
          </a:xfrm>
          <a:prstGeom prst="roundRect">
            <a:avLst>
              <a:gd name="adj" fmla="val 3571"/>
            </a:avLst>
          </a:prstGeom>
          <a:solidFill>
            <a:srgbClr val="FFFDF8"/>
          </a:solidFill>
          <a:ln w="9525">
            <a:solidFill>
              <a:srgbClr val="D6D0C7"/>
            </a:solidFill>
            <a:prstDash val="solid"/>
          </a:ln>
        </p:spPr>
        <p:txBody>
          <a:bodyPr/>
          <a:lstStyle/>
          <a:p>
            <a:endParaRPr lang="en-US"/>
          </a:p>
        </p:txBody>
      </p:sp>
      <p:sp>
        <p:nvSpPr>
          <p:cNvPr id="16" name="Rectangle 15">
            <a:extLst>
              <a:ext uri="{FF2B5EF4-FFF2-40B4-BE49-F238E27FC236}">
                <a16:creationId xmlns:a16="http://schemas.microsoft.com/office/drawing/2014/main" id="{A86ED578-807A-4D6D-B90E-78B52D58B904}"/>
              </a:ext>
            </a:extLst>
          </p:cNvPr>
          <p:cNvSpPr>
            <a:spLocks noGrp="1"/>
          </p:cNvSpPr>
          <p:nvPr/>
        </p:nvSpPr>
        <p:spPr>
          <a:xfrm>
            <a:off x="8077200" y="2266950"/>
            <a:ext cx="57150" cy="2133600"/>
          </a:xfrm>
          <a:prstGeom prst="rect">
            <a:avLst/>
          </a:prstGeom>
          <a:solidFill>
            <a:srgbClr val="0E8C86"/>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80BD2808-3F7B-472C-9696-B187CBA1C976}"/>
              </a:ext>
            </a:extLst>
          </p:cNvPr>
          <p:cNvSpPr>
            <a:spLocks noGrp="1"/>
          </p:cNvSpPr>
          <p:nvPr/>
        </p:nvSpPr>
        <p:spPr>
          <a:xfrm>
            <a:off x="8286750" y="2438400"/>
            <a:ext cx="29718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Community</a:t>
            </a:r>
          </a:p>
        </p:txBody>
      </p:sp>
      <p:sp>
        <p:nvSpPr>
          <p:cNvPr id="18" name="Rectangle 17">
            <a:extLst>
              <a:ext uri="{FF2B5EF4-FFF2-40B4-BE49-F238E27FC236}">
                <a16:creationId xmlns:a16="http://schemas.microsoft.com/office/drawing/2014/main" id="{88DD71B4-3C4B-4B35-98B7-F250C76D5480}"/>
              </a:ext>
            </a:extLst>
          </p:cNvPr>
          <p:cNvSpPr>
            <a:spLocks noGrp="1"/>
          </p:cNvSpPr>
          <p:nvPr/>
        </p:nvSpPr>
        <p:spPr>
          <a:xfrm>
            <a:off x="8286750" y="2781300"/>
            <a:ext cx="297180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Target: directional movement in IGS-aligned indicators.</a:t>
            </a:r>
          </a:p>
          <a:p>
            <a:pPr algn="l">
              <a:defRPr sz="1050" b="0">
                <a:solidFill>
                  <a:srgbClr val="57534E"/>
                </a:solidFill>
              </a:defRPr>
            </a:pPr>
            <a:r>
              <a:rPr sz="1050" b="0">
                <a:solidFill>
                  <a:srgbClr val="57534E"/>
                </a:solidFill>
              </a:rPr>
              <a:t>Signals: top community needs trending downward, follow-through on support, and stronger local hiring loops.</a:t>
            </a:r>
          </a:p>
        </p:txBody>
      </p:sp>
      <p:sp>
        <p:nvSpPr>
          <p:cNvPr id="19" name="Rectangle: Rounded Corners 18">
            <a:extLst>
              <a:ext uri="{FF2B5EF4-FFF2-40B4-BE49-F238E27FC236}">
                <a16:creationId xmlns:a16="http://schemas.microsoft.com/office/drawing/2014/main" id="{1C468ED5-327A-432F-A117-5A9E6CA8F178}"/>
              </a:ext>
            </a:extLst>
          </p:cNvPr>
          <p:cNvSpPr>
            <a:spLocks noGrp="1"/>
          </p:cNvSpPr>
          <p:nvPr/>
        </p:nvSpPr>
        <p:spPr>
          <a:xfrm>
            <a:off x="838200" y="4762500"/>
            <a:ext cx="10534650" cy="1047750"/>
          </a:xfrm>
          <a:prstGeom prst="roundRect">
            <a:avLst>
              <a:gd name="adj" fmla="val 7273"/>
            </a:avLst>
          </a:prstGeom>
          <a:solidFill>
            <a:srgbClr val="FBF6EF"/>
          </a:solidFill>
          <a:ln w="9525">
            <a:solidFill>
              <a:srgbClr val="D6D0C7"/>
            </a:solidFill>
            <a:prstDash val="solid"/>
          </a:ln>
        </p:spPr>
        <p:txBody>
          <a:bodyPr/>
          <a:lstStyle/>
          <a:p>
            <a:endParaRPr lang="en-US"/>
          </a:p>
        </p:txBody>
      </p:sp>
      <p:sp>
        <p:nvSpPr>
          <p:cNvPr id="20" name="Rectangle 19">
            <a:extLst>
              <a:ext uri="{FF2B5EF4-FFF2-40B4-BE49-F238E27FC236}">
                <a16:creationId xmlns:a16="http://schemas.microsoft.com/office/drawing/2014/main" id="{793BEDB4-B296-42F4-AC87-C6C966BC0732}"/>
              </a:ext>
            </a:extLst>
          </p:cNvPr>
          <p:cNvSpPr>
            <a:spLocks noGrp="1"/>
          </p:cNvSpPr>
          <p:nvPr/>
        </p:nvSpPr>
        <p:spPr>
          <a:xfrm>
            <a:off x="1104900" y="49530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What counts as success by month 12</a:t>
            </a:r>
          </a:p>
        </p:txBody>
      </p:sp>
      <p:sp>
        <p:nvSpPr>
          <p:cNvPr id="21" name="Rectangle 20">
            <a:extLst>
              <a:ext uri="{FF2B5EF4-FFF2-40B4-BE49-F238E27FC236}">
                <a16:creationId xmlns:a16="http://schemas.microsoft.com/office/drawing/2014/main" id="{266A44CB-ECBB-4A65-B7B3-0F5B0A7D3B38}"/>
              </a:ext>
            </a:extLst>
          </p:cNvPr>
          <p:cNvSpPr>
            <a:spLocks noGrp="1"/>
          </p:cNvSpPr>
          <p:nvPr/>
        </p:nvSpPr>
        <p:spPr>
          <a:xfrm>
            <a:off x="1104900" y="5276850"/>
            <a:ext cx="9525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7534E"/>
                </a:solidFill>
              </a:defRPr>
            </a:pPr>
            <a:r>
              <a:rPr sz="1125" b="0">
                <a:solidFill>
                  <a:srgbClr val="57534E"/>
                </a:solidFill>
              </a:rPr>
              <a:t>The same framework that identified the gaps should show whether CAN closed them. That means resident usage, business formation, stakeholder engagement, and community indicators all need to move together.</a:t>
            </a:r>
          </a:p>
        </p:txBody>
      </p:sp>
      <p:sp>
        <p:nvSpPr>
          <p:cNvPr id="22" name="Rectangle 21">
            <a:extLst>
              <a:ext uri="{FF2B5EF4-FFF2-40B4-BE49-F238E27FC236}">
                <a16:creationId xmlns:a16="http://schemas.microsoft.com/office/drawing/2014/main" id="{D85AB9C8-FFB4-4B1A-9C39-D3D3C099EA83}"/>
              </a:ext>
            </a:extLst>
          </p:cNvPr>
          <p:cNvSpPr>
            <a:spLocks noGrp="1"/>
          </p:cNvSpPr>
          <p:nvPr/>
        </p:nvSpPr>
        <p:spPr>
          <a:xfrm>
            <a:off x="609600" y="6515100"/>
            <a:ext cx="10972800" cy="11430"/>
          </a:xfrm>
          <a:prstGeom prst="rect">
            <a:avLst/>
          </a:prstGeom>
          <a:solidFill>
            <a:srgbClr val="D6D0C7"/>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C11BB83B-63B1-45AA-9652-F014364E3396}"/>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CAN prototype screenshots from the April 27, 2026 Figma Make build. On-screen platform metrics are mock pilot targets adopted as CAN year-1 goals for the pitch.</a:t>
            </a:r>
          </a:p>
        </p:txBody>
      </p:sp>
    </p:spTree>
    <p:extLst>
      <p:ext uri="{BB962C8B-B14F-4D97-AF65-F5344CB8AC3E}">
        <p14:creationId xmlns:p14="http://schemas.microsoft.com/office/powerpoint/2010/main" val="1502510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41" name="Oval 40">
            <a:extLst>
              <a:ext uri="{FF2B5EF4-FFF2-40B4-BE49-F238E27FC236}">
                <a16:creationId xmlns:a16="http://schemas.microsoft.com/office/drawing/2014/main" id="{D1FDBCCC-73A2-41C4-8138-A403E819BB0A}"/>
              </a:ext>
            </a:extLst>
          </p:cNvPr>
          <p:cNvSpPr>
            <a:spLocks noGrp="1"/>
          </p:cNvSpPr>
          <p:nvPr/>
        </p:nvSpPr>
        <p:spPr>
          <a:xfrm>
            <a:off x="9858375" y="-904875"/>
            <a:ext cx="2762250" cy="2762250"/>
          </a:xfrm>
          <a:prstGeom prst="ellipse">
            <a:avLst/>
          </a:prstGeom>
          <a:solidFill>
            <a:srgbClr val="F8D2A2">
              <a:alpha val="40000"/>
            </a:srgbClr>
          </a:solidFill>
          <a:ln w="0">
            <a:solidFill>
              <a:srgbClr val="000000">
                <a:alpha val="0"/>
              </a:srgbClr>
            </a:solidFill>
            <a:prstDash val="solid"/>
          </a:ln>
        </p:spPr>
        <p:txBody>
          <a:bodyPr/>
          <a:lstStyle/>
          <a:p>
            <a:endParaRPr lang="en-US"/>
          </a:p>
        </p:txBody>
      </p:sp>
      <p:sp>
        <p:nvSpPr>
          <p:cNvPr id="2" name="Oval 1">
            <a:extLst>
              <a:ext uri="{FF2B5EF4-FFF2-40B4-BE49-F238E27FC236}">
                <a16:creationId xmlns:a16="http://schemas.microsoft.com/office/drawing/2014/main" id="{B0526516-45A7-41B4-854B-53831E6252D0}"/>
              </a:ext>
            </a:extLst>
          </p:cNvPr>
          <p:cNvSpPr>
            <a:spLocks noGrp="1"/>
          </p:cNvSpPr>
          <p:nvPr/>
        </p:nvSpPr>
        <p:spPr>
          <a:xfrm>
            <a:off x="10572750" y="-666750"/>
            <a:ext cx="2286000" cy="2286000"/>
          </a:xfrm>
          <a:prstGeom prst="ellipse">
            <a:avLst/>
          </a:prstGeom>
          <a:solidFill>
            <a:srgbClr val="E94B35">
              <a:alpha val="37647"/>
            </a:srgbClr>
          </a:soli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F06BB1EE-F078-48BD-A015-11DA42AE75F7}"/>
              </a:ext>
            </a:extLst>
          </p:cNvPr>
          <p:cNvSpPr>
            <a:spLocks noGrp="1"/>
          </p:cNvSpPr>
          <p:nvPr/>
        </p:nvSpPr>
        <p:spPr>
          <a:xfrm>
            <a:off x="-857250" y="5524500"/>
            <a:ext cx="2095500" cy="2095500"/>
          </a:xfrm>
          <a:prstGeom prst="ellipse">
            <a:avLst/>
          </a:prstGeom>
          <a:solidFill>
            <a:srgbClr val="D95F4D">
              <a:alpha val="9412"/>
            </a:srgbClr>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80816AF2-8E99-4D80-8D3A-F23C268603FE}"/>
              </a:ext>
            </a:extLst>
          </p:cNvPr>
          <p:cNvSpPr>
            <a:spLocks noGrp="1"/>
          </p:cNvSpPr>
          <p:nvPr/>
        </p:nvSpPr>
        <p:spPr>
          <a:xfrm>
            <a:off x="0" y="0"/>
            <a:ext cx="12192000" cy="6858000"/>
          </a:xfrm>
          <a:prstGeom prst="rect">
            <a:avLst/>
          </a:prstGeom>
          <a:solidFill>
            <a:srgbClr val="000000">
              <a:alpha val="0"/>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67F351C-2B73-4F78-93DF-FC27EF569EB6}"/>
              </a:ext>
            </a:extLst>
          </p:cNvPr>
          <p:cNvSpPr>
            <a:spLocks noGrp="1"/>
          </p:cNvSpPr>
          <p:nvPr/>
        </p:nvSpPr>
        <p:spPr>
          <a:xfrm>
            <a:off x="609600" y="3238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E63A2F"/>
                </a:solidFill>
              </a:defRPr>
            </a:pPr>
            <a:r>
              <a:rPr sz="900" b="1">
                <a:solidFill>
                  <a:srgbClr val="E63A2F"/>
                </a:solidFill>
              </a:rPr>
              <a:t>CONCLUSION / ACKNOWLEDGEMENTS</a:t>
            </a:r>
          </a:p>
        </p:txBody>
      </p:sp>
      <p:sp>
        <p:nvSpPr>
          <p:cNvPr id="6" name="Rectangle 5">
            <a:extLst>
              <a:ext uri="{FF2B5EF4-FFF2-40B4-BE49-F238E27FC236}">
                <a16:creationId xmlns:a16="http://schemas.microsoft.com/office/drawing/2014/main" id="{3348DB96-F9C7-430E-86B0-147CAA54644D}"/>
              </a:ext>
            </a:extLst>
          </p:cNvPr>
          <p:cNvSpPr>
            <a:spLocks noGrp="1"/>
          </p:cNvSpPr>
          <p:nvPr/>
        </p:nvSpPr>
        <p:spPr>
          <a:xfrm>
            <a:off x="10906125" y="323850"/>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00" b="0">
                <a:solidFill>
                  <a:srgbClr val="8A8074"/>
                </a:solidFill>
              </a:defRPr>
            </a:pPr>
            <a:r>
              <a:rPr sz="900" b="0">
                <a:solidFill>
                  <a:srgbClr val="8A8074"/>
                </a:solidFill>
              </a:rPr>
              <a:t>10 / 10</a:t>
            </a:r>
          </a:p>
        </p:txBody>
      </p:sp>
      <p:sp>
        <p:nvSpPr>
          <p:cNvPr id="7" name="Rectangle 6">
            <a:extLst>
              <a:ext uri="{FF2B5EF4-FFF2-40B4-BE49-F238E27FC236}">
                <a16:creationId xmlns:a16="http://schemas.microsoft.com/office/drawing/2014/main" id="{449CF06F-72C1-4751-BA1D-4D96108D3092}"/>
              </a:ext>
            </a:extLst>
          </p:cNvPr>
          <p:cNvSpPr>
            <a:spLocks noGrp="1"/>
          </p:cNvSpPr>
          <p:nvPr/>
        </p:nvSpPr>
        <p:spPr>
          <a:xfrm>
            <a:off x="609600" y="819150"/>
            <a:ext cx="76200" cy="876300"/>
          </a:xfrm>
          <a:prstGeom prst="rect">
            <a:avLst/>
          </a:prstGeom>
          <a:solidFill>
            <a:srgbClr val="E63A2F"/>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69446DA5-5877-4E90-998C-E07AA0596B23}"/>
              </a:ext>
            </a:extLst>
          </p:cNvPr>
          <p:cNvSpPr>
            <a:spLocks noGrp="1"/>
          </p:cNvSpPr>
          <p:nvPr/>
        </p:nvSpPr>
        <p:spPr>
          <a:xfrm>
            <a:off x="838200" y="762000"/>
            <a:ext cx="7810500" cy="685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181818"/>
                </a:solidFill>
              </a:defRPr>
            </a:pPr>
            <a:r>
              <a:rPr sz="2250" b="1">
                <a:solidFill>
                  <a:srgbClr val="181818"/>
                </a:solidFill>
              </a:rPr>
              <a:t>Conclusion, ask, and acknowledgements</a:t>
            </a:r>
          </a:p>
        </p:txBody>
      </p:sp>
      <p:sp>
        <p:nvSpPr>
          <p:cNvPr id="9" name="Rectangle 8">
            <a:extLst>
              <a:ext uri="{FF2B5EF4-FFF2-40B4-BE49-F238E27FC236}">
                <a16:creationId xmlns:a16="http://schemas.microsoft.com/office/drawing/2014/main" id="{39C71264-9064-4763-9743-11874794F54C}"/>
              </a:ext>
            </a:extLst>
          </p:cNvPr>
          <p:cNvSpPr>
            <a:spLocks noGrp="1"/>
          </p:cNvSpPr>
          <p:nvPr/>
        </p:nvSpPr>
        <p:spPr>
          <a:xfrm>
            <a:off x="838200" y="14478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7534E"/>
                </a:solidFill>
              </a:defRPr>
            </a:pPr>
            <a:r>
              <a:rPr sz="1200" b="0">
                <a:solidFill>
                  <a:srgbClr val="57534E"/>
                </a:solidFill>
              </a:rPr>
              <a:t>Fund a measurable platform for turning low-IGS community gaps into resident-owned economic opportunity.</a:t>
            </a:r>
          </a:p>
        </p:txBody>
      </p:sp>
      <p:sp>
        <p:nvSpPr>
          <p:cNvPr id="10" name="Rectangle: Rounded Corners 9">
            <a:extLst>
              <a:ext uri="{FF2B5EF4-FFF2-40B4-BE49-F238E27FC236}">
                <a16:creationId xmlns:a16="http://schemas.microsoft.com/office/drawing/2014/main" id="{3684883B-F7C5-4D50-946D-B4F7ABCB57FD}"/>
              </a:ext>
            </a:extLst>
          </p:cNvPr>
          <p:cNvSpPr>
            <a:spLocks noGrp="1"/>
          </p:cNvSpPr>
          <p:nvPr/>
        </p:nvSpPr>
        <p:spPr>
          <a:xfrm>
            <a:off x="838200" y="2247900"/>
            <a:ext cx="2362200" cy="1352550"/>
          </a:xfrm>
          <a:prstGeom prst="roundRect">
            <a:avLst>
              <a:gd name="adj" fmla="val 5797"/>
            </a:avLst>
          </a:prstGeom>
          <a:solidFill>
            <a:srgbClr val="E63A2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14A747E9-421E-4063-A664-9A41DD92622E}"/>
              </a:ext>
            </a:extLst>
          </p:cNvPr>
          <p:cNvSpPr>
            <a:spLocks noGrp="1"/>
          </p:cNvSpPr>
          <p:nvPr/>
        </p:nvSpPr>
        <p:spPr>
          <a:xfrm>
            <a:off x="1028700" y="24193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a:solidFill>
                  <a:srgbClr val="FFFFFF"/>
                </a:solidFill>
              </a:rPr>
              <a:t>$500K</a:t>
            </a:r>
          </a:p>
        </p:txBody>
      </p:sp>
      <p:sp>
        <p:nvSpPr>
          <p:cNvPr id="12" name="Rectangle 11">
            <a:extLst>
              <a:ext uri="{FF2B5EF4-FFF2-40B4-BE49-F238E27FC236}">
                <a16:creationId xmlns:a16="http://schemas.microsoft.com/office/drawing/2014/main" id="{ABAE7347-9D8D-43F2-86D1-29FA72B8FB7E}"/>
              </a:ext>
            </a:extLst>
          </p:cNvPr>
          <p:cNvSpPr>
            <a:spLocks noGrp="1"/>
          </p:cNvSpPr>
          <p:nvPr/>
        </p:nvSpPr>
        <p:spPr>
          <a:xfrm>
            <a:off x="1028700" y="28765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Pilot budget</a:t>
            </a:r>
          </a:p>
        </p:txBody>
      </p:sp>
      <p:sp>
        <p:nvSpPr>
          <p:cNvPr id="13" name="Rectangle 12">
            <a:extLst>
              <a:ext uri="{FF2B5EF4-FFF2-40B4-BE49-F238E27FC236}">
                <a16:creationId xmlns:a16="http://schemas.microsoft.com/office/drawing/2014/main" id="{C7AC13AC-11DC-44C0-8448-A18878F26178}"/>
              </a:ext>
            </a:extLst>
          </p:cNvPr>
          <p:cNvSpPr>
            <a:spLocks noGrp="1"/>
          </p:cNvSpPr>
          <p:nvPr/>
        </p:nvSpPr>
        <p:spPr>
          <a:xfrm>
            <a:off x="1028700" y="32766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18 months to launch and evaluate.</a:t>
            </a:r>
          </a:p>
        </p:txBody>
      </p:sp>
      <p:sp>
        <p:nvSpPr>
          <p:cNvPr id="14" name="Rectangle: Rounded Corners 13">
            <a:extLst>
              <a:ext uri="{FF2B5EF4-FFF2-40B4-BE49-F238E27FC236}">
                <a16:creationId xmlns:a16="http://schemas.microsoft.com/office/drawing/2014/main" id="{A38D6D90-FCDD-4062-9170-9D5C2CC448FA}"/>
              </a:ext>
            </a:extLst>
          </p:cNvPr>
          <p:cNvSpPr>
            <a:spLocks noGrp="1"/>
          </p:cNvSpPr>
          <p:nvPr/>
        </p:nvSpPr>
        <p:spPr>
          <a:xfrm>
            <a:off x="3429000" y="2247900"/>
            <a:ext cx="2362200" cy="1352550"/>
          </a:xfrm>
          <a:prstGeom prst="roundRect">
            <a:avLst>
              <a:gd name="adj" fmla="val 5797"/>
            </a:avLst>
          </a:prstGeom>
          <a:solidFill>
            <a:srgbClr val="F4A321"/>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C3840E3D-CD34-42EE-B0DF-7658073125A4}"/>
              </a:ext>
            </a:extLst>
          </p:cNvPr>
          <p:cNvSpPr>
            <a:spLocks noGrp="1"/>
          </p:cNvSpPr>
          <p:nvPr/>
        </p:nvSpPr>
        <p:spPr>
          <a:xfrm>
            <a:off x="3619500" y="24193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dirty="0">
                <a:solidFill>
                  <a:schemeClr val="tx1">
                    <a:lumMod val="95000"/>
                    <a:lumOff val="5000"/>
                  </a:schemeClr>
                </a:solidFill>
              </a:rPr>
              <a:t>18 months</a:t>
            </a:r>
          </a:p>
        </p:txBody>
      </p:sp>
      <p:sp>
        <p:nvSpPr>
          <p:cNvPr id="16" name="Rectangle 15">
            <a:extLst>
              <a:ext uri="{FF2B5EF4-FFF2-40B4-BE49-F238E27FC236}">
                <a16:creationId xmlns:a16="http://schemas.microsoft.com/office/drawing/2014/main" id="{136AAA05-2709-4CA7-AACD-5DF842B0163B}"/>
              </a:ext>
            </a:extLst>
          </p:cNvPr>
          <p:cNvSpPr>
            <a:spLocks noGrp="1"/>
          </p:cNvSpPr>
          <p:nvPr/>
        </p:nvSpPr>
        <p:spPr>
          <a:xfrm>
            <a:off x="3619500" y="28765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dirty="0">
                <a:solidFill>
                  <a:schemeClr val="tx1">
                    <a:lumMod val="95000"/>
                    <a:lumOff val="5000"/>
                  </a:schemeClr>
                </a:solidFill>
              </a:rPr>
              <a:t>Deployment</a:t>
            </a:r>
            <a:r>
              <a:rPr sz="1125" b="1" dirty="0">
                <a:solidFill>
                  <a:srgbClr val="FFFFFF"/>
                </a:solidFill>
              </a:rPr>
              <a:t> </a:t>
            </a:r>
            <a:r>
              <a:rPr sz="1125" b="1" dirty="0">
                <a:solidFill>
                  <a:schemeClr val="tx1">
                    <a:lumMod val="95000"/>
                    <a:lumOff val="5000"/>
                  </a:schemeClr>
                </a:solidFill>
              </a:rPr>
              <a:t>window</a:t>
            </a:r>
          </a:p>
        </p:txBody>
      </p:sp>
      <p:sp>
        <p:nvSpPr>
          <p:cNvPr id="17" name="Rectangle 16">
            <a:extLst>
              <a:ext uri="{FF2B5EF4-FFF2-40B4-BE49-F238E27FC236}">
                <a16:creationId xmlns:a16="http://schemas.microsoft.com/office/drawing/2014/main" id="{C83A5AA0-2F5A-42F8-82DC-6312864B2071}"/>
              </a:ext>
            </a:extLst>
          </p:cNvPr>
          <p:cNvSpPr>
            <a:spLocks noGrp="1"/>
          </p:cNvSpPr>
          <p:nvPr/>
        </p:nvSpPr>
        <p:spPr>
          <a:xfrm>
            <a:off x="3619500" y="32766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dirty="0">
                <a:solidFill>
                  <a:schemeClr val="tx1">
                    <a:lumMod val="95000"/>
                    <a:lumOff val="5000"/>
                  </a:schemeClr>
                </a:solidFill>
              </a:rPr>
              <a:t>Six months to launch, twelve to measure.</a:t>
            </a:r>
          </a:p>
        </p:txBody>
      </p:sp>
      <p:sp>
        <p:nvSpPr>
          <p:cNvPr id="18" name="Rectangle: Rounded Corners 17">
            <a:extLst>
              <a:ext uri="{FF2B5EF4-FFF2-40B4-BE49-F238E27FC236}">
                <a16:creationId xmlns:a16="http://schemas.microsoft.com/office/drawing/2014/main" id="{62DF7E16-1C7B-4CF9-B1EA-C16BABBC8BD5}"/>
              </a:ext>
            </a:extLst>
          </p:cNvPr>
          <p:cNvSpPr>
            <a:spLocks noGrp="1"/>
          </p:cNvSpPr>
          <p:nvPr/>
        </p:nvSpPr>
        <p:spPr>
          <a:xfrm>
            <a:off x="6019800" y="2247900"/>
            <a:ext cx="2362200" cy="1352550"/>
          </a:xfrm>
          <a:prstGeom prst="roundRect">
            <a:avLst>
              <a:gd name="adj" fmla="val 5797"/>
            </a:avLst>
          </a:prstGeom>
          <a:solidFill>
            <a:srgbClr val="0E8C86"/>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517A78C5-8AAF-4223-B54B-DDCC1A20A223}"/>
              </a:ext>
            </a:extLst>
          </p:cNvPr>
          <p:cNvSpPr>
            <a:spLocks noGrp="1"/>
          </p:cNvSpPr>
          <p:nvPr/>
        </p:nvSpPr>
        <p:spPr>
          <a:xfrm>
            <a:off x="6210300" y="24193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a:solidFill>
                  <a:srgbClr val="FFFFFF"/>
                </a:solidFill>
              </a:rPr>
              <a:t>5 tracts</a:t>
            </a:r>
          </a:p>
        </p:txBody>
      </p:sp>
      <p:sp>
        <p:nvSpPr>
          <p:cNvPr id="20" name="Rectangle 19">
            <a:extLst>
              <a:ext uri="{FF2B5EF4-FFF2-40B4-BE49-F238E27FC236}">
                <a16:creationId xmlns:a16="http://schemas.microsoft.com/office/drawing/2014/main" id="{2BC23743-02B4-44DD-A77B-CF40B65EB229}"/>
              </a:ext>
            </a:extLst>
          </p:cNvPr>
          <p:cNvSpPr>
            <a:spLocks noGrp="1"/>
          </p:cNvSpPr>
          <p:nvPr/>
        </p:nvSpPr>
        <p:spPr>
          <a:xfrm>
            <a:off x="6210300" y="28765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Phase-1 community focus</a:t>
            </a:r>
          </a:p>
        </p:txBody>
      </p:sp>
      <p:sp>
        <p:nvSpPr>
          <p:cNvPr id="21" name="Rectangle 20">
            <a:extLst>
              <a:ext uri="{FF2B5EF4-FFF2-40B4-BE49-F238E27FC236}">
                <a16:creationId xmlns:a16="http://schemas.microsoft.com/office/drawing/2014/main" id="{8D5569DD-322F-49F2-AE87-A511DB0CCAD2}"/>
              </a:ext>
            </a:extLst>
          </p:cNvPr>
          <p:cNvSpPr>
            <a:spLocks noGrp="1"/>
          </p:cNvSpPr>
          <p:nvPr/>
        </p:nvSpPr>
        <p:spPr>
          <a:xfrm>
            <a:off x="6210300" y="32766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Selected from the EOTR low-IGS pool.</a:t>
            </a:r>
          </a:p>
        </p:txBody>
      </p:sp>
      <p:sp>
        <p:nvSpPr>
          <p:cNvPr id="22" name="Rectangle: Rounded Corners 21">
            <a:extLst>
              <a:ext uri="{FF2B5EF4-FFF2-40B4-BE49-F238E27FC236}">
                <a16:creationId xmlns:a16="http://schemas.microsoft.com/office/drawing/2014/main" id="{E8496ECB-48A2-4961-868B-7C7A0AD27537}"/>
              </a:ext>
            </a:extLst>
          </p:cNvPr>
          <p:cNvSpPr>
            <a:spLocks noGrp="1"/>
          </p:cNvSpPr>
          <p:nvPr/>
        </p:nvSpPr>
        <p:spPr>
          <a:xfrm>
            <a:off x="8610600" y="2247900"/>
            <a:ext cx="2362200" cy="1352550"/>
          </a:xfrm>
          <a:prstGeom prst="roundRect">
            <a:avLst>
              <a:gd name="adj" fmla="val 5797"/>
            </a:avLst>
          </a:prstGeom>
          <a:solidFill>
            <a:srgbClr val="265E8B"/>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59BEE28E-6549-47B8-A715-6D43745C1D18}"/>
              </a:ext>
            </a:extLst>
          </p:cNvPr>
          <p:cNvSpPr>
            <a:spLocks noGrp="1"/>
          </p:cNvSpPr>
          <p:nvPr/>
        </p:nvSpPr>
        <p:spPr>
          <a:xfrm>
            <a:off x="8801100" y="2419350"/>
            <a:ext cx="19812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FFFFF"/>
                </a:solidFill>
              </a:defRPr>
            </a:pPr>
            <a:r>
              <a:rPr sz="2250" b="1">
                <a:solidFill>
                  <a:srgbClr val="FFFFFF"/>
                </a:solidFill>
              </a:rPr>
              <a:t>CAN</a:t>
            </a:r>
          </a:p>
        </p:txBody>
      </p:sp>
      <p:sp>
        <p:nvSpPr>
          <p:cNvPr id="24" name="Rectangle 23">
            <a:extLst>
              <a:ext uri="{FF2B5EF4-FFF2-40B4-BE49-F238E27FC236}">
                <a16:creationId xmlns:a16="http://schemas.microsoft.com/office/drawing/2014/main" id="{51EDC854-CA79-4F64-B6B3-3F9BB9037C71}"/>
              </a:ext>
            </a:extLst>
          </p:cNvPr>
          <p:cNvSpPr>
            <a:spLocks noGrp="1"/>
          </p:cNvSpPr>
          <p:nvPr/>
        </p:nvSpPr>
        <p:spPr>
          <a:xfrm>
            <a:off x="8801100" y="2876550"/>
            <a:ext cx="19812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defRPr>
            </a:pPr>
            <a:r>
              <a:rPr sz="1125" b="1">
                <a:solidFill>
                  <a:srgbClr val="FFFFFF"/>
                </a:solidFill>
              </a:rPr>
              <a:t>Platform deliverable</a:t>
            </a:r>
          </a:p>
        </p:txBody>
      </p:sp>
      <p:sp>
        <p:nvSpPr>
          <p:cNvPr id="25" name="Rectangle 24">
            <a:extLst>
              <a:ext uri="{FF2B5EF4-FFF2-40B4-BE49-F238E27FC236}">
                <a16:creationId xmlns:a16="http://schemas.microsoft.com/office/drawing/2014/main" id="{AA38FFB2-DFDD-421F-A328-301D72D65FBB}"/>
              </a:ext>
            </a:extLst>
          </p:cNvPr>
          <p:cNvSpPr>
            <a:spLocks noGrp="1"/>
          </p:cNvSpPr>
          <p:nvPr/>
        </p:nvSpPr>
        <p:spPr>
          <a:xfrm>
            <a:off x="8801100" y="3276600"/>
            <a:ext cx="19812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FFFFFF"/>
                </a:solidFill>
              </a:defRPr>
            </a:pPr>
            <a:r>
              <a:rPr sz="975" b="0">
                <a:solidFill>
                  <a:srgbClr val="FFFFFF"/>
                </a:solidFill>
              </a:rPr>
              <a:t>Community data -&gt; opportunity -&gt; support.</a:t>
            </a:r>
          </a:p>
        </p:txBody>
      </p:sp>
      <p:sp>
        <p:nvSpPr>
          <p:cNvPr id="26" name="Rectangle: Rounded Corners 25">
            <a:extLst>
              <a:ext uri="{FF2B5EF4-FFF2-40B4-BE49-F238E27FC236}">
                <a16:creationId xmlns:a16="http://schemas.microsoft.com/office/drawing/2014/main" id="{9B270163-E2A0-46C3-A6C7-D1E411279F4E}"/>
              </a:ext>
            </a:extLst>
          </p:cNvPr>
          <p:cNvSpPr>
            <a:spLocks noGrp="1"/>
          </p:cNvSpPr>
          <p:nvPr/>
        </p:nvSpPr>
        <p:spPr>
          <a:xfrm>
            <a:off x="838200" y="3943350"/>
            <a:ext cx="5067300" cy="1676400"/>
          </a:xfrm>
          <a:prstGeom prst="roundRect">
            <a:avLst>
              <a:gd name="adj" fmla="val 4545"/>
            </a:avLst>
          </a:prstGeom>
          <a:solidFill>
            <a:srgbClr val="FFFDF8"/>
          </a:solidFill>
          <a:ln w="9525">
            <a:solidFill>
              <a:srgbClr val="D6D0C7"/>
            </a:solidFill>
            <a:prstDash val="solid"/>
          </a:ln>
        </p:spPr>
        <p:txBody>
          <a:bodyPr/>
          <a:lstStyle/>
          <a:p>
            <a:endParaRPr lang="en-US"/>
          </a:p>
        </p:txBody>
      </p:sp>
      <p:sp>
        <p:nvSpPr>
          <p:cNvPr id="27" name="Rectangle 26">
            <a:extLst>
              <a:ext uri="{FF2B5EF4-FFF2-40B4-BE49-F238E27FC236}">
                <a16:creationId xmlns:a16="http://schemas.microsoft.com/office/drawing/2014/main" id="{DEE84FA3-AF4B-4B6A-9E0E-C05A07723690}"/>
              </a:ext>
            </a:extLst>
          </p:cNvPr>
          <p:cNvSpPr>
            <a:spLocks noGrp="1"/>
          </p:cNvSpPr>
          <p:nvPr/>
        </p:nvSpPr>
        <p:spPr>
          <a:xfrm>
            <a:off x="838200" y="3943350"/>
            <a:ext cx="57150" cy="1676400"/>
          </a:xfrm>
          <a:prstGeom prst="rect">
            <a:avLst/>
          </a:prstGeom>
          <a:solidFill>
            <a:srgbClr val="E63A2F"/>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4498C673-E717-4EBA-8F36-8AD213BE0A0F}"/>
              </a:ext>
            </a:extLst>
          </p:cNvPr>
          <p:cNvSpPr>
            <a:spLocks noGrp="1"/>
          </p:cNvSpPr>
          <p:nvPr/>
        </p:nvSpPr>
        <p:spPr>
          <a:xfrm>
            <a:off x="1047750" y="4114800"/>
            <a:ext cx="47434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Revised core thesis</a:t>
            </a:r>
          </a:p>
        </p:txBody>
      </p:sp>
      <p:sp>
        <p:nvSpPr>
          <p:cNvPr id="29" name="Rectangle 28">
            <a:extLst>
              <a:ext uri="{FF2B5EF4-FFF2-40B4-BE49-F238E27FC236}">
                <a16:creationId xmlns:a16="http://schemas.microsoft.com/office/drawing/2014/main" id="{D7073C2B-2629-4AF6-936D-7EBC60E73D68}"/>
              </a:ext>
            </a:extLst>
          </p:cNvPr>
          <p:cNvSpPr>
            <a:spLocks noGrp="1"/>
          </p:cNvSpPr>
          <p:nvPr/>
        </p:nvSpPr>
        <p:spPr>
          <a:xfrm>
            <a:off x="1047750" y="4457700"/>
            <a:ext cx="47434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Healthcare access in EOTR is downstream of economic conditions. CAN turns IGS data into local opportunity by helping residents start the businesses their communities need and helping stakeholders find them. Small businesses are the mechanism.</a:t>
            </a:r>
          </a:p>
        </p:txBody>
      </p:sp>
      <p:sp>
        <p:nvSpPr>
          <p:cNvPr id="30" name="Rectangle: Rounded Corners 29">
            <a:extLst>
              <a:ext uri="{FF2B5EF4-FFF2-40B4-BE49-F238E27FC236}">
                <a16:creationId xmlns:a16="http://schemas.microsoft.com/office/drawing/2014/main" id="{F918A2C8-85A8-4477-BA96-C6B8F3F23B39}"/>
              </a:ext>
            </a:extLst>
          </p:cNvPr>
          <p:cNvSpPr>
            <a:spLocks noGrp="1"/>
          </p:cNvSpPr>
          <p:nvPr/>
        </p:nvSpPr>
        <p:spPr>
          <a:xfrm>
            <a:off x="6305550" y="3943350"/>
            <a:ext cx="5048250" cy="1676400"/>
          </a:xfrm>
          <a:prstGeom prst="roundRect">
            <a:avLst>
              <a:gd name="adj" fmla="val 4545"/>
            </a:avLst>
          </a:prstGeom>
          <a:solidFill>
            <a:srgbClr val="FFFDF8"/>
          </a:solidFill>
          <a:ln w="9525">
            <a:solidFill>
              <a:srgbClr val="D6D0C7"/>
            </a:solidFill>
            <a:prstDash val="solid"/>
          </a:ln>
        </p:spPr>
        <p:txBody>
          <a:bodyPr/>
          <a:lstStyle/>
          <a:p>
            <a:endParaRPr lang="en-US"/>
          </a:p>
        </p:txBody>
      </p:sp>
      <p:sp>
        <p:nvSpPr>
          <p:cNvPr id="31" name="Rectangle 30">
            <a:extLst>
              <a:ext uri="{FF2B5EF4-FFF2-40B4-BE49-F238E27FC236}">
                <a16:creationId xmlns:a16="http://schemas.microsoft.com/office/drawing/2014/main" id="{676E9187-D33E-42AD-84A2-C89B32153CDC}"/>
              </a:ext>
            </a:extLst>
          </p:cNvPr>
          <p:cNvSpPr>
            <a:spLocks noGrp="1"/>
          </p:cNvSpPr>
          <p:nvPr/>
        </p:nvSpPr>
        <p:spPr>
          <a:xfrm>
            <a:off x="6305550" y="3943350"/>
            <a:ext cx="57150" cy="1676400"/>
          </a:xfrm>
          <a:prstGeom prst="rect">
            <a:avLst/>
          </a:prstGeom>
          <a:solidFill>
            <a:srgbClr val="F4A321"/>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3B3A7C58-E76C-49E7-B445-7FBEDDDBA968}"/>
              </a:ext>
            </a:extLst>
          </p:cNvPr>
          <p:cNvSpPr>
            <a:spLocks noGrp="1"/>
          </p:cNvSpPr>
          <p:nvPr/>
        </p:nvSpPr>
        <p:spPr>
          <a:xfrm>
            <a:off x="6515100" y="4114800"/>
            <a:ext cx="47244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1818"/>
                </a:solidFill>
              </a:defRPr>
            </a:pPr>
            <a:r>
              <a:rPr sz="1350" b="1">
                <a:solidFill>
                  <a:srgbClr val="181818"/>
                </a:solidFill>
              </a:rPr>
              <a:t>What Mastercard enables</a:t>
            </a:r>
          </a:p>
        </p:txBody>
      </p:sp>
      <p:sp>
        <p:nvSpPr>
          <p:cNvPr id="33" name="Rectangle 32">
            <a:extLst>
              <a:ext uri="{FF2B5EF4-FFF2-40B4-BE49-F238E27FC236}">
                <a16:creationId xmlns:a16="http://schemas.microsoft.com/office/drawing/2014/main" id="{462FE212-143C-4034-9E2A-1A6C4B2DBEB0}"/>
              </a:ext>
            </a:extLst>
          </p:cNvPr>
          <p:cNvSpPr>
            <a:spLocks noGrp="1"/>
          </p:cNvSpPr>
          <p:nvPr/>
        </p:nvSpPr>
        <p:spPr>
          <a:xfrm>
            <a:off x="6515100" y="4457700"/>
            <a:ext cx="47244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7534E"/>
                </a:solidFill>
              </a:defRPr>
            </a:pPr>
            <a:r>
              <a:rPr sz="1050" b="0">
                <a:solidFill>
                  <a:srgbClr val="57534E"/>
                </a:solidFill>
              </a:rPr>
              <a:t>The $500K covers platform development, AI infrastructure, community deployment in five launch tracts, stakeholder onboarding, and 18 months of measured operations.</a:t>
            </a:r>
          </a:p>
        </p:txBody>
      </p:sp>
      <p:sp>
        <p:nvSpPr>
          <p:cNvPr id="34" name="Rectangle 33">
            <a:extLst>
              <a:ext uri="{FF2B5EF4-FFF2-40B4-BE49-F238E27FC236}">
                <a16:creationId xmlns:a16="http://schemas.microsoft.com/office/drawing/2014/main" id="{7DDF8EDC-7F6C-46B7-A3DF-BBB2CE6920AF}"/>
              </a:ext>
            </a:extLst>
          </p:cNvPr>
          <p:cNvSpPr>
            <a:spLocks noGrp="1"/>
          </p:cNvSpPr>
          <p:nvPr/>
        </p:nvSpPr>
        <p:spPr>
          <a:xfrm>
            <a:off x="838200" y="5715000"/>
            <a:ext cx="8858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81818"/>
                </a:solidFill>
              </a:defRPr>
            </a:pPr>
            <a:r>
              <a:rPr sz="1050" b="1">
                <a:solidFill>
                  <a:srgbClr val="181818"/>
                </a:solidFill>
              </a:rPr>
              <a:t>Same city. One river apart. In DC, life expectancy still varies by roughly 20 years across neighborhoods. That is an inclusive-growth failure.</a:t>
            </a:r>
          </a:p>
        </p:txBody>
      </p:sp>
      <p:sp>
        <p:nvSpPr>
          <p:cNvPr id="35" name="Rectangle 34">
            <a:extLst>
              <a:ext uri="{FF2B5EF4-FFF2-40B4-BE49-F238E27FC236}">
                <a16:creationId xmlns:a16="http://schemas.microsoft.com/office/drawing/2014/main" id="{9C146F6E-55E0-49F3-AEE4-062B7A97DFB6}"/>
              </a:ext>
            </a:extLst>
          </p:cNvPr>
          <p:cNvSpPr>
            <a:spLocks noGrp="1"/>
          </p:cNvSpPr>
          <p:nvPr/>
        </p:nvSpPr>
        <p:spPr>
          <a:xfrm>
            <a:off x="838200" y="6057900"/>
            <a:ext cx="857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7534E"/>
                </a:solidFill>
              </a:defRPr>
            </a:pPr>
            <a:r>
              <a:rPr sz="975" b="0">
                <a:solidFill>
                  <a:srgbClr val="57534E"/>
                </a:solidFill>
              </a:rPr>
              <a:t>The data, the partners, and the payment infrastructure exist. The question is whether we can turn them into a measurable access model. CAN is that model.</a:t>
            </a:r>
          </a:p>
        </p:txBody>
      </p:sp>
      <p:sp>
        <p:nvSpPr>
          <p:cNvPr id="36" name="Rectangle 35">
            <a:extLst>
              <a:ext uri="{FF2B5EF4-FFF2-40B4-BE49-F238E27FC236}">
                <a16:creationId xmlns:a16="http://schemas.microsoft.com/office/drawing/2014/main" id="{BF210290-FCEB-4AD2-A999-F81A75FA73E8}"/>
              </a:ext>
            </a:extLst>
          </p:cNvPr>
          <p:cNvSpPr>
            <a:spLocks noGrp="1"/>
          </p:cNvSpPr>
          <p:nvPr/>
        </p:nvSpPr>
        <p:spPr>
          <a:xfrm>
            <a:off x="838200" y="6286500"/>
            <a:ext cx="8572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8A8074"/>
                </a:solidFill>
              </a:defRPr>
            </a:pPr>
            <a:r>
              <a:rPr sz="825" b="0">
                <a:solidFill>
                  <a:srgbClr val="8A8074"/>
                </a:solidFill>
              </a:rPr>
              <a:t>Data sources: Mastercard IGS, CDC PLACES, ACS, USDA Food Access Atlas, DC Built Environment, HRSA, SBA designations, DC Health 2024 Health Systems Plan.</a:t>
            </a:r>
          </a:p>
        </p:txBody>
      </p:sp>
      <p:sp>
        <p:nvSpPr>
          <p:cNvPr id="37" name="Rectangle 36">
            <a:extLst>
              <a:ext uri="{FF2B5EF4-FFF2-40B4-BE49-F238E27FC236}">
                <a16:creationId xmlns:a16="http://schemas.microsoft.com/office/drawing/2014/main" id="{3E570D20-1231-44D6-AAAE-CC1B03614C8F}"/>
              </a:ext>
            </a:extLst>
          </p:cNvPr>
          <p:cNvSpPr>
            <a:spLocks noGrp="1"/>
          </p:cNvSpPr>
          <p:nvPr/>
        </p:nvSpPr>
        <p:spPr>
          <a:xfrm>
            <a:off x="9220200" y="6286500"/>
            <a:ext cx="2133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E63A2F"/>
                </a:solidFill>
              </a:defRPr>
            </a:pPr>
            <a:r>
              <a:rPr sz="825" b="1" dirty="0">
                <a:solidFill>
                  <a:srgbClr val="E63A2F"/>
                </a:solidFill>
              </a:rPr>
              <a:t>Howard University </a:t>
            </a:r>
            <a:r>
              <a:rPr lang="en-US" sz="825" b="1" dirty="0">
                <a:solidFill>
                  <a:srgbClr val="E63A2F"/>
                </a:solidFill>
              </a:rPr>
              <a:t>|</a:t>
            </a:r>
            <a:r>
              <a:rPr sz="825" b="1" dirty="0">
                <a:solidFill>
                  <a:srgbClr val="E63A2F"/>
                </a:solidFill>
              </a:rPr>
              <a:t> Team Data Benders</a:t>
            </a:r>
          </a:p>
        </p:txBody>
      </p:sp>
      <p:sp>
        <p:nvSpPr>
          <p:cNvPr id="38" name="Rectangle 37">
            <a:extLst>
              <a:ext uri="{FF2B5EF4-FFF2-40B4-BE49-F238E27FC236}">
                <a16:creationId xmlns:a16="http://schemas.microsoft.com/office/drawing/2014/main" id="{96305271-A5EB-491E-9DCE-546F06BA23F1}"/>
              </a:ext>
            </a:extLst>
          </p:cNvPr>
          <p:cNvSpPr>
            <a:spLocks noGrp="1"/>
          </p:cNvSpPr>
          <p:nvPr/>
        </p:nvSpPr>
        <p:spPr>
          <a:xfrm>
            <a:off x="838200" y="6438900"/>
            <a:ext cx="8191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dirty="0">
                <a:solidFill>
                  <a:srgbClr val="8A8074"/>
                </a:solidFill>
              </a:rPr>
              <a:t>Somkenechukwu Onwusika </a:t>
            </a:r>
            <a:r>
              <a:rPr lang="en-US" sz="750" dirty="0">
                <a:solidFill>
                  <a:srgbClr val="8A8074"/>
                </a:solidFill>
              </a:rPr>
              <a:t>|</a:t>
            </a:r>
            <a:r>
              <a:rPr sz="750" b="0" dirty="0">
                <a:solidFill>
                  <a:srgbClr val="8A8074"/>
                </a:solidFill>
              </a:rPr>
              <a:t> </a:t>
            </a:r>
            <a:r>
              <a:rPr sz="750" b="0" dirty="0" err="1">
                <a:solidFill>
                  <a:srgbClr val="8A8074"/>
                </a:solidFill>
              </a:rPr>
              <a:t>Oritsejemiyotan</a:t>
            </a:r>
            <a:r>
              <a:rPr sz="750" b="0" dirty="0">
                <a:solidFill>
                  <a:srgbClr val="8A8074"/>
                </a:solidFill>
              </a:rPr>
              <a:t> </a:t>
            </a:r>
            <a:r>
              <a:rPr sz="750" b="0" dirty="0" err="1">
                <a:solidFill>
                  <a:srgbClr val="8A8074"/>
                </a:solidFill>
              </a:rPr>
              <a:t>Atsagbede</a:t>
            </a:r>
            <a:r>
              <a:rPr sz="750" b="0" dirty="0">
                <a:solidFill>
                  <a:srgbClr val="8A8074"/>
                </a:solidFill>
              </a:rPr>
              <a:t> </a:t>
            </a:r>
            <a:r>
              <a:rPr lang="en-US" sz="750" dirty="0">
                <a:solidFill>
                  <a:srgbClr val="8A8074"/>
                </a:solidFill>
              </a:rPr>
              <a:t>|</a:t>
            </a:r>
            <a:r>
              <a:rPr sz="750" b="0" dirty="0">
                <a:solidFill>
                  <a:srgbClr val="8A8074"/>
                </a:solidFill>
              </a:rPr>
              <a:t> Moyinoluwa Ogunjobi</a:t>
            </a:r>
          </a:p>
        </p:txBody>
      </p:sp>
      <p:sp>
        <p:nvSpPr>
          <p:cNvPr id="40" name="Rectangle 39">
            <a:extLst>
              <a:ext uri="{FF2B5EF4-FFF2-40B4-BE49-F238E27FC236}">
                <a16:creationId xmlns:a16="http://schemas.microsoft.com/office/drawing/2014/main" id="{E0D6D797-7A62-4C2C-A397-59C5D0EB1381}"/>
              </a:ext>
            </a:extLst>
          </p:cNvPr>
          <p:cNvSpPr>
            <a:spLocks noGrp="1"/>
          </p:cNvSpPr>
          <p:nvPr/>
        </p:nvSpPr>
        <p:spPr>
          <a:xfrm>
            <a:off x="609600" y="6572250"/>
            <a:ext cx="109728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8A8074"/>
                </a:solidFill>
              </a:defRPr>
            </a:pPr>
            <a:r>
              <a:rPr sz="750" b="0">
                <a:solidFill>
                  <a:srgbClr val="8A8074"/>
                </a:solidFill>
              </a:rPr>
              <a:t>Healthy economies, healthy communities | Official 10-slide submission deck.</a:t>
            </a:r>
          </a:p>
        </p:txBody>
      </p:sp>
    </p:spTree>
    <p:extLst>
      <p:ext uri="{BB962C8B-B14F-4D97-AF65-F5344CB8AC3E}">
        <p14:creationId xmlns:p14="http://schemas.microsoft.com/office/powerpoint/2010/main" val="7378379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2147</Words>
  <Application>Microsoft Office PowerPoint</Application>
  <DocSecurity>0</DocSecurity>
  <PresentationFormat>Widescreen</PresentationFormat>
  <Paragraphs>233</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Somkene Onwusika</cp:lastModifiedBy>
  <cp:revision>1</cp:revision>
  <dcterms:created xsi:type="dcterms:W3CDTF">2026-04-27T15:14:43Z</dcterms:created>
  <dcterms:modified xsi:type="dcterms:W3CDTF">2026-04-27T15:24:34Z</dcterms:modified>
</cp:coreProperties>
</file>