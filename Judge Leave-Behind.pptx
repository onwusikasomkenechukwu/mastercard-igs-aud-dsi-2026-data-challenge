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6c5332dc7b4756" /><Relationship Type="http://schemas.openxmlformats.org/officeDocument/2006/relationships/extended-properties" Target="/docProps/app.xml" Id="R220b7f375c2c4995" /><Relationship Type="http://schemas.openxmlformats.org/officeDocument/2006/relationships/officeDocument" Target="/ppt/presentation.xml" Id="Rf22441a5b6cc44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3ef9d55adc4bb4"/>
  </p:sldMasterIdLst>
  <p:notesMasterIdLst>
    <p:notesMasterId xmlns:r="http://schemas.openxmlformats.org/officeDocument/2006/relationships" r:id="R84e647c6c4824187"/>
  </p:notesMasterIdLst>
  <p:sldIdLst>
    <p:sldId xmlns:r="http://schemas.openxmlformats.org/officeDocument/2006/relationships" id="256" r:id="R122e96ceaf80476d"/>
  </p:sldIdLst>
  <p:sldSz cx="7772400" cy="100584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3ef9d55adc4bb4" /><Relationship Type="http://schemas.openxmlformats.org/officeDocument/2006/relationships/theme" Target="/ppt/theme/theme1.xml" Id="R46f98069b3d9453d" /><Relationship Type="http://schemas.openxmlformats.org/officeDocument/2006/relationships/notesMaster" Target="/ppt/notesMasters/notesMaster1.xml" Id="R84e647c6c4824187" /><Relationship Type="http://schemas.openxmlformats.org/officeDocument/2006/relationships/presProps" Target="/ppt/presProps.xml" Id="R1f71a409fd984cd2" /><Relationship Type="http://schemas.openxmlformats.org/officeDocument/2006/relationships/viewProps" Target="/ppt/viewProps.xml" Id="R8509f90b1c9f469f" /><Relationship Type="http://schemas.openxmlformats.org/officeDocument/2006/relationships/tableStyles" Target="/ppt/tableStyles.xml" Id="Rcb3e1ec1374342fe" /><Relationship Type="http://schemas.openxmlformats.org/officeDocument/2006/relationships/slide" Target="/ppt/slides/slide1.xml" Id="R122e96ceaf8047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8d6ff26b25c4a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5219f4d3ea4f26" /><Relationship Type="http://schemas.openxmlformats.org/officeDocument/2006/relationships/notesMaster" Target="/ppt/notesMasters/notesMaster1.xml" Id="Rdf8ecb8f3fb040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One-page leave-behind. Replace the contact placeholder before printing or sharing.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5305f2b31545f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AB4133A3-05C1-4390-92DD-59E037EEDD27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6F80D350-A563-4550-AA7C-E085263A0A72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D206667-D135-4C16-AE5B-1DA440EF801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8FCA9E8-DD3A-40FC-AF2B-3833221F7CB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D21DE10-D083-46F0-9689-CF2FAC0136A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3d1104f51e0406d" /><Relationship Type="http://schemas.openxmlformats.org/officeDocument/2006/relationships/slideLayout" Target="/ppt/slideLayouts/slideLayout2.xml" Id="R7da18fba9e774e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E11DC7-2A06-46C8-9877-4636157564DE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a18fba9e774e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afc2c86a004f24" /><Relationship Type="http://schemas.openxmlformats.org/officeDocument/2006/relationships/notesSlide" Target="/ppt/notesSlides/notesSlide1.xml" Id="R40851ce2c72e43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D21DE10-D083-46F0-9689-CF2FAC0136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6B4CB-833B-45CB-A2CD-EFA9277E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3A2F"/>
                </a:solidFill>
              </a:defRPr>
            </a:pPr>
            <a:r>
              <a:rPr sz="900" b="1">
                <a:solidFill>
                  <a:srgbClr val="E63A2F"/>
                </a:solidFill>
              </a:rPr>
              <a:t>MASTERCARD DATA SCIENCE CHALLENGE FINALS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C4083-0334-4412-AB61-8DC13538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1818"/>
                </a:solidFill>
              </a:defRPr>
            </a:pPr>
            <a:r>
              <a:rPr sz="2100" b="1">
                <a:solidFill>
                  <a:srgbClr val="181818"/>
                </a:solidFill>
              </a:rPr>
              <a:t>The sickest DC neighborhoods are closer to care, not farther.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7B611-5944-437F-A7E3-46465F3F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666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34E"/>
                </a:solidFill>
              </a:defRPr>
            </a:pPr>
            <a:r>
              <a:rPr sz="1125" b="0">
                <a:solidFill>
                  <a:srgbClr val="57534E"/>
                </a:solidFill>
              </a:rPr>
              <a:t>Our analysis says the real access constraint is time and economic friction. The pilot asks Mastercard to test one tract-specific wedge: trusted-space telehealth embedded in small businesses.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1EBD1-1048-45A4-9B41-943933EF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63A2F"/>
                </a:solidFill>
              </a:defRPr>
            </a:pPr>
            <a:r>
              <a:rPr sz="825" b="1">
                <a:solidFill>
                  <a:srgbClr val="E63A2F"/>
                </a:solidFill>
              </a:rPr>
              <a:t>Team Data Benders - Howard University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9DF64-4436-4917-9A54-D5356D20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15621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63A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F6E76-E36F-47CC-B099-618E158D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118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48.3%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B67C8-9887-4E38-A044-E469D718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Food insecurity in high-need tracts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DF76D-12B4-4FD4-B344-B5588B85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vs 21.9% in the lowest-need 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8F2B5-70BE-4C38-A170-3A5FEAE8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47900"/>
            <a:ext cx="15621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4A3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B62651-5388-4CD7-9E02-48CA6FDE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19350"/>
            <a:ext cx="118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0.57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7B26B0-6718-4854-88FE-465E757A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765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1818"/>
                </a:solidFill>
              </a:defRPr>
            </a:pPr>
            <a:r>
              <a:rPr sz="1125" b="1">
                <a:solidFill>
                  <a:srgbClr val="181818"/>
                </a:solidFill>
              </a:rPr>
              <a:t>Medical proximity in the same tracts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9E6AE0-CE6D-41A8-9759-2FD2B0D8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813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1818"/>
                </a:solidFill>
              </a:defRPr>
            </a:pPr>
            <a:r>
              <a:rPr sz="900" b="0">
                <a:solidFill>
                  <a:srgbClr val="181818"/>
                </a:solidFill>
              </a:rPr>
              <a:t>Closer to care; worse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A5BCA-3B23-46DF-A238-1D088BCD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247900"/>
            <a:ext cx="15621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65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53ABB-C4FE-4598-8CF6-CEE7DEDD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19350"/>
            <a:ext cx="118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0.69 RÂ²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CACD7-A285-40A4-B691-924790B9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765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Cross-validated tract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796A08-9AC2-430B-9F9B-DBC9A680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813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Honest targeting with measured uncertainty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C5EBB4-A739-4F91-8307-DCCEF0C5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47900"/>
            <a:ext cx="15621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97E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522C46-DA7C-49D0-A615-784982B4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19350"/>
            <a:ext cx="118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$500K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D072B8-9E8C-4455-8B7C-D794CBDE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765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Requested pilot budget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5B9865-4B84-4027-9F0F-26222F0C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813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18 months across five launch tracts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83B736-CDDB-4950-890F-86D71E4C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71900"/>
            <a:ext cx="34290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3B5982-943E-4B45-8562-A75CFD20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1818"/>
                </a:solidFill>
              </a:defRPr>
            </a:pPr>
            <a:r>
              <a:rPr sz="1200" b="1">
                <a:solidFill>
                  <a:srgbClr val="181818"/>
                </a:solidFill>
              </a:rPr>
              <a:t>Named phase-1 launch tracts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795609-B0D6-426B-BF4F-6E640559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28956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7F3EC"/>
          </a:solidFill>
          <a:ln xmlns:a="http://schemas.openxmlformats.org/drawingml/2006/main" w="9525">
            <a:solidFill>
              <a:srgbClr val="E8DD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F251B0-9A14-4104-8870-7F120DAE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62450"/>
            <a:ext cx="133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A8074"/>
                </a:solidFill>
              </a:defRPr>
            </a:pPr>
            <a:r>
              <a:rPr sz="825" b="1">
                <a:solidFill>
                  <a:srgbClr val="8A8074"/>
                </a:solidFill>
              </a:rPr>
              <a:t>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CC42C1-C887-4C86-A5AE-1E0577BB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1485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0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F5402E-68E4-42F5-9FC3-FACF1F01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929" y="545340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064DEE-E544-4A60-B585-17B91232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118" y="505482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603509-4650-4F5A-8F91-0B120205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619" y="534999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8B06BD-D519-424C-BC46-0813F92D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476" y="532109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E7550E-B76C-4DF3-BD13-44CCD946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376" y="524024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D06E21-C397-4411-8628-DDB7A2F8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066" y="521037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937C28-7922-46CC-9571-974DC43F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192" y="528654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A88C4F-BB97-4A00-8001-F4E1DF92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482" y="541026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77BEAB-E585-469C-A455-95C10035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2739" y="522002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FC024F-5B30-40E8-B910-53C7FC08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85" y="510825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A9EF60-F222-409E-9D3E-F3C6C569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668" y="515593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FE0C79-AABC-493B-A116-6BA7AD1F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965" y="499110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203875-0C96-4169-B78D-82DA8BBE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863" y="518516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73CB2F-DE07-4641-9008-FBBCD8DD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702" y="507696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D3F633-9A64-4DB2-874C-30ED8A03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248" y="507771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440529-C062-41F7-A45E-642D04CA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438" y="476348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499D5E-3312-4916-A2B4-8DA200FF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892" y="489329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47D8F2-15D7-47D0-AB07-30F2424A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929" y="474997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803C9C-E7B7-494B-A15A-9FE21A4F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576" y="486359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48E6E8-6890-40D6-BA4B-84454209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387" y="460938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64BEA14-0EE6-4A1D-A00E-C583F9C0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480" y="464125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0AA968A-270F-4F6E-AB9D-A7599F41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981" y="446488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4C3DF9-247A-43DE-A92D-1EB2C8B0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238" y="457357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E3F75C-5757-4A36-9A7F-13F76C19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7208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015C7BB-E8B1-44CA-BBEC-045118D6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677" y="452768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EE2F85D-452B-4A43-ABC7-03720DFA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271" y="44100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7096B28-3347-48D4-BFFA-B2F12DD0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747" y="449612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C7A1667-24D7-4DCF-A575-D9BB27A8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0986" y="467816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075C07E-3600-4C38-8BA6-D302694A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902" y="465757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BA3FDE6-A012-41E8-A5EE-87A86CBA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175" y="555226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77BD110-6F39-483D-962B-73429D54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170" y="559137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E21C6B4-F2E5-49F1-872F-DD060973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628" y="562488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ADECFD3-14CF-40C5-855E-38AC7ACD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738" y="554800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E46DB0F-70C7-40DA-A71D-3513F36E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547" y="545004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B5C24E2-85DA-43F9-AC7C-9AB51C36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43" y="564855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9A486E4-8762-4683-BFC6-59E353C2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240" y="569762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1B03EC4-EF42-4EEE-A635-5E270999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240" y="568811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A914FB9-8A03-49A0-8621-6DC4E4D1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258" y="493356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2C040EB-9B44-4879-A1A2-91DA4DCF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200" y="498873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49BA58A-4E70-4242-BF3B-429199A1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605" y="473256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2EDFEB9-FBCA-46EC-8B43-01BA97A1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540" y="478132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746EC94-EC76-4447-8CF8-D5E56A59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930" y="479436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5369AAF-5601-45DB-9646-38D00465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942" y="473832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7393534-E0D1-4439-9350-5680B0EB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8211" y="481850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F7518E5-EFB4-4860-81B8-05116050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505" y="530668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6E5F6B7-6872-4983-845D-EC69D22C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895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79012FD-AD7A-4B45-9556-C41D090C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122" y="4448497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A2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A7EAB18-4EDB-4037-BE11-4D29FFE1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572" y="4296097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63A2F"/>
                </a:solidFill>
              </a:defRPr>
            </a:pPr>
            <a:r>
              <a:rPr sz="750" b="1">
                <a:solidFill>
                  <a:srgbClr val="E63A2F"/>
                </a:solidFill>
              </a:rPr>
              <a:t>96.02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5EC1380-14E1-431C-BCE8-02B2DBEC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994" y="5302373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321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4F2752E-5783-4C68-A037-AF19B894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444" y="5435723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4A321"/>
                </a:solidFill>
              </a:defRPr>
            </a:pPr>
            <a:r>
              <a:rPr sz="750" b="1">
                <a:solidFill>
                  <a:srgbClr val="F4A321"/>
                </a:solidFill>
              </a:rPr>
              <a:t>74.03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06444CD-25DD-451C-B336-206835D6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567" y="5238923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C86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2AB7A63-CB3D-4DE5-970E-6E9C5BDB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017" y="5219873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E8C86"/>
                </a:solidFill>
              </a:defRPr>
            </a:pPr>
            <a:r>
              <a:rPr sz="750" b="1">
                <a:solidFill>
                  <a:srgbClr val="0E8C86"/>
                </a:solidFill>
              </a:rPr>
              <a:t>74.08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0C39227-B8D3-49F9-8420-F1C5C6DD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24457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5E8B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71A452A-7D37-400A-95D6-8D5CDA60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95907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65E8B"/>
                </a:solidFill>
              </a:defRPr>
            </a:pPr>
            <a:r>
              <a:rPr sz="750" b="1">
                <a:solidFill>
                  <a:srgbClr val="265E8B"/>
                </a:solidFill>
              </a:rPr>
              <a:t>78.08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358BDC3-50A6-476D-A339-ACEF1749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960" y="5060631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7E4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C18F874-E6CE-46FC-85F9-83C7E191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410" y="4946331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97E4F"/>
                </a:solidFill>
              </a:defRPr>
            </a:pPr>
            <a:r>
              <a:rPr sz="750" b="1">
                <a:solidFill>
                  <a:srgbClr val="297E4F"/>
                </a:solidFill>
              </a:rPr>
              <a:t>75.03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5358D71-860D-475A-A99B-85D8F950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8A8074"/>
                </a:solidFill>
              </a:defRPr>
            </a:pPr>
            <a:r>
              <a:rPr sz="750" b="0">
                <a:solidFill>
                  <a:srgbClr val="8A8074"/>
                </a:solidFill>
              </a:rPr>
              <a:t>Gray = all EOTR tracts  |  color = named phase-1 launch tracts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97B9366-D13B-4D71-A685-B05214EF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71900"/>
            <a:ext cx="31051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50A2592-5FB6-45C0-9630-D1658FF3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814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Top 5 launch tracts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17DE7B8-33B9-47CB-9005-596DCDC6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434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3A2F"/>
                </a:solidFill>
              </a:defRPr>
            </a:pPr>
            <a:r>
              <a:rPr sz="900" b="1">
                <a:solidFill>
                  <a:srgbClr val="E63A2F"/>
                </a:solidFill>
              </a:rPr>
              <a:t>11001009602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75DFDDB-D683-413A-A9EF-71FDCA4C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4340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7534E"/>
                </a:solidFill>
              </a:defRPr>
            </a:pPr>
            <a:r>
              <a:rPr sz="900" b="0">
                <a:solidFill>
                  <a:srgbClr val="57534E"/>
                </a:solidFill>
              </a:rPr>
              <a:t>Tract 96.02 | FI 52.3%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F9B2AE9-86C8-456C-A8F6-408659DC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339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B59C930-7618-40C1-B647-5149D10E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244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3A2F"/>
                </a:solidFill>
              </a:defRPr>
            </a:pPr>
            <a:r>
              <a:rPr sz="900" b="1">
                <a:solidFill>
                  <a:srgbClr val="E63A2F"/>
                </a:solidFill>
              </a:rPr>
              <a:t>11001007403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8725ED7-3A7D-467A-BD85-A9EBA5AE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2440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7534E"/>
                </a:solidFill>
              </a:defRPr>
            </a:pPr>
            <a:r>
              <a:rPr sz="900" b="0">
                <a:solidFill>
                  <a:srgbClr val="57534E"/>
                </a:solidFill>
              </a:rPr>
              <a:t>Tract 74.03 | FI 57.7%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76F0943-574C-4E91-BB57-AF0997CE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149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EE12123-AF9F-4991-9E4C-63CF305C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054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3A2F"/>
                </a:solidFill>
              </a:defRPr>
            </a:pPr>
            <a:r>
              <a:rPr sz="900" b="1">
                <a:solidFill>
                  <a:srgbClr val="E63A2F"/>
                </a:solidFill>
              </a:rPr>
              <a:t>11001007408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3F10E33-9289-4B86-A6A0-843CF869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10540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7534E"/>
                </a:solidFill>
              </a:defRPr>
            </a:pPr>
            <a:r>
              <a:rPr sz="900" b="0">
                <a:solidFill>
                  <a:srgbClr val="57534E"/>
                </a:solidFill>
              </a:rPr>
              <a:t>Tract 74.08 | FI 56.3%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60F60B2-6C22-4AF8-866E-D2221866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959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AA93687-209B-4AD1-99A5-034F54BE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4864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3A2F"/>
                </a:solidFill>
              </a:defRPr>
            </a:pPr>
            <a:r>
              <a:rPr sz="900" b="1">
                <a:solidFill>
                  <a:srgbClr val="E63A2F"/>
                </a:solidFill>
              </a:rPr>
              <a:t>11001007808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C2696DC-56A3-4A24-8FC6-4F761108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48640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7534E"/>
                </a:solidFill>
              </a:defRPr>
            </a:pPr>
            <a:r>
              <a:rPr sz="900" b="0">
                <a:solidFill>
                  <a:srgbClr val="57534E"/>
                </a:solidFill>
              </a:rPr>
              <a:t>Tract 78.08 | FI 35.0%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3B63FBE-A55C-45C8-A5BA-F70DDA8D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6769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4954803-089A-44C5-8D91-75E600DC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8674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3A2F"/>
                </a:solidFill>
              </a:defRPr>
            </a:pPr>
            <a:r>
              <a:rPr sz="900" b="1">
                <a:solidFill>
                  <a:srgbClr val="E63A2F"/>
                </a:solidFill>
              </a:rPr>
              <a:t>11001007503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4348E5D-A002-4EF0-9311-D52DB668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86740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7534E"/>
                </a:solidFill>
              </a:defRPr>
            </a:pPr>
            <a:r>
              <a:rPr sz="900" b="0">
                <a:solidFill>
                  <a:srgbClr val="57534E"/>
                </a:solidFill>
              </a:rPr>
              <a:t>Tract 75.03 | FI 29.8%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C9F0232-7911-41E7-AE2C-2BE0246A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0579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6CC422F-6C58-4D57-9F3D-C7B13EF6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43700"/>
            <a:ext cx="2171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AF989AC-7030-4643-933A-6E62C267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437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3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8AC3417-599F-4155-AD1F-2C09977C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1515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Why Mastercard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759AA29-F1F7-4EF8-AD1F-4EC9DE60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58050"/>
            <a:ext cx="1847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34E"/>
                </a:solidFill>
              </a:defRPr>
            </a:pPr>
            <a:r>
              <a:rPr sz="1050" b="0">
                <a:solidFill>
                  <a:srgbClr val="57534E"/>
                </a:solidFill>
              </a:rPr>
              <a:t>Mastercard is necessary because the solution depends on targeting, payment orchestration, merchant recruitment, and neighborhood-level measurement at the same time.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6AB3ECA-136E-4A1C-AA46-9C3C7C66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743700"/>
            <a:ext cx="2171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E64AA96-4E15-4F07-8EE0-C9617C6A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7437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A32C955-97FA-465B-B5F5-0A37F0C3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91515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What success means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F193A81-CA4C-4A29-AAE3-046B86D5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7258050"/>
            <a:ext cx="1847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34E"/>
                </a:solidFill>
              </a:defRPr>
            </a:pPr>
            <a:r>
              <a:rPr sz="1050" b="0">
                <a:solidFill>
                  <a:srgbClr val="57534E"/>
                </a:solidFill>
              </a:rPr>
              <a:t>Month 12 targets: 3K-5K unique patients, $400-800 monthly host uplift, and a tract-level signal strong enough to scale or stop.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124CFDC-07F1-4662-A190-9DC47A19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743700"/>
            <a:ext cx="2171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2BF4EED-FFF5-4C11-9061-31C0CB23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7437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6FB8955-8B2E-4E2F-BAD5-1505298B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691515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1818"/>
                </a:solidFill>
              </a:defRPr>
            </a:pPr>
            <a:r>
              <a:rPr sz="1350" b="1">
                <a:solidFill>
                  <a:srgbClr val="181818"/>
                </a:solidFill>
              </a:rPr>
              <a:t>If funded at $1M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1E65FAF-D83D-4E64-A3DF-8D76E184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7258050"/>
            <a:ext cx="1847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34E"/>
                </a:solidFill>
              </a:defRPr>
            </a:pPr>
            <a:r>
              <a:rPr sz="1050" b="0">
                <a:solidFill>
                  <a:srgbClr val="57534E"/>
                </a:solidFill>
              </a:rPr>
              <a:t>Expand to 30-35 kiosks, add a mobile onboarding team, and test two deployment archetypes instead of one.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A6568DC-2055-43D3-916C-2746A777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96300"/>
            <a:ext cx="67437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63A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EAB7CD1-4D2A-4050-8571-C00A3293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43950"/>
            <a:ext cx="6210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$500K | 18 months | 15-20 kiosks | 3K-5K patients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ED5BA7F-AC52-4AE4-BDAF-2A3B824C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77400"/>
            <a:ext cx="674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8A8074"/>
                </a:solidFill>
              </a:defRPr>
            </a:pPr>
            <a:r>
              <a:rPr sz="825" b="0">
                <a:solidFill>
                  <a:srgbClr val="8A8074"/>
                </a:solidFill>
              </a:rPr>
              <a:t>Somkenechukwu Onwusika - Oritsejemiyotan Atsagbede - Moyinoluwa Ogunjobi | Add presenter email / phone before printing</a:t>
            </a:r>
          </a:p>
        </p:txBody>
      </p:sp>
    </p:spTree>
    <p:extLst>
      <p:ext uri="{BB962C8B-B14F-4D97-AF65-F5344CB8AC3E}">
        <p14:creationId xmlns:p14="http://schemas.microsoft.com/office/powerpoint/2010/main" val="12028515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2026-04-26T18:55:32.5910000Z</dcterms:created>
  <dcterms:modified xsi:type="dcterms:W3CDTF">2026-04-26T18:55:32.5910000Z</dcterms:modified>
</coreProperties>
</file>